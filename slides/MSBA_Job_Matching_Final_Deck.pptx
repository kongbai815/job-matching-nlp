
<file path=[Content_Types].xml><?xml version="1.0" encoding="utf-8"?>
<Types xmlns="http://schemas.openxmlformats.org/package/2006/content-types">
  <Default Extension="xml" ContentType="application/vnd.openxmlformats-package.core-properties+xml"/>
  <Default Extension="png" ContentType="image/png"/>
  <Default Extension="rels" ContentType="application/vnd.openxmlformats-package.relationships+xml"/>
  <Override PartName="/docProps/app.xml" ContentType="application/vnd.openxmlformats-officedocument.extended-properties+xml"/>
  <Override PartName="/ppt/presentation.xml" ContentType="application/vnd.openxmlformats-officedocument.presentationml.presentation.main+xml"/>
  <Override PartName="/ppt/theme/theme1.xml" ContentType="application/vnd.openxmlformats-officedocument.theme+xml"/>
  <Override PartName="/ppt/slideMasters/slideMaster1.xml" ContentType="application/vnd.openxmlformats-officedocument.presentationml.slideMaster+xml"/>
  <Override PartName="/ppt/slideMasters/theme/theme2.xml" ContentType="application/vnd.openxmlformats-officedocument.theme+xml"/>
  <Override PartName="/ppt/slideLayouts/slideLayout1.xml" ContentType="application/vnd.openxmlformats-officedocument.presentationml.slideLayout+xml"/>
  <Override PartName="/ppt/notesMasters/notesMaster1.xml" ContentType="application/vnd.openxmlformats-officedocument.presentationml.notesMaster+xml"/>
  <Override PartName="/ppt/notesMasters/theme/theme3.xml" ContentType="application/vnd.openxmlformats-officedocument.theme+xml"/>
  <Override PartName="/ppt/presProps.xml" ContentType="application/vnd.openxmlformats-officedocument.presentationml.presProps+xml"/>
  <Override PartName="/ppt/tableStyles.xml" ContentType="application/vnd.openxmlformats-officedocument.presentationml.tableStyles+xml"/>
  <Override PartName="/ppt/slides/slide1.xml" ContentType="application/vnd.openxmlformats-officedocument.presentationml.slide+xml"/>
  <Override PartName="/ppt/notesSlides/notesSlide1.xml" ContentType="application/vnd.openxmlformats-officedocument.presentationml.notesSlide+xml"/>
  <Override PartName="/ppt/slides/slide2.xml" ContentType="application/vnd.openxmlformats-officedocument.presentationml.slide+xml"/>
  <Override PartName="/ppt/notesSlides/notesSlide2.xml" ContentType="application/vnd.openxmlformats-officedocument.presentationml.notesSlide+xml"/>
  <Override PartName="/ppt/slides/slide3.xml" ContentType="application/vnd.openxmlformats-officedocument.presentationml.slide+xml"/>
  <Override PartName="/ppt/notesSlides/notesSlide3.xml" ContentType="application/vnd.openxmlformats-officedocument.presentationml.notesSlide+xml"/>
  <Override PartName="/ppt/slides/slide4.xml" ContentType="application/vnd.openxmlformats-officedocument.presentationml.slide+xml"/>
  <Override PartName="/ppt/notesSlides/notesSlide4.xml" ContentType="application/vnd.openxmlformats-officedocument.presentationml.notesSlide+xml"/>
  <Override PartName="/ppt/slides/slide5.xml" ContentType="application/vnd.openxmlformats-officedocument.presentationml.slide+xml"/>
  <Override PartName="/ppt/notesSlides/notesSlide5.xml" ContentType="application/vnd.openxmlformats-officedocument.presentationml.notesSlide+xml"/>
  <Override PartName="/ppt/slides/slide6.xml" ContentType="application/vnd.openxmlformats-officedocument.presentationml.slide+xml"/>
  <Override PartName="/ppt/notesSlides/notesSlide6.xml" ContentType="application/vnd.openxmlformats-officedocument.presentationml.notesSlide+xml"/>
  <Override PartName="/ppt/slides/slide7.xml" ContentType="application/vnd.openxmlformats-officedocument.presentationml.slide+xml"/>
  <Override PartName="/ppt/notesSlides/notesSlide7.xml" ContentType="application/vnd.openxmlformats-officedocument.presentationml.notesSlide+xml"/>
  <Override PartName="/ppt/slides/slide8.xml" ContentType="application/vnd.openxmlformats-officedocument.presentationml.slide+xml"/>
  <Override PartName="/ppt/slides/charts/chart1.xml" ContentType="application/vnd.openxmlformats-officedocument.drawingml.chart+xml"/>
  <Override PartName="/ppt/notesSlides/notesSlide8.xml" ContentType="application/vnd.openxmlformats-officedocument.presentationml.notesSlide+xml"/>
  <Override PartName="/ppt/slides/slide9.xml" ContentType="application/vnd.openxmlformats-officedocument.presentationml.slide+xml"/>
  <Override PartName="/ppt/notesSlides/notesSlide9.xml" ContentType="application/vnd.openxmlformats-officedocument.presentationml.notesSlide+xml"/>
  <Override PartName="/ppt/slides/slide10.xml" ContentType="application/vnd.openxmlformats-officedocument.presentationml.slide+xml"/>
  <Override PartName="/ppt/notesSlides/notesSlide10.xml" ContentType="application/vnd.openxmlformats-officedocument.presentationml.notesSlide+xml"/>
</Types>
</file>

<file path=_rels/.rels>&#65279;<?xml version="1.0" encoding="utf-8"?><Relationships xmlns="http://schemas.openxmlformats.org/package/2006/relationships"><Relationship Type="http://schemas.openxmlformats.org/package/2006/relationships/metadata/core-properties" Target="/docProps/core.xml" Id="R329dfbab8ea6461a" /><Relationship Type="http://schemas.openxmlformats.org/officeDocument/2006/relationships/extended-properties" Target="/docProps/app.xml" Id="R83efc8b72af742c8" /><Relationship Type="http://schemas.openxmlformats.org/officeDocument/2006/relationships/officeDocument" Target="/ppt/presentation.xml" Id="Rda790708eff4449a" /></Relationships>
</file>

<file path=ppt/presentation.xml><?xml version="1.0" encoding="utf-8"?>
<p:presentation xmlns:p="http://schemas.openxmlformats.org/presentationml/2006/main">
  <p:sldMasterIdLst>
    <p:sldMasterId xmlns:r="http://schemas.openxmlformats.org/officeDocument/2006/relationships" id="2147483648" r:id="R65eac2ef5809441a"/>
  </p:sldMasterIdLst>
  <p:notesMasterIdLst>
    <p:notesMasterId xmlns:r="http://schemas.openxmlformats.org/officeDocument/2006/relationships" r:id="Rb5b5477f0d804a1c"/>
  </p:notesMasterIdLst>
  <p:sldIdLst>
    <p:sldId xmlns:r="http://schemas.openxmlformats.org/officeDocument/2006/relationships" id="256" r:id="R221607b3139f4315"/>
    <p:sldId xmlns:r="http://schemas.openxmlformats.org/officeDocument/2006/relationships" id="257" r:id="Rb38e61ac65c942bb"/>
    <p:sldId xmlns:r="http://schemas.openxmlformats.org/officeDocument/2006/relationships" id="258" r:id="R661aa527b9934349"/>
    <p:sldId xmlns:r="http://schemas.openxmlformats.org/officeDocument/2006/relationships" id="259" r:id="R35dee5ad164c444a"/>
    <p:sldId xmlns:r="http://schemas.openxmlformats.org/officeDocument/2006/relationships" id="260" r:id="R8c7e7f2171544a85"/>
    <p:sldId xmlns:r="http://schemas.openxmlformats.org/officeDocument/2006/relationships" id="261" r:id="Re0c18cd6629641c2"/>
    <p:sldId xmlns:r="http://schemas.openxmlformats.org/officeDocument/2006/relationships" id="262" r:id="Rdbd87430ccd44650"/>
    <p:sldId xmlns:r="http://schemas.openxmlformats.org/officeDocument/2006/relationships" id="263" r:id="Ra195156a4e5c4f4f"/>
    <p:sldId xmlns:r="http://schemas.openxmlformats.org/officeDocument/2006/relationships" id="264" r:id="R3743c1472a304eda"/>
    <p:sldId xmlns:r="http://schemas.openxmlformats.org/officeDocument/2006/relationships" id="265" r:id="Ra022d69823554a66"/>
  </p:sldIdLst>
  <p:sldSz cx="12192000" cy="6858000"/>
  <p:notesSz cx="6858000" cy="9144000"/>
</p:presentation>
</file>

<file path=ppt/presProps.xml><?xml version="1.0" encoding="utf-8"?>
<p:presentationPr xmlns:p="http://schemas.openxmlformats.org/presentationml/2006/main">
  <p:extLst>
    <p:ext xmlns:p14="http://schemas.microsoft.com/office/powerpoint/2010/main" uri="{E76CE94A-603C-4142-B9EB-6D1370010A27}">
      <p14:discardImageEditData val="0"/>
    </p:ext>
    <p:ext xmlns:p14="http://schemas.microsoft.com/office/powerpoint/2010/main" uri="{D31A062A-798A-4329-ABDD-BBA856620510}">
      <p14:defaultImageDpi val="32767"/>
    </p:ext>
    <p:ext xmlns:p15="http://schemas.microsoft.com/office/powerpoint/2012/main" uri="{FD5EFAAD-0ECE-453E-9831-46B23BE46B34}">
      <p15:chartTrackingRefBased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_rels/presentation.xml.rels>&#65279;<?xml version="1.0" encoding="utf-8"?><Relationships xmlns="http://schemas.openxmlformats.org/package/2006/relationships"><Relationship Type="http://schemas.openxmlformats.org/officeDocument/2006/relationships/theme" Target="/ppt/theme/theme1.xml" Id="R0e3f15393c014d57" /><Relationship Type="http://schemas.openxmlformats.org/officeDocument/2006/relationships/slideMaster" Target="/ppt/slideMasters/slideMaster1.xml" Id="R65eac2ef5809441a" /><Relationship Type="http://schemas.openxmlformats.org/officeDocument/2006/relationships/notesMaster" Target="/ppt/notesMasters/notesMaster1.xml" Id="Rb5b5477f0d804a1c" /><Relationship Type="http://schemas.openxmlformats.org/officeDocument/2006/relationships/presProps" Target="/ppt/presProps.xml" Id="Rd7f69db5b1f8454c" /><Relationship Type="http://schemas.openxmlformats.org/officeDocument/2006/relationships/tableStyles" Target="/ppt/tableStyles.xml" Id="R7936c2e6d46a4d87" /><Relationship Type="http://schemas.openxmlformats.org/officeDocument/2006/relationships/slide" Target="/ppt/slides/slide1.xml" Id="R221607b3139f4315" /><Relationship Type="http://schemas.openxmlformats.org/officeDocument/2006/relationships/slide" Target="/ppt/slides/slide2.xml" Id="Rb38e61ac65c942bb" /><Relationship Type="http://schemas.openxmlformats.org/officeDocument/2006/relationships/slide" Target="/ppt/slides/slide3.xml" Id="R661aa527b9934349" /><Relationship Type="http://schemas.openxmlformats.org/officeDocument/2006/relationships/slide" Target="/ppt/slides/slide4.xml" Id="R35dee5ad164c444a" /><Relationship Type="http://schemas.openxmlformats.org/officeDocument/2006/relationships/slide" Target="/ppt/slides/slide5.xml" Id="R8c7e7f2171544a85" /><Relationship Type="http://schemas.openxmlformats.org/officeDocument/2006/relationships/slide" Target="/ppt/slides/slide6.xml" Id="Re0c18cd6629641c2" /><Relationship Type="http://schemas.openxmlformats.org/officeDocument/2006/relationships/slide" Target="/ppt/slides/slide7.xml" Id="Rdbd87430ccd44650" /><Relationship Type="http://schemas.openxmlformats.org/officeDocument/2006/relationships/slide" Target="/ppt/slides/slide8.xml" Id="Ra195156a4e5c4f4f" /><Relationship Type="http://schemas.openxmlformats.org/officeDocument/2006/relationships/slide" Target="/ppt/slides/slide9.xml" Id="R3743c1472a304eda" /><Relationship Type="http://schemas.openxmlformats.org/officeDocument/2006/relationships/slide" Target="/ppt/slides/slide10.xml" Id="Ra022d69823554a66" /></Relationships>
</file>

<file path=ppt/notesMasters/_rels/notesMaster1.xml.rels>&#65279;<?xml version="1.0" encoding="utf-8"?><Relationships xmlns="http://schemas.openxmlformats.org/package/2006/relationships"><Relationship Type="http://schemas.openxmlformats.org/officeDocument/2006/relationships/theme" Target="/ppt/notesMasters/theme/theme3.xml" Id="Rf33738d1951546da" /></Relationships>
</file>

<file path=ppt/notesMasters/notesMaster1.xml><?xml version="1.0" encoding="utf-8"?>
<p:notesMaster xmlns:p="http://schemas.openxmlformats.org/presentationml/2006/main">
  <p:cSld>
    <p:bg>
      <p:bgRef idx="1001">
        <a:schemeClr xmlns:a="http://schemas.openxmlformats.org/drawingml/2006/main" val="bg1"/>
      </p:bgRef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Header Placeholder"/>
          <p:cNvSpPr/>
          <p:nvPr>
            <p:ph type="hdr" sz="quarter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3" name="Date Placeholder"/>
          <p:cNvSpPr/>
          <p:nvPr>
            <p:ph type="dt" sz="quarter" idx="1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Image Placeholder"/>
          <p:cNvSpPr/>
          <p:nvPr>
            <p:ph type="sldImg" idx="2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5" name="Notes Placeholder"/>
          <p:cNvSpPr/>
          <p:nvPr>
            <p:ph type="body" sz="quarter" idx="3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6" name="Footer Placeholder"/>
          <p:cNvSpPr/>
          <p:nvPr>
            <p:ph type="ftr" sz="quarter" idx="4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7" name="Slide Number Placeholder"/>
          <p:cNvSpPr/>
          <p:nvPr>
            <p:ph type="sldNum" sz="quarter" idx="5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 bg1="lt1" tx1="dk1" bg2="lt2" tx2="dk2" accent1="accent1" accent2="accent2" accent3="accent3" accent4="accent4" accent5="accent5" accent6="accent6" hlink="hlink" folHlink="folHlink"/>
  <p:notesStyle>
    <a:lvl1pPr xmlns:a="http://schemas.openxmlformats.org/drawingml/2006/main" marL="0" algn="l" defTabSz="914400" rtl="0" eaLnBrk="1" latinLnBrk="0" hangingPunct="1">
      <a:defRPr sz="1200" kern="1200"/>
    </a:lvl1pPr>
  </p:notesStyle>
</p:notesMaster>
</file>

<file path=ppt/notesMasters/theme/theme3.xml><?xml version="1.0" encoding="utf-8"?>
<a:theme xmlns:a="http://schemas.openxmlformats.org/drawingml/2006/main" name="ChatGPT">
  <a:themeElements>
    <a:clrScheme name="ChatGPT">
      <a:dk1>
        <a:srgbClr val="000000"/>
      </a:dk1>
      <a:lt1>
        <a:srgbClr val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Calibri Light"/>
        <a:ea typeface="Calibri Light"/>
        <a:cs typeface="Calibri Light"/>
      </a:majorFont>
      <a:minorFont>
        <a:latin typeface="Calibri"/>
        <a:ea typeface="Calibri"/>
        <a:cs typeface="Calibri"/>
      </a:minorFont>
    </a:fontScheme>
    <a:fmtScheme name="ChatGPT">
      <a:fillStyleLst>
        <a:solidFill>
          <a:schemeClr val="phClr"/>
        </a:solidFill>
        <a:gradFill>
          <a:gsLst>
            <a:gs pos="0">
              <a:schemeClr val="phClr">
                <a:tint val="67000"/>
                <a:lumMod val="110000"/>
                <a:satMod val="105000"/>
              </a:schemeClr>
            </a:gs>
            <a:gs pos="50000">
              <a:schemeClr val="phClr">
                <a:tint val="73000"/>
                <a:lumMod val="105000"/>
                <a:satMod val="103000"/>
              </a:schemeClr>
            </a:gs>
            <a:gs pos="100000">
              <a:schemeClr val="phClr">
                <a:tint val="81000"/>
                <a:lumMod val="105000"/>
                <a:satMod val="109000"/>
              </a:schemeClr>
            </a:gs>
          </a:gsLst>
          <a:lin ang="5400000" scaled="0"/>
        </a:gradFill>
        <a:gradFill>
          <a:gsLst>
            <a:gs pos="0">
              <a:schemeClr val="phClr">
                <a:tint val="94000"/>
                <a:lumMod val="102000"/>
                <a:satMod val="103000"/>
              </a:schemeClr>
            </a:gs>
            <a:gs pos="50000">
              <a:schemeClr val="phClr">
                <a:shade val="100000"/>
                <a:lumMod val="100000"/>
                <a:satMod val="110000"/>
              </a:schemeClr>
            </a:gs>
            <a:gs pos="100000">
              <a:schemeClr val="phClr">
                <a:shade val="78000"/>
                <a:lumMod val="99000"/>
                <a:satMod val="120000"/>
              </a:schemeClr>
            </a:gs>
          </a:gsLst>
          <a:lin ang="5400000" scaled="0"/>
        </a:gradFill>
      </a:fillStyleLst>
      <a:lnStyleLst>
        <a:ln w="12700">
          <a:solidFill>
            <a:schemeClr val="phClr"/>
          </a:solidFill>
          <a:prstDash val="solid"/>
        </a:ln>
        <a:ln w="19050">
          <a:solidFill>
            <a:schemeClr val="phClr"/>
          </a:solidFill>
          <a:prstDash val="solid"/>
        </a:ln>
        <a:ln w="25400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19050" dist="9525" dir="5400000">
              <a:srgbClr val="000000">
                <a:alpha val="6000"/>
              </a:srgbClr>
            </a:outerShdw>
          </a:effectLst>
        </a:effectStyle>
        <a:effectStyle>
          <a:effectLst>
            <a:outerShdw blurRad="28575" dist="9525" dir="5400000">
              <a:srgbClr val="000000">
                <a:alpha val="8000"/>
              </a:srgbClr>
            </a:outerShdw>
          </a:effectLst>
        </a:effectStyle>
        <a:effectStyle>
          <a:effectLst>
            <a:outerShdw blurRad="57150" dist="19050" dir="5400000">
              <a:srgbClr val="000000">
                <a:alpha val="10000"/>
              </a:srgbClr>
            </a:outerShdw>
          </a:effectLst>
        </a:effectStyle>
        <a:effectStyle>
          <a:effectLst>
            <a:outerShdw blurRad="114300" dist="38100" dir="5400000">
              <a:srgbClr val="000000">
                <a:alpha val="12000"/>
              </a:srgbClr>
            </a:outerShdw>
          </a:effectLst>
        </a:effectStyle>
        <a:effectStyle>
          <a:effectLst>
            <a:outerShdw blurRad="171450" dist="571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266700" dist="95250" dir="5400000">
              <a:srgbClr val="000000">
                <a:alpha val="24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>
          <a:gsLst>
            <a:gs pos="0">
              <a:schemeClr val="phClr">
                <a:tint val="93000"/>
                <a:shade val="98000"/>
                <a:lumMod val="102000"/>
                <a:satMod val="150000"/>
              </a:schemeClr>
            </a:gs>
            <a:gs pos="50000">
              <a:schemeClr val="phClr">
                <a:tint val="98000"/>
                <a:shade val="90000"/>
                <a:lumMod val="103000"/>
                <a:satMod val="130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</a:theme>
</file>

<file path=ppt/notesSlides/_rels/notesSlide1.xml.rels>&#65279;<?xml version="1.0" encoding="utf-8"?><Relationships xmlns="http://schemas.openxmlformats.org/package/2006/relationships"><Relationship Type="http://schemas.openxmlformats.org/officeDocument/2006/relationships/slide" Target="/ppt/slides/slide1.xml" Id="R103b4f21dab2497a" /><Relationship Type="http://schemas.openxmlformats.org/officeDocument/2006/relationships/notesMaster" Target="/ppt/notesMasters/notesMaster1.xml" Id="R0d8c8b6218e64463" /></Relationships>
</file>

<file path=ppt/notesSlides/_rels/notesSlide2.xml.rels>&#65279;<?xml version="1.0" encoding="utf-8"?><Relationships xmlns="http://schemas.openxmlformats.org/package/2006/relationships"><Relationship Type="http://schemas.openxmlformats.org/officeDocument/2006/relationships/slide" Target="/ppt/slides/slide2.xml" Id="R4c14f9454fdc4788" /><Relationship Type="http://schemas.openxmlformats.org/officeDocument/2006/relationships/notesMaster" Target="/ppt/notesMasters/notesMaster1.xml" Id="R9f96020ce5ff40f0" /></Relationships>
</file>

<file path=ppt/notesSlides/_rels/notesSlide3.xml.rels>&#65279;<?xml version="1.0" encoding="utf-8"?><Relationships xmlns="http://schemas.openxmlformats.org/package/2006/relationships"><Relationship Type="http://schemas.openxmlformats.org/officeDocument/2006/relationships/slide" Target="/ppt/slides/slide3.xml" Id="R372de852aa52407b" /><Relationship Type="http://schemas.openxmlformats.org/officeDocument/2006/relationships/notesMaster" Target="/ppt/notesMasters/notesMaster1.xml" Id="R9391b21f5e254f78" /></Relationships>
</file>

<file path=ppt/notesSlides/_rels/notesSlide4.xml.rels>&#65279;<?xml version="1.0" encoding="utf-8"?><Relationships xmlns="http://schemas.openxmlformats.org/package/2006/relationships"><Relationship Type="http://schemas.openxmlformats.org/officeDocument/2006/relationships/slide" Target="/ppt/slides/slide4.xml" Id="R3fb1786782d645e5" /><Relationship Type="http://schemas.openxmlformats.org/officeDocument/2006/relationships/notesMaster" Target="/ppt/notesMasters/notesMaster1.xml" Id="R8c3aaa4217894294" /></Relationships>
</file>

<file path=ppt/notesSlides/_rels/notesSlide5.xml.rels>&#65279;<?xml version="1.0" encoding="utf-8"?><Relationships xmlns="http://schemas.openxmlformats.org/package/2006/relationships"><Relationship Type="http://schemas.openxmlformats.org/officeDocument/2006/relationships/slide" Target="/ppt/slides/slide5.xml" Id="R0d9f4d72d2f54b5a" /><Relationship Type="http://schemas.openxmlformats.org/officeDocument/2006/relationships/notesMaster" Target="/ppt/notesMasters/notesMaster1.xml" Id="R87161ba1e83b4202" /></Relationships>
</file>

<file path=ppt/notesSlides/_rels/notesSlide6.xml.rels>&#65279;<?xml version="1.0" encoding="utf-8"?><Relationships xmlns="http://schemas.openxmlformats.org/package/2006/relationships"><Relationship Type="http://schemas.openxmlformats.org/officeDocument/2006/relationships/slide" Target="/ppt/slides/slide6.xml" Id="R891072c1a2234181" /><Relationship Type="http://schemas.openxmlformats.org/officeDocument/2006/relationships/notesMaster" Target="/ppt/notesMasters/notesMaster1.xml" Id="R9e77801176074d00" /></Relationships>
</file>

<file path=ppt/notesSlides/_rels/notesSlide7.xml.rels>&#65279;<?xml version="1.0" encoding="utf-8"?><Relationships xmlns="http://schemas.openxmlformats.org/package/2006/relationships"><Relationship Type="http://schemas.openxmlformats.org/officeDocument/2006/relationships/slide" Target="/ppt/slides/slide7.xml" Id="Ra592d9a4e4f74736" /><Relationship Type="http://schemas.openxmlformats.org/officeDocument/2006/relationships/notesMaster" Target="/ppt/notesMasters/notesMaster1.xml" Id="R7fa184dcfb4d40db" /></Relationships>
</file>

<file path=ppt/notesSlides/_rels/notesSlide8.xml.rels>&#65279;<?xml version="1.0" encoding="utf-8"?><Relationships xmlns="http://schemas.openxmlformats.org/package/2006/relationships"><Relationship Type="http://schemas.openxmlformats.org/officeDocument/2006/relationships/slide" Target="/ppt/slides/slide8.xml" Id="Rb8287c3a26da4cbe" /><Relationship Type="http://schemas.openxmlformats.org/officeDocument/2006/relationships/notesMaster" Target="/ppt/notesMasters/notesMaster1.xml" Id="Re5feb5ce5f534892" /></Relationships>
</file>

<file path=ppt/notesSlides/_rels/notesSlide9.xml.rels>&#65279;<?xml version="1.0" encoding="utf-8"?><Relationships xmlns="http://schemas.openxmlformats.org/package/2006/relationships"><Relationship Type="http://schemas.openxmlformats.org/officeDocument/2006/relationships/slide" Target="/ppt/slides/slide9.xml" Id="Rb7cf23daa8314c76" /><Relationship Type="http://schemas.openxmlformats.org/officeDocument/2006/relationships/notesMaster" Target="/ppt/notesMasters/notesMaster1.xml" Id="Ra6eccdb586d845d9" /></Relationships>
</file>

<file path=ppt/notesSlides/_rels/notesSlide10.xml.rels>&#65279;<?xml version="1.0" encoding="utf-8"?><Relationships xmlns="http://schemas.openxmlformats.org/package/2006/relationships"><Relationship Type="http://schemas.openxmlformats.org/officeDocument/2006/relationships/slide" Target="/ppt/slides/slide10.xml" Id="R0d32b33333154d4c" /><Relationship Type="http://schemas.openxmlformats.org/officeDocument/2006/relationships/notesMaster" Target="/ppt/notesMasters/notesMaster1.xml" Id="R724676a7bc134daa" /></Relationships>
</file>

<file path=ppt/notesSlides/notesSlide1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[Sources]</a:t>
            </a:r>
          </a:p>
          <a:p xmlns:a="http://schemas.openxmlformats.org/drawingml/2006/main">
            <a:r>
              <a:t>Illustrative image generated for this presentation with OpenAI image generation.</a:t>
            </a:r>
          </a:p>
          <a:p xmlns:a="http://schemas.openxmlformats.org/drawingml/2006/main">
            <a:r>
              <a:t>Project claims: repository README and committed evaluation outputs.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2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Explain the three advisor actions. Emphasize that the system supports triage rather than making immigration or hiring decisions.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[Sources]</a:t>
            </a:r>
          </a:p>
          <a:p xmlns:a="http://schemas.openxmlformats.org/drawingml/2006/main">
            <a:r>
              <a:t>- docs/problem_statement.md</a:t>
            </a:r>
          </a:p>
          <a:p xmlns:a="http://schemas.openxmlformats.org/drawingml/2006/main">
            <a:r>
              <a:t>- docs/governance_risk_appendix.md</a:t>
            </a:r>
          </a:p>
          <a:p xmlns:a="http://schemas.openxmlformats.org/drawingml/2006/main">
            <a:r>
              <a:t>[/Sources]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3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The public role-fit corpus is already large. We completed a full-source authorization scan and packaged the evidence candidates for advisor review.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[Sources]</a:t>
            </a:r>
          </a:p>
          <a:p xmlns:a="http://schemas.openxmlformats.org/drawingml/2006/main">
            <a:r>
              <a:t>- data_jobs_msba_project_sample_100k_metadata.json</a:t>
            </a:r>
          </a:p>
          <a:p xmlns:a="http://schemas.openxmlformats.org/drawingml/2006/main">
            <a:r>
              <a:t>- models/job_fit_tfidf_svc_metrics.json</a:t>
            </a:r>
          </a:p>
          <a:p xmlns:a="http://schemas.openxmlformats.org/drawingml/2006/main">
            <a:r>
              <a:t>- outputs/authorization_evidence_audit.json</a:t>
            </a:r>
          </a:p>
          <a:p xmlns:a="http://schemas.openxmlformats.org/drawingml/2006/main">
            <a:r>
              <a:t>[/Sources]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4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M3 established that adaptation helps. M4 then tested a wider model and data choice and found that a lightweight linear model trained on the full split is both stronger and easier to ship.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[Sources]</a:t>
            </a:r>
          </a:p>
          <a:p xmlns:a="http://schemas.openxmlformats.org/drawingml/2006/main">
            <a:r>
              <a:t>- outputs/milestone2_baseline_results.json</a:t>
            </a:r>
          </a:p>
          <a:p xmlns:a="http://schemas.openxmlformats.org/drawingml/2006/main">
            <a:r>
              <a:t>- outputs/milestone3_adaptation_results.json</a:t>
            </a:r>
          </a:p>
          <a:p xmlns:a="http://schemas.openxmlformats.org/drawingml/2006/main">
            <a:r>
              <a:t>- outputs/final_model_comparison.json</a:t>
            </a:r>
          </a:p>
          <a:p xmlns:a="http://schemas.openxmlformats.org/drawingml/2006/main">
            <a:r>
              <a:t>[/Sources]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5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Walk left to right. The mode router prevents a search sentence from being misclassified as a posting. Verifiable search constraints are enforced before ranking. The policy layer uses class-specific calibrated margins, then handles missing fields and authorization independently from role fit.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[Sources]</a:t>
            </a:r>
          </a:p>
          <a:p xmlns:a="http://schemas.openxmlformats.org/drawingml/2006/main">
            <a:r>
              <a:t>- docs/architecture.md</a:t>
            </a:r>
          </a:p>
          <a:p xmlns:a="http://schemas.openxmlformats.org/drawingml/2006/main">
            <a:r>
              <a:t>- msba_job_matcher/core.py</a:t>
            </a:r>
          </a:p>
          <a:p xmlns:a="http://schemas.openxmlformats.org/drawingml/2006/main">
            <a:r>
              <a:t>- models/review_policy.json</a:t>
            </a:r>
          </a:p>
          <a:p xmlns:a="http://schemas.openxmlformats.org/drawingml/2006/main">
            <a:r>
              <a:t>[/Sources]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6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[Sources]</a:t>
            </a:r>
          </a:p>
          <a:p xmlns:a="http://schemas.openxmlformats.org/drawingml/2006/main">
            <a:r>
              <a:t>Screenshot extracted from the project-owned recorded demo, demo/final_demo_video.mp4.</a:t>
            </a:r>
          </a:p>
          <a:p xmlns:a="http://schemas.openxmlformats.org/drawingml/2006/main">
            <a:r>
              <a:t>Audit metrics: outputs/search_constraint_audit.json.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7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[Sources]</a:t>
            </a:r>
          </a:p>
          <a:p xmlns:a="http://schemas.openxmlformats.org/drawingml/2006/main">
            <a:r>
              <a:t>Screenshot extracted from the project-owned recorded demo, demo/final_demo_video.mp4.</a:t>
            </a:r>
          </a:p>
          <a:p xmlns:a="http://schemas.openxmlformats.org/drawingml/2006/main">
            <a:r>
              <a:t>Governance outputs: outputs/final_casebook_outputs.json.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8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State the comparison directly. What did not work best was adding model complexity while using only 2,000 weakly labeled rows: LoRA improved on the baseline but stopped at 87.3 percent macro F1. What worked was a word-and-character model trained on all 77,135 deduplicated rows. The lesson is not that linear models always win; it is that data utilization and reproducibility mattered for this structured weak-label task.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[Sources]</a:t>
            </a:r>
          </a:p>
          <a:p xmlns:a="http://schemas.openxmlformats.org/drawingml/2006/main">
            <a:r>
              <a:t>- outputs/milestone2_baseline_results.json</a:t>
            </a:r>
          </a:p>
          <a:p xmlns:a="http://schemas.openxmlformats.org/drawingml/2006/main">
            <a:r>
              <a:t>- outputs/milestone3_adaptation_results.json</a:t>
            </a:r>
          </a:p>
          <a:p xmlns:a="http://schemas.openxmlformats.org/drawingml/2006/main">
            <a:r>
              <a:t>- outputs/final_evaluation_results.json</a:t>
            </a:r>
          </a:p>
          <a:p xmlns:a="http://schemas.openxmlformats.org/drawingml/2006/main">
            <a:r>
              <a:t>- models/job_fit_tfidf_svc_metrics.json</a:t>
            </a:r>
          </a:p>
          <a:p xmlns:a="http://schemas.openxmlformats.org/drawingml/2006/main">
            <a:r>
              <a:t>[/Sources]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9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The model makes 65 errors on the fixed weak-label set, so the production policy is calibrated on one 10,000-row half and audited on another. It retains 91.63 percent coverage at 99.47 percent weak-label accuracy. A separate six-query audit records zero hard-constraint violations across 36 search results.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[Sources]</a:t>
            </a:r>
          </a:p>
          <a:p xmlns:a="http://schemas.openxmlformats.org/drawingml/2006/main">
            <a:r>
              <a:t>- outputs/final_evaluation_results.json</a:t>
            </a:r>
          </a:p>
          <a:p xmlns:a="http://schemas.openxmlformats.org/drawingml/2006/main">
            <a:r>
              <a:t>- models/review_policy.json</a:t>
            </a:r>
          </a:p>
          <a:p xmlns:a="http://schemas.openxmlformats.org/drawingml/2006/main">
            <a:r>
              <a:t>- outputs/search_constraint_audit.json</a:t>
            </a:r>
          </a:p>
          <a:p xmlns:a="http://schemas.openxmlformats.org/drawingml/2006/main">
            <a:r>
              <a:t>- outputs/temporal_validation_results.json</a:t>
            </a:r>
          </a:p>
          <a:p xmlns:a="http://schemas.openxmlformats.org/drawingml/2006/main">
            <a:r>
              <a:t>[/Sources]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10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[Sources]</a:t>
            </a:r>
          </a:p>
          <a:p xmlns:a="http://schemas.openxmlformats.org/drawingml/2006/main">
            <a:r>
              <a:t>Screenshot extracted from the project-owned recorded demo, demo/final_demo_video.mp4.</a:t>
            </a:r>
          </a:p>
          <a:p xmlns:a="http://schemas.openxmlformats.org/drawingml/2006/main">
            <a:r>
              <a:t>Recommendation and metrics: repository README and committed evaluation outputs.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slideLayouts/_rels/slideLayout1.xml.rels>&#65279;<?xml version="1.0" encoding="utf-8"?><Relationships xmlns="http://schemas.openxmlformats.org/package/2006/relationships"><Relationship Type="http://schemas.openxmlformats.org/officeDocument/2006/relationships/slideMaster" Target="/ppt/slideMasters/slideMaster1.xml" Id="R4cfb60a5d474495f" /></Relationships>
</file>

<file path=ppt/slideLayouts/slideLayout1.xml><?xml version="1.0" encoding="utf-8"?>
<p:sldLayout xmlns:p="http://schemas.openxmlformats.org/presentationml/2006/main" type="title">
  <p:cSld name="Title Slide">
    <p:spTree>
      <p:nvGrpSpPr>
        <p:cNvPr id="1" name=""/>
        <p:cNvGrpSpPr/>
        <p:nvPr/>
      </p:nvGrpSpPr>
      <p:grpSpPr>
        <a:xfrm xmlns:a="http://schemas.openxmlformats.org/drawingml/2006/main"/>
      </p:grpSpPr>
    </p:spTree>
  </p:cSld>
</p:sldLayout>
</file>

<file path=ppt/slideMasters/_rels/slideMaster1.xml.rels>&#65279;<?xml version="1.0" encoding="utf-8"?><Relationships xmlns="http://schemas.openxmlformats.org/package/2006/relationships"><Relationship Type="http://schemas.openxmlformats.org/officeDocument/2006/relationships/theme" Target="/ppt/slideMasters/theme/theme2.xml" Id="R2500a4757c974c57" /><Relationship Type="http://schemas.openxmlformats.org/officeDocument/2006/relationships/slideLayout" Target="/ppt/slideLayouts/slideLayout1.xml" Id="Rd8a3322b80414579" /></Relationships>
</file>

<file path=ppt/slideMasters/slideMaster1.xml><?xml version="1.0" encoding="utf-8"?>
<p:sldMaster xmlns:p="http://schemas.openxmlformats.org/presentationml/2006/main">
  <p:cSld name="Master">
    <p:bg>
      <p:bgRef idx="1001">
        <a:schemeClr xmlns:a="http://schemas.openxmlformats.org/drawingml/2006/main" val="bg1"/>
      </p:bgRef>
    </p:bg>
    <p:spTree>
      <p:nvGrpSpPr>
        <p:cNvPr id="1" name=""/>
        <p:cNvGrpSpPr/>
        <p:nvPr/>
      </p:nvGrpSpPr>
      <p:grpSpPr>
        <a:xfrm xmlns:a="http://schemas.openxmlformats.org/drawingml/2006/main"/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xmlns:r="http://schemas.openxmlformats.org/officeDocument/2006/relationships" id="2147483649" r:id="Rd8a3322b80414579"/>
  </p:sldLayoutIdLst>
  <p:txStyles>
    <p:titleStyle>
      <a:lvl1pPr xmlns:a="http://schemas.openxmlformats.org/drawingml/2006/main" algn="l">
        <a:lnSpc>
          <a:spcPct val="90000"/>
        </a:lnSpc>
        <a:spcBef>
          <a:spcPts val="0"/>
        </a:spcBef>
        <a:buNone/>
        <a:defRPr sz="4400">
          <a:solidFill>
            <a:schemeClr val="tx1"/>
          </a:solidFill>
          <a:latin typeface="+mj-lt"/>
          <a:ea typeface="+mj-lt"/>
          <a:cs typeface="+mj-lt"/>
        </a:defRPr>
      </a:lvl1pPr>
    </p:titleStyle>
    <p:bodyStyle>
      <a:lvl1pPr xmlns:a="http://schemas.openxmlformats.org/drawingml/2006/main" marL="228600" indent="-228600" algn="l">
        <a:lnSpc>
          <a:spcPct val="90000"/>
        </a:lnSpc>
        <a:spcBef>
          <a:spcPts val="1000"/>
        </a:spcBef>
        <a:buChar char="•"/>
        <a:defRPr sz="2800">
          <a:solidFill>
            <a:schemeClr val="tx1"/>
          </a:solidFill>
          <a:latin typeface="+mn-lt"/>
          <a:ea typeface="+mn-lt"/>
          <a:cs typeface="+mn-lt"/>
        </a:defRPr>
      </a:lvl1pPr>
      <a:lvl2pPr xmlns:a="http://schemas.openxmlformats.org/drawingml/2006/main" marL="685800" indent="-228600" algn="l">
        <a:lnSpc>
          <a:spcPct val="90000"/>
        </a:lnSpc>
        <a:spcBef>
          <a:spcPts val="500"/>
        </a:spcBef>
        <a:buChar char="•"/>
        <a:defRPr sz="2400">
          <a:solidFill>
            <a:schemeClr val="tx1"/>
          </a:solidFill>
          <a:latin typeface="+mn-lt"/>
          <a:ea typeface="+mn-lt"/>
          <a:cs typeface="+mn-lt"/>
        </a:defRPr>
      </a:lvl2pPr>
      <a:lvl3pPr xmlns:a="http://schemas.openxmlformats.org/drawingml/2006/main" marL="1143000" indent="-228600" algn="l">
        <a:lnSpc>
          <a:spcPct val="90000"/>
        </a:lnSpc>
        <a:spcBef>
          <a:spcPts val="500"/>
        </a:spcBef>
        <a:buChar char="•"/>
        <a:defRPr sz="2000">
          <a:solidFill>
            <a:schemeClr val="tx1"/>
          </a:solidFill>
          <a:latin typeface="+mn-lt"/>
          <a:ea typeface="+mn-lt"/>
          <a:cs typeface="+mn-lt"/>
        </a:defRPr>
      </a:lvl3pPr>
      <a:lvl4pPr xmlns:a="http://schemas.openxmlformats.org/drawingml/2006/main" marL="16002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4pPr>
      <a:lvl5pPr xmlns:a="http://schemas.openxmlformats.org/drawingml/2006/main" marL="20574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5pPr>
      <a:lvl6pPr xmlns:a="http://schemas.openxmlformats.org/drawingml/2006/main" marL="25146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6pPr>
      <a:lvl7pPr xmlns:a="http://schemas.openxmlformats.org/drawingml/2006/main" marL="29718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7pPr>
      <a:lvl8pPr xmlns:a="http://schemas.openxmlformats.org/drawingml/2006/main" marL="34290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8pPr>
      <a:lvl9pPr xmlns:a="http://schemas.openxmlformats.org/drawingml/2006/main" marL="38862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9pPr>
    </p:bodyStyle>
    <p:otherStyle>
      <a:lvl1pPr xmlns:a="http://schemas.openxmlformats.org/drawingml/2006/main" marL="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1pPr>
      <a:lvl2pPr xmlns:a="http://schemas.openxmlformats.org/drawingml/2006/main" marL="4572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2pPr>
      <a:lvl3pPr xmlns:a="http://schemas.openxmlformats.org/drawingml/2006/main" marL="9144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3pPr>
      <a:lvl4pPr xmlns:a="http://schemas.openxmlformats.org/drawingml/2006/main" marL="13716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4pPr>
      <a:lvl5pPr xmlns:a="http://schemas.openxmlformats.org/drawingml/2006/main" marL="18288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5pPr>
      <a:lvl6pPr xmlns:a="http://schemas.openxmlformats.org/drawingml/2006/main" marL="22860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6pPr>
      <a:lvl7pPr xmlns:a="http://schemas.openxmlformats.org/drawingml/2006/main" marL="27432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7pPr>
      <a:lvl8pPr xmlns:a="http://schemas.openxmlformats.org/drawingml/2006/main" marL="32004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8pPr>
      <a:lvl9pPr xmlns:a="http://schemas.openxmlformats.org/drawingml/2006/main" marL="36576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9pPr>
    </p:otherStyle>
  </p:txStyles>
</p:sldMaster>
</file>

<file path=ppt/slideMasters/theme/theme2.xml><?xml version="1.0" encoding="utf-8"?>
<a:theme xmlns:a="http://schemas.openxmlformats.org/drawingml/2006/main" name="ChatGPT">
  <a:themeElements>
    <a:clrScheme name="ChatGPT">
      <a:dk1>
        <a:srgbClr val="000000"/>
      </a:dk1>
      <a:lt1>
        <a:srgbClr val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Calibri Light"/>
        <a:ea typeface="Calibri Light"/>
        <a:cs typeface="Calibri Light"/>
      </a:majorFont>
      <a:minorFont>
        <a:latin typeface="Calibri"/>
        <a:ea typeface="Calibri"/>
        <a:cs typeface="Calibri"/>
      </a:minorFont>
    </a:fontScheme>
    <a:fmtScheme name="ChatGPT">
      <a:fillStyleLst>
        <a:solidFill>
          <a:schemeClr val="phClr"/>
        </a:solidFill>
        <a:gradFill>
          <a:gsLst>
            <a:gs pos="0">
              <a:schemeClr val="phClr">
                <a:tint val="67000"/>
                <a:lumMod val="110000"/>
                <a:satMod val="105000"/>
              </a:schemeClr>
            </a:gs>
            <a:gs pos="50000">
              <a:schemeClr val="phClr">
                <a:tint val="73000"/>
                <a:lumMod val="105000"/>
                <a:satMod val="103000"/>
              </a:schemeClr>
            </a:gs>
            <a:gs pos="100000">
              <a:schemeClr val="phClr">
                <a:tint val="81000"/>
                <a:lumMod val="105000"/>
                <a:satMod val="109000"/>
              </a:schemeClr>
            </a:gs>
          </a:gsLst>
          <a:lin ang="5400000" scaled="0"/>
        </a:gradFill>
        <a:gradFill>
          <a:gsLst>
            <a:gs pos="0">
              <a:schemeClr val="phClr">
                <a:tint val="94000"/>
                <a:lumMod val="102000"/>
                <a:satMod val="103000"/>
              </a:schemeClr>
            </a:gs>
            <a:gs pos="50000">
              <a:schemeClr val="phClr">
                <a:shade val="100000"/>
                <a:lumMod val="100000"/>
                <a:satMod val="110000"/>
              </a:schemeClr>
            </a:gs>
            <a:gs pos="100000">
              <a:schemeClr val="phClr">
                <a:shade val="78000"/>
                <a:lumMod val="99000"/>
                <a:satMod val="120000"/>
              </a:schemeClr>
            </a:gs>
          </a:gsLst>
          <a:lin ang="5400000" scaled="0"/>
        </a:gradFill>
      </a:fillStyleLst>
      <a:lnStyleLst>
        <a:ln w="12700">
          <a:solidFill>
            <a:schemeClr val="phClr"/>
          </a:solidFill>
          <a:prstDash val="solid"/>
        </a:ln>
        <a:ln w="19050">
          <a:solidFill>
            <a:schemeClr val="phClr"/>
          </a:solidFill>
          <a:prstDash val="solid"/>
        </a:ln>
        <a:ln w="25400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19050" dist="9525" dir="5400000">
              <a:srgbClr val="000000">
                <a:alpha val="6000"/>
              </a:srgbClr>
            </a:outerShdw>
          </a:effectLst>
        </a:effectStyle>
        <a:effectStyle>
          <a:effectLst>
            <a:outerShdw blurRad="28575" dist="9525" dir="5400000">
              <a:srgbClr val="000000">
                <a:alpha val="8000"/>
              </a:srgbClr>
            </a:outerShdw>
          </a:effectLst>
        </a:effectStyle>
        <a:effectStyle>
          <a:effectLst>
            <a:outerShdw blurRad="57150" dist="19050" dir="5400000">
              <a:srgbClr val="000000">
                <a:alpha val="10000"/>
              </a:srgbClr>
            </a:outerShdw>
          </a:effectLst>
        </a:effectStyle>
        <a:effectStyle>
          <a:effectLst>
            <a:outerShdw blurRad="114300" dist="38100" dir="5400000">
              <a:srgbClr val="000000">
                <a:alpha val="12000"/>
              </a:srgbClr>
            </a:outerShdw>
          </a:effectLst>
        </a:effectStyle>
        <a:effectStyle>
          <a:effectLst>
            <a:outerShdw blurRad="171450" dist="571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266700" dist="95250" dir="5400000">
              <a:srgbClr val="000000">
                <a:alpha val="24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>
          <a:gsLst>
            <a:gs pos="0">
              <a:schemeClr val="phClr">
                <a:tint val="93000"/>
                <a:shade val="98000"/>
                <a:lumMod val="102000"/>
                <a:satMod val="150000"/>
              </a:schemeClr>
            </a:gs>
            <a:gs pos="50000">
              <a:schemeClr val="phClr">
                <a:tint val="98000"/>
                <a:shade val="90000"/>
                <a:lumMod val="103000"/>
                <a:satMod val="130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</a:theme>
</file>

<file path=ppt/slides/_rels/slide1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0654b6fb44a540e6" /><Relationship Type="http://schemas.openxmlformats.org/officeDocument/2006/relationships/image" Target="/ppt/media/image.png" Id="R5915f6dce40a4a2b" /><Relationship Type="http://schemas.openxmlformats.org/officeDocument/2006/relationships/notesSlide" Target="/ppt/notesSlides/notesSlide1.xml" Id="R7875822646214a38" /></Relationships>
</file>

<file path=ppt/slides/_rels/slide2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741e14e6e08044c1" /><Relationship Type="http://schemas.openxmlformats.org/officeDocument/2006/relationships/notesSlide" Target="/ppt/notesSlides/notesSlide2.xml" Id="R599439f2cbcd4b0e" /></Relationships>
</file>

<file path=ppt/slides/_rels/slide3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f10dc516948c4dae" /><Relationship Type="http://schemas.openxmlformats.org/officeDocument/2006/relationships/notesSlide" Target="/ppt/notesSlides/notesSlide3.xml" Id="Rb96d990cb43b441d" /></Relationships>
</file>

<file path=ppt/slides/_rels/slide4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aaaeaaa3d41b4d5e" /><Relationship Type="http://schemas.openxmlformats.org/officeDocument/2006/relationships/notesSlide" Target="/ppt/notesSlides/notesSlide4.xml" Id="Re916b665b73a414e" /></Relationships>
</file>

<file path=ppt/slides/_rels/slide5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7139c1c1086f4a8c" /><Relationship Type="http://schemas.openxmlformats.org/officeDocument/2006/relationships/notesSlide" Target="/ppt/notesSlides/notesSlide5.xml" Id="R4d668917bc8747b9" /></Relationships>
</file>

<file path=ppt/slides/_rels/slide6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227443206659425d" /><Relationship Type="http://schemas.openxmlformats.org/officeDocument/2006/relationships/image" Target="/ppt/media/image2.png" Id="Ra8eb26cb17de460d" /><Relationship Type="http://schemas.openxmlformats.org/officeDocument/2006/relationships/notesSlide" Target="/ppt/notesSlides/notesSlide6.xml" Id="R060031ef5c684b97" /></Relationships>
</file>

<file path=ppt/slides/_rels/slide7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ebad622b47b94605" /><Relationship Type="http://schemas.openxmlformats.org/officeDocument/2006/relationships/image" Target="/ppt/media/image3.png" Id="R1b0bc76286884537" /><Relationship Type="http://schemas.openxmlformats.org/officeDocument/2006/relationships/notesSlide" Target="/ppt/notesSlides/notesSlide7.xml" Id="Rd6b1ef28c0da4582" /></Relationships>
</file>

<file path=ppt/slides/_rels/slide8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9208a257a82a4376" /><Relationship Type="http://schemas.openxmlformats.org/officeDocument/2006/relationships/chart" Target="/ppt/slides/charts/chart1.xml" Id="R1f413d81d2344820" /><Relationship Type="http://schemas.openxmlformats.org/officeDocument/2006/relationships/notesSlide" Target="/ppt/notesSlides/notesSlide8.xml" Id="R776f39203b7e40b5" /></Relationships>
</file>

<file path=ppt/slides/_rels/slide9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2217f20a7b31464c" /><Relationship Type="http://schemas.openxmlformats.org/officeDocument/2006/relationships/notesSlide" Target="/ppt/notesSlides/notesSlide9.xml" Id="R8c9a69b8aa0945b9" /></Relationships>
</file>

<file path=ppt/slides/_rels/slide10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e542d6c6a90645ee" /><Relationship Type="http://schemas.openxmlformats.org/officeDocument/2006/relationships/image" Target="/ppt/media/image4.png" Id="Rfe3275b426e4472f" /><Relationship Type="http://schemas.openxmlformats.org/officeDocument/2006/relationships/notesSlide" Target="/ppt/notesSlides/notesSlide10.xml" Id="R83238dd2fa0f46c2" /></Relationships>
</file>

<file path=ppt/slides/charts/chart1.xml><?xml version="1.0" encoding="utf-8"?>
<c:chartSpace xmlns:c="http://schemas.openxmlformats.org/drawingml/2006/chart">
  <c:lang val="en-US"/>
  <c:chart>
    <c:plotArea>
      <c:barChart>
        <c:barDir val="col"/>
        <c:grouping val="clustered"/>
        <c:varyColors val="0"/>
        <c:ser>
          <c:idx val="0"/>
          <c:order val="0"/>
          <c:tx>
            <c:v>Accuracy</c:v>
          </c:tx>
          <c:spPr>
            <a:solidFill xmlns:a="http://schemas.openxmlformats.org/drawingml/2006/main">
              <a:srgbClr val="3D8DFF"/>
            </a:solidFill>
          </c:spPr>
          <c:cat>
            <c:strLit>
              <c:ptCount val="3"/>
              <c:pt idx="0">
                <c:v>M2 baseline</c:v>
              </c:pt>
              <c:pt idx="1">
                <c:v>M3 PEFT LoRA</c:v>
              </c:pt>
              <c:pt idx="2">
                <c:v>Final classifier</c:v>
              </c:pt>
            </c:strLit>
          </c:cat>
          <c:val>
            <c:numLit>
              <c:formatCode>General</c:formatCode>
              <c:ptCount val="3"/>
              <c:pt idx="0">
                <c:v>79.3</c:v>
              </c:pt>
              <c:pt idx="1">
                <c:v>87.5</c:v>
              </c:pt>
              <c:pt idx="2">
                <c:v>98.4</c:v>
              </c:pt>
            </c:numLit>
          </c:val>
        </c:ser>
        <c:ser>
          <c:idx val="1"/>
          <c:order val="1"/>
          <c:tx>
            <c:v>Macro F1</c:v>
          </c:tx>
          <c:spPr>
            <a:solidFill xmlns:a="http://schemas.openxmlformats.org/drawingml/2006/main">
              <a:srgbClr val="D6532F"/>
            </a:solidFill>
          </c:spPr>
          <c:cat>
            <c:strLit>
              <c:ptCount val="3"/>
              <c:pt idx="0">
                <c:v>M2 baseline</c:v>
              </c:pt>
              <c:pt idx="1">
                <c:v>M3 PEFT LoRA</c:v>
              </c:pt>
              <c:pt idx="2">
                <c:v>Final classifier</c:v>
              </c:pt>
            </c:strLit>
          </c:cat>
          <c:val>
            <c:numLit>
              <c:formatCode>General</c:formatCode>
              <c:ptCount val="3"/>
              <c:pt idx="0">
                <c:v>78.5</c:v>
              </c:pt>
              <c:pt idx="1">
                <c:v>87.3</c:v>
              </c:pt>
              <c:pt idx="2">
                <c:v>98.4</c:v>
              </c:pt>
            </c:numLit>
          </c:val>
        </c:ser>
        <c:dLbls>
          <c:dLblPos val="outEnd"/>
          <c:showLegendKey val="0"/>
          <c:showVal val="1"/>
          <c:showCatName val="0"/>
          <c:showSerName val="0"/>
          <c:showPercent val="0"/>
          <c:showBubbleSize val="0"/>
          <c:showLeaderLines val="0"/>
        </c:dLbls>
        <c:gapWidth val="90"/>
        <c:axId val="48650112"/>
        <c:axId val="48672768"/>
      </c:barChart>
      <c:catAx>
        <c:axId val="48650112"/>
        <c:scaling>
          <c:orientation val="minMax"/>
        </c:scaling>
        <c:delete val="0"/>
        <c:axPos val="b"/>
        <c:numFmt formatCode="General"/>
        <c:majorTickMark val="none"/>
        <c:minorTickMark val="none"/>
        <c:spPr>
          <a:ln xmlns:a="http://schemas.openxmlformats.org/drawingml/2006/main" w="9525">
            <a:solidFill>
              <a:srgbClr val="B8BCC4"/>
            </a:solidFill>
            <a:prstDash val="solid"/>
          </a:ln>
        </c:spPr>
        <c:txPr>
          <a:bodyPr xmlns:a="http://schemas.openxmlformats.org/drawingml/2006/main" anchorCtr="1"/>
          <a:lstStyle xmlns:a="http://schemas.openxmlformats.org/drawingml/2006/main"/>
          <a:p xmlns:a="http://schemas.openxmlformats.org/drawingml/2006/main">
            <a:pPr>
              <a:defRPr sz="1200">
                <a:solidFill>
                  <a:srgbClr val="111111"/>
                </a:solidFill>
                <a:latin typeface="Helvetica Neue"/>
                <a:ea typeface="Helvetica Neue"/>
                <a:cs typeface="Helvetica Neue"/>
              </a:defRPr>
            </a:pPr>
          </a:p>
        </c:txPr>
        <c:crossAx val="48672768"/>
        <c:lblOffset val="100"/>
      </c:catAx>
      <c:valAx>
        <c:axId val="48672768"/>
        <c:scaling>
          <c:orientation val="minMax"/>
        </c:scaling>
        <c:delete val="0"/>
        <c:axPos val="l"/>
        <c:majorGridlines>
          <c:spPr>
            <a:ln xmlns:a="http://schemas.openxmlformats.org/drawingml/2006/main" w="9525">
              <a:solidFill>
                <a:srgbClr val="EDEDED"/>
              </a:solidFill>
              <a:prstDash val="solid"/>
            </a:ln>
          </c:spPr>
        </c:majorGridlines>
        <c:numFmt formatCode="General"/>
        <c:majorTickMark val="none"/>
        <c:minorTickMark val="none"/>
        <c:spPr>
          <a:ln xmlns:a="http://schemas.openxmlformats.org/drawingml/2006/main" w="0">
            <a:solidFill>
              <a:srgbClr val="FFFFFF"/>
            </a:solidFill>
            <a:prstDash val="solid"/>
          </a:ln>
        </c:spPr>
        <c:txPr>
          <a:bodyPr xmlns:a="http://schemas.openxmlformats.org/drawingml/2006/main" anchorCtr="1"/>
          <a:lstStyle xmlns:a="http://schemas.openxmlformats.org/drawingml/2006/main"/>
          <a:p xmlns:a="http://schemas.openxmlformats.org/drawingml/2006/main">
            <a:pPr>
              <a:defRPr sz="1125">
                <a:solidFill>
                  <a:srgbClr val="111111"/>
                </a:solidFill>
                <a:latin typeface="Helvetica Neue"/>
                <a:ea typeface="Helvetica Neue"/>
                <a:cs typeface="Helvetica Neue"/>
              </a:defRPr>
            </a:pPr>
          </a:p>
        </c:txPr>
        <c:crossAx val="48650112"/>
        <c:crossBetween val="between"/>
        <c:majorUnit val="20"/>
      </c:valAx>
      <c:spPr>
        <a:noFill xmlns:a="http://schemas.openxmlformats.org/drawingml/2006/main"/>
        <a:ln xmlns:a="http://schemas.openxmlformats.org/drawingml/2006/main" w="0">
          <a:solidFill>
            <a:srgbClr val="FFFFFF"/>
          </a:solidFill>
          <a:prstDash val="solid"/>
        </a:ln>
      </c:spPr>
    </c:plotArea>
    <c:legend>
      <c:legendPos val="b"/>
      <c:overlay val="0"/>
    </c:legend>
    <c:plotVisOnly val="1"/>
  </c:chart>
  <c:spPr>
    <a:solidFill xmlns:a="http://schemas.openxmlformats.org/drawingml/2006/main">
      <a:srgbClr val="FFFFFF"/>
    </a:solidFill>
    <a:ln xmlns:a="http://schemas.openxmlformats.org/drawingml/2006/main" w="0">
      <a:solidFill>
        <a:srgbClr val="FFFFFF"/>
      </a:solidFill>
      <a:prstDash val="solid"/>
    </a:ln>
  </c:spPr>
</c:chartSpace>
</file>

<file path=ppt/slides/slide1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F3E04B4E-3600-49D9-A886-0784CCC4C28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00050" y="381000"/>
            <a:ext cx="4762500" cy="381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l">
              <a:buNone/>
              <a:defRPr sz="1800" b="0">
                <a:solidFill>
                  <a:srgbClr val="565D67"/>
                </a:solidFill>
              </a:defRPr>
            </a:pPr>
            <a:r>
              <a:rPr sz="1800" b="0">
                <a:solidFill>
                  <a:srgbClr val="565D67"/>
                </a:solidFill>
              </a:rPr>
              <a:t>ISBA 2411 | FINAL TEAM PROJECT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2270C986-0EE4-4CB0-BA39-94B31EDDD5B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00050" y="1752600"/>
            <a:ext cx="5429250" cy="1009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b"/>
          <a:lstStyle xmlns:a="http://schemas.openxmlformats.org/drawingml/2006/main"/>
          <a:p xmlns:a="http://schemas.openxmlformats.org/drawingml/2006/main">
            <a:pPr algn="l">
              <a:buNone/>
              <a:defRPr sz="5400" b="1">
                <a:solidFill>
                  <a:srgbClr val="111111"/>
                </a:solidFill>
              </a:defRPr>
            </a:pPr>
            <a:r>
              <a:rPr sz="5400" b="1">
                <a:solidFill>
                  <a:srgbClr val="111111"/>
                </a:solidFill>
              </a:rPr>
              <a:t>MSBA Job Matching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4BFA4D41-0C5A-44F7-B771-FAEEE046EF8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00050" y="2895600"/>
            <a:ext cx="5048250" cy="8572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l">
              <a:buNone/>
              <a:defRPr sz="2700" b="0">
                <a:solidFill>
                  <a:srgbClr val="111111"/>
                </a:solidFill>
              </a:defRPr>
            </a:pPr>
            <a:r>
              <a:rPr sz="2700" b="0">
                <a:solidFill>
                  <a:srgbClr val="111111"/>
                </a:solidFill>
              </a:rPr>
              <a:t>Grounded NLP decision support for career advisors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76F47023-ED47-4A13-9912-1334FE517C6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00050" y="4857750"/>
            <a:ext cx="5238750" cy="4762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l">
              <a:buNone/>
              <a:defRPr sz="1950" b="0">
                <a:solidFill>
                  <a:srgbClr val="565D67"/>
                </a:solidFill>
              </a:defRPr>
            </a:pPr>
            <a:r>
              <a:rPr sz="1950" b="0">
                <a:solidFill>
                  <a:srgbClr val="565D67"/>
                </a:solidFill>
              </a:rPr>
              <a:t>Search  |  Fit  |  Evidence  |  Human review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A736A72D-E24E-4796-A710-1C068625D63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00050" y="5772150"/>
            <a:ext cx="495300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l">
              <a:buNone/>
              <a:defRPr sz="1650" b="0">
                <a:solidFill>
                  <a:srgbClr val="3D8DFF"/>
                </a:solidFill>
              </a:defRPr>
            </a:pPr>
            <a:r>
              <a:rPr sz="1650" b="0">
                <a:solidFill>
                  <a:srgbClr val="3D8DFF"/>
                </a:solidFill>
              </a:rPr>
              <a:t>Yitong Wang | Zhike Yan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40E0EF13-E5B4-4DA0-9EE5-35C6F3EDAAA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220450" y="6267450"/>
            <a:ext cx="5715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r">
              <a:buNone/>
              <a:defRPr sz="1200" b="0">
                <a:solidFill>
                  <a:srgbClr val="565D67"/>
                </a:solidFill>
              </a:defRPr>
            </a:pPr>
            <a:r>
              <a:rPr sz="1200" b="0">
                <a:solidFill>
                  <a:srgbClr val="565D67"/>
                </a:solidFill>
              </a:rPr>
              <a:t>1</a:t>
            </a:r>
          </a:p>
        </p:txBody>
      </p:sp>
      <p:pic>
        <p:nvPicPr>
          <p:cNvPr id="15" name="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5915f6dce40a4a2b"/>
          <a:srcRect xmlns:a="http://schemas.openxmlformats.org/drawingml/2006/main" l="0" t="4269" r="0" b="4269"/>
          <a:stretch xmlns:a="http://schemas.openxmlformats.org/drawingml/2006/main">
            <a:fillRect l="0" t="0" r="0" b="0"/>
          </a:stretch>
        </p:blipFill>
        <p:spPr>
          <a:xfrm xmlns:a="http://schemas.openxmlformats.org/drawingml/2006/main">
            <a:off x="6191250" y="0"/>
            <a:ext cx="6000750" cy="6858000"/>
          </a:xfrm>
          <a:prstGeom xmlns:a="http://schemas.openxmlformats.org/drawingml/2006/main"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790500452"/>
      </p:ext>
    </p:extLst>
  </p:cSld>
</p:sld>
</file>

<file path=ppt/slides/slide2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4" name="slide-2-title">
            <a:extLst xmlns:a="http://schemas.openxmlformats.org/drawingml/2006/main">
              <a:ext uri="{FF2B5EF4-FFF2-40B4-BE49-F238E27FC236}">
                <a16:creationId xmlns:a16="http://schemas.microsoft.com/office/drawing/2014/main" id="{74556003-EC26-4A05-BBE1-9019CC52B9C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00050" y="323850"/>
            <a:ext cx="11096625" cy="685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l">
              <a:buNone/>
              <a:defRPr sz="3600" b="1">
                <a:solidFill>
                  <a:srgbClr val="111111"/>
                </a:solidFill>
              </a:defRPr>
            </a:pPr>
            <a:r>
              <a:rPr sz="3600" b="1">
                <a:solidFill>
                  <a:srgbClr val="111111"/>
                </a:solidFill>
              </a:rPr>
              <a:t>The advisor must separate fit, uncertainty, and risk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D295B155-F18F-4DE6-B1EC-2E6F5F90F80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19100" y="1028700"/>
            <a:ext cx="10668000" cy="457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l">
              <a:buNone/>
              <a:defRPr sz="1650" b="0">
                <a:solidFill>
                  <a:srgbClr val="565D67"/>
                </a:solidFill>
              </a:defRPr>
            </a:pPr>
            <a:r>
              <a:rPr sz="1650" b="0">
                <a:solidFill>
                  <a:srgbClr val="565D67"/>
                </a:solidFill>
              </a:rPr>
              <a:t>A useful system improves a specific decision: forward, hold, or investigate.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E3C3E404-8C1E-4BB3-BE7A-C76BE309898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220450" y="6267450"/>
            <a:ext cx="5715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r">
              <a:buNone/>
              <a:defRPr sz="1200" b="0">
                <a:solidFill>
                  <a:srgbClr val="565D67"/>
                </a:solidFill>
              </a:defRPr>
            </a:pPr>
            <a:r>
              <a:rPr sz="1200" b="0">
                <a:solidFill>
                  <a:srgbClr val="565D67"/>
                </a:solidFill>
              </a:rPr>
              <a:t>2</a:t>
            </a:r>
          </a:p>
        </p:txBody>
      </p:sp>
      <p:cxnSp>
        <p:nvCxnSpPr>
          <p:cNvPr id="37" name=""/>
          <p:cNvCxnSpPr/>
          <p:nvPr/>
        </p:nvCxnSpPr>
        <p:spPr>
          <a:xfrm xmlns:a="http://schemas.openxmlformats.org/drawingml/2006/main">
            <a:off x="419100" y="2724150"/>
            <a:ext cx="3333750" cy="0"/>
          </a:xfrm>
          <a:prstGeom xmlns:a="http://schemas.openxmlformats.org/drawingml/2006/main" prst="straightConnector1">
            <a:avLst/>
          </a:prstGeom>
          <a:ln xmlns:a="http://schemas.openxmlformats.org/drawingml/2006/main" w="38100">
            <a:solidFill>
              <a:srgbClr val="3D8DFF"/>
            </a:solidFill>
            <a:prstDash val="solid"/>
          </a:ln>
        </p:spPr>
      </p:cxn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52DD17D9-B95F-4DBA-BD04-377CE6F345C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19100" y="3009900"/>
            <a:ext cx="3333750" cy="400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l">
              <a:buNone/>
              <a:defRPr sz="2100" b="1">
                <a:solidFill>
                  <a:srgbClr val="3D8DFF"/>
                </a:solidFill>
              </a:defRPr>
            </a:pPr>
            <a:r>
              <a:rPr sz="2100" b="1">
                <a:solidFill>
                  <a:srgbClr val="3D8DFF"/>
                </a:solidFill>
              </a:rPr>
              <a:t>FORWARD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744679A9-D1A2-4FA5-B3F6-C19112D5E73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19100" y="3676650"/>
            <a:ext cx="3333750" cy="1333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l">
              <a:buNone/>
              <a:defRPr sz="1875" b="0">
                <a:solidFill>
                  <a:srgbClr val="111111"/>
                </a:solidFill>
              </a:defRPr>
            </a:pPr>
            <a:r>
              <a:rPr sz="1875" b="0">
                <a:solidFill>
                  <a:srgbClr val="111111"/>
                </a:solidFill>
              </a:rPr>
              <a:t>Strong entry-level analytics fit supported by title, skills, and location evidence.</a:t>
            </a:r>
          </a:p>
        </p:txBody>
      </p:sp>
      <p:cxnSp>
        <p:nvCxnSpPr>
          <p:cNvPr id="40" name=""/>
          <p:cNvCxnSpPr/>
          <p:nvPr/>
        </p:nvCxnSpPr>
        <p:spPr>
          <a:xfrm xmlns:a="http://schemas.openxmlformats.org/drawingml/2006/main">
            <a:off x="4276725" y="2724150"/>
            <a:ext cx="3333750" cy="0"/>
          </a:xfrm>
          <a:prstGeom xmlns:a="http://schemas.openxmlformats.org/drawingml/2006/main" prst="straightConnector1">
            <a:avLst/>
          </a:prstGeom>
          <a:ln xmlns:a="http://schemas.openxmlformats.org/drawingml/2006/main" w="38100">
            <a:solidFill>
              <a:srgbClr val="3D8DFF"/>
            </a:solidFill>
            <a:prstDash val="solid"/>
          </a:ln>
        </p:spPr>
      </p:cxn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865ED023-06B4-40DB-9014-54D985F0C90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276725" y="3009900"/>
            <a:ext cx="3333750" cy="400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l">
              <a:buNone/>
              <a:defRPr sz="2100" b="1">
                <a:solidFill>
                  <a:srgbClr val="3D8DFF"/>
                </a:solidFill>
              </a:defRPr>
            </a:pPr>
            <a:r>
              <a:rPr sz="2100" b="1">
                <a:solidFill>
                  <a:srgbClr val="3D8DFF"/>
                </a:solidFill>
              </a:rPr>
              <a:t>HOLD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239A6156-2E20-4A24-93B7-E389D1A36E3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276725" y="3676650"/>
            <a:ext cx="3333750" cy="1333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l">
              <a:buNone/>
              <a:defRPr sz="1875" b="0">
                <a:solidFill>
                  <a:srgbClr val="111111"/>
                </a:solidFill>
              </a:defRPr>
            </a:pPr>
            <a:r>
              <a:rPr sz="1875" b="0">
                <a:solidFill>
                  <a:srgbClr val="111111"/>
                </a:solidFill>
              </a:rPr>
              <a:t>Senior, engineering-heavy, or clearly misaligned roles require a conservative screen.</a:t>
            </a:r>
          </a:p>
        </p:txBody>
      </p:sp>
      <p:cxnSp>
        <p:nvCxnSpPr>
          <p:cNvPr id="43" name=""/>
          <p:cNvCxnSpPr/>
          <p:nvPr/>
        </p:nvCxnSpPr>
        <p:spPr>
          <a:xfrm xmlns:a="http://schemas.openxmlformats.org/drawingml/2006/main">
            <a:off x="8134350" y="2724150"/>
            <a:ext cx="3333750" cy="0"/>
          </a:xfrm>
          <a:prstGeom xmlns:a="http://schemas.openxmlformats.org/drawingml/2006/main" prst="straightConnector1">
            <a:avLst/>
          </a:prstGeom>
          <a:ln xmlns:a="http://schemas.openxmlformats.org/drawingml/2006/main" w="38100">
            <a:solidFill>
              <a:srgbClr val="D6532F"/>
            </a:solidFill>
            <a:prstDash val="solid"/>
          </a:ln>
        </p:spPr>
      </p:cxn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8C69BE4A-A94D-40BE-9C6A-950F2D18719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34350" y="3009900"/>
            <a:ext cx="3333750" cy="400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l">
              <a:buNone/>
              <a:defRPr sz="2100" b="1">
                <a:solidFill>
                  <a:srgbClr val="D6532F"/>
                </a:solidFill>
              </a:defRPr>
            </a:pPr>
            <a:r>
              <a:rPr sz="2100" b="1">
                <a:solidFill>
                  <a:srgbClr val="D6532F"/>
                </a:solidFill>
              </a:rPr>
              <a:t>INVESTIGATE</a:t>
            </a:r>
          </a:p>
        </p:txBody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A151ECBB-CD4F-4632-B9CF-CB9E2BEABDD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34350" y="3676650"/>
            <a:ext cx="3333750" cy="1333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l">
              <a:buNone/>
              <a:defRPr sz="1875" b="0">
                <a:solidFill>
                  <a:srgbClr val="111111"/>
                </a:solidFill>
              </a:defRPr>
            </a:pPr>
            <a:r>
              <a:rPr sz="1875" b="0">
                <a:solidFill>
                  <a:srgbClr val="111111"/>
                </a:solidFill>
              </a:rPr>
              <a:t>Incomplete fields or missing authorization language require human follow-up.</a:t>
            </a:r>
          </a:p>
        </p:txBody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1AFA5BE3-8BF6-4A64-8B83-CB786E8D286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19100" y="5619750"/>
            <a:ext cx="10287000" cy="400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l">
              <a:buNone/>
              <a:defRPr sz="1875" b="1">
                <a:solidFill>
                  <a:srgbClr val="111111"/>
                </a:solidFill>
              </a:defRPr>
            </a:pPr>
            <a:r>
              <a:rPr sz="1875" b="1">
                <a:solidFill>
                  <a:srgbClr val="111111"/>
                </a:solidFill>
              </a:rPr>
              <a:t>Role fit and work authorization are related in workflow, but they are not the same prediction task.</a:t>
            </a:r>
          </a:p>
        </p:txBody>
      </p:sp>
    </p:spTree>
    <p:extLst>
      <p:ext uri="{BB962C8B-B14F-4D97-AF65-F5344CB8AC3E}">
        <p14:creationId xmlns:p14="http://schemas.microsoft.com/office/powerpoint/2010/main" val="322671857"/>
      </p:ext>
    </p:extLst>
  </p:cSld>
</p:sld>
</file>

<file path=ppt/slides/slide3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6" name="slide-3-title">
            <a:extLst xmlns:a="http://schemas.openxmlformats.org/drawingml/2006/main">
              <a:ext uri="{FF2B5EF4-FFF2-40B4-BE49-F238E27FC236}">
                <a16:creationId xmlns:a16="http://schemas.microsoft.com/office/drawing/2014/main" id="{B2E48A52-5F6E-48C7-BE5C-099A6C9E9CA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00050" y="323850"/>
            <a:ext cx="11096625" cy="685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l">
              <a:buNone/>
              <a:defRPr sz="3600" b="1">
                <a:solidFill>
                  <a:srgbClr val="111111"/>
                </a:solidFill>
              </a:defRPr>
            </a:pPr>
            <a:r>
              <a:rPr sz="3600" b="1">
                <a:solidFill>
                  <a:srgbClr val="111111"/>
                </a:solidFill>
              </a:rPr>
              <a:t>Label quality, not data volume, is the bottleneck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39908947-BC9E-4E32-A3A7-2AB0CEAE749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19100" y="1028700"/>
            <a:ext cx="10668000" cy="457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l">
              <a:buNone/>
              <a:defRPr sz="1650" b="0">
                <a:solidFill>
                  <a:srgbClr val="565D67"/>
                </a:solidFill>
              </a:defRPr>
            </a:pPr>
            <a:r>
              <a:rPr sz="1650" b="0">
                <a:solidFill>
                  <a:srgbClr val="565D67"/>
                </a:solidFill>
              </a:rPr>
              <a:t>The final model uses the full training split and audits all 785,741 source rows.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E24B77C5-8DC8-4AAE-8219-C4624E88F65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220450" y="6267450"/>
            <a:ext cx="5715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r">
              <a:buNone/>
              <a:defRPr sz="1200" b="0">
                <a:solidFill>
                  <a:srgbClr val="565D67"/>
                </a:solidFill>
              </a:defRPr>
            </a:pPr>
            <a:r>
              <a:rPr sz="1200" b="0">
                <a:solidFill>
                  <a:srgbClr val="565D67"/>
                </a:solidFill>
              </a:rPr>
              <a:t>3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F6552293-86C4-4EA7-ACB3-7A586358E56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19100" y="2933700"/>
            <a:ext cx="2571750" cy="24765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DEDED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A2D8C5E6-C599-46EA-80FE-B8E94195657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3295650"/>
            <a:ext cx="2047875" cy="7239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b"/>
          <a:lstStyle xmlns:a="http://schemas.openxmlformats.org/drawingml/2006/main"/>
          <a:p xmlns:a="http://schemas.openxmlformats.org/drawingml/2006/main">
            <a:pPr algn="l">
              <a:buNone/>
              <a:defRPr sz="4350" b="1">
                <a:solidFill>
                  <a:srgbClr val="3D8DFF"/>
                </a:solidFill>
              </a:defRPr>
            </a:pPr>
            <a:r>
              <a:rPr sz="4350" b="1">
                <a:solidFill>
                  <a:srgbClr val="3D8DFF"/>
                </a:solidFill>
              </a:rPr>
              <a:t>785,741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C793BB7A-5E75-4E47-BFAB-7E450FACE37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4305300"/>
            <a:ext cx="2047875" cy="762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l">
              <a:buNone/>
              <a:defRPr sz="1650" b="0">
                <a:solidFill>
                  <a:srgbClr val="111111"/>
                </a:solidFill>
              </a:defRPr>
            </a:pPr>
            <a:r>
              <a:rPr sz="1650" b="0">
                <a:solidFill>
                  <a:srgbClr val="111111"/>
                </a:solidFill>
              </a:rPr>
              <a:t>original public job records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0D6CDA45-88FD-4FBD-8CA1-049BA44D51C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276600" y="2933700"/>
            <a:ext cx="2571750" cy="24765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DEDED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D7DE1C26-8B52-4AF4-8CAE-5623EEB9E79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543300" y="3295650"/>
            <a:ext cx="2047875" cy="7239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b"/>
          <a:lstStyle xmlns:a="http://schemas.openxmlformats.org/drawingml/2006/main"/>
          <a:p xmlns:a="http://schemas.openxmlformats.org/drawingml/2006/main">
            <a:pPr algn="l">
              <a:buNone/>
              <a:defRPr sz="4350" b="1">
                <a:solidFill>
                  <a:srgbClr val="3D8DFF"/>
                </a:solidFill>
              </a:defRPr>
            </a:pPr>
            <a:r>
              <a:rPr sz="4350" b="1">
                <a:solidFill>
                  <a:srgbClr val="3D8DFF"/>
                </a:solidFill>
              </a:rPr>
              <a:t>100,000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7C203F4B-D94B-496D-A992-2B1CC0A7E51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543300" y="4305300"/>
            <a:ext cx="2047875" cy="762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l">
              <a:buNone/>
              <a:defRPr sz="1650" b="0">
                <a:solidFill>
                  <a:srgbClr val="111111"/>
                </a:solidFill>
              </a:defRPr>
            </a:pPr>
            <a:r>
              <a:rPr sz="1650" b="0">
                <a:solidFill>
                  <a:srgbClr val="111111"/>
                </a:solidFill>
              </a:rPr>
              <a:t>stratified project sample</a:t>
            </a:r>
          </a:p>
        </p:txBody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73103908-720B-421C-886A-DCC6AF9BE08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134100" y="2933700"/>
            <a:ext cx="2571750" cy="24765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DEDED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CAF7511E-4307-4EE8-BF0A-F41717B4F48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00800" y="3295650"/>
            <a:ext cx="2047875" cy="7239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b"/>
          <a:lstStyle xmlns:a="http://schemas.openxmlformats.org/drawingml/2006/main"/>
          <a:p xmlns:a="http://schemas.openxmlformats.org/drawingml/2006/main">
            <a:pPr algn="l">
              <a:buNone/>
              <a:defRPr sz="4350" b="1">
                <a:solidFill>
                  <a:srgbClr val="D6532F"/>
                </a:solidFill>
              </a:defRPr>
            </a:pPr>
            <a:r>
              <a:rPr sz="4350" b="1">
                <a:solidFill>
                  <a:srgbClr val="D6532F"/>
                </a:solidFill>
              </a:rPr>
              <a:t>77,135</a:t>
            </a:r>
          </a:p>
        </p:txBody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ED7E21C8-B5B1-4860-8F78-3EC72FFDCBC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00800" y="4305300"/>
            <a:ext cx="2047875" cy="762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l">
              <a:buNone/>
              <a:defRPr sz="1650" b="0">
                <a:solidFill>
                  <a:srgbClr val="111111"/>
                </a:solidFill>
              </a:defRPr>
            </a:pPr>
            <a:r>
              <a:rPr sz="1650" b="0">
                <a:solidFill>
                  <a:srgbClr val="111111"/>
                </a:solidFill>
              </a:rPr>
              <a:t>deduplicated training rows</a:t>
            </a:r>
          </a:p>
        </p:txBody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508DD38F-0A1F-43DE-A2AA-3CB14B6AED5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991600" y="2933700"/>
            <a:ext cx="2571750" cy="24765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DEDED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5C9A6E43-A650-4444-8E59-23216B07443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258300" y="3295650"/>
            <a:ext cx="2047875" cy="7239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b"/>
          <a:lstStyle xmlns:a="http://schemas.openxmlformats.org/drawingml/2006/main"/>
          <a:p xmlns:a="http://schemas.openxmlformats.org/drawingml/2006/main">
            <a:pPr algn="l">
              <a:buNone/>
              <a:defRPr sz="4350" b="1">
                <a:solidFill>
                  <a:srgbClr val="D6532F"/>
                </a:solidFill>
              </a:defRPr>
            </a:pPr>
            <a:r>
              <a:rPr sz="4350" b="1">
                <a:solidFill>
                  <a:srgbClr val="D6532F"/>
                </a:solidFill>
              </a:rPr>
              <a:t>230</a:t>
            </a:r>
          </a:p>
        </p:txBody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62A23066-5E4A-40C3-87DB-142C1278727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258300" y="4305300"/>
            <a:ext cx="2047875" cy="762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l">
              <a:buNone/>
              <a:defRPr sz="1650" b="0">
                <a:solidFill>
                  <a:srgbClr val="111111"/>
                </a:solidFill>
              </a:defRPr>
            </a:pPr>
            <a:r>
              <a:rPr sz="1650" b="0">
                <a:solidFill>
                  <a:srgbClr val="111111"/>
                </a:solidFill>
              </a:rPr>
              <a:t>unique authorization candidates</a:t>
            </a:r>
          </a:p>
        </p:txBody>
      </p:sp>
    </p:spTree>
    <p:extLst>
      <p:ext uri="{BB962C8B-B14F-4D97-AF65-F5344CB8AC3E}">
        <p14:creationId xmlns:p14="http://schemas.microsoft.com/office/powerpoint/2010/main" val="1474187868"/>
      </p:ext>
    </p:extLst>
  </p:cSld>
</p:sld>
</file>

<file path=ppt/slides/slide4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0" name="slide-4-title">
            <a:extLst xmlns:a="http://schemas.openxmlformats.org/drawingml/2006/main">
              <a:ext uri="{FF2B5EF4-FFF2-40B4-BE49-F238E27FC236}">
                <a16:creationId xmlns:a16="http://schemas.microsoft.com/office/drawing/2014/main" id="{17601EDB-95CC-434B-84A8-44068FBFBDE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00050" y="323850"/>
            <a:ext cx="11096625" cy="685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l">
              <a:buNone/>
              <a:defRPr sz="3600" b="1">
                <a:solidFill>
                  <a:srgbClr val="111111"/>
                </a:solidFill>
              </a:defRPr>
            </a:pPr>
            <a:r>
              <a:rPr sz="3600" b="1">
                <a:solidFill>
                  <a:srgbClr val="111111"/>
                </a:solidFill>
              </a:rPr>
              <a:t>Each milestone changed the final technical decision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B035F729-10A3-41B5-AD5D-1301661A7A4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220450" y="6267450"/>
            <a:ext cx="5715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r">
              <a:buNone/>
              <a:defRPr sz="1200" b="0">
                <a:solidFill>
                  <a:srgbClr val="565D67"/>
                </a:solidFill>
              </a:defRPr>
            </a:pPr>
            <a:r>
              <a:rPr sz="1200" b="0">
                <a:solidFill>
                  <a:srgbClr val="565D67"/>
                </a:solidFill>
              </a:rPr>
              <a:t>4</a:t>
            </a:r>
          </a:p>
        </p:txBody>
      </p:sp>
      <p:cxnSp>
        <p:nvCxnSpPr>
          <p:cNvPr id="28" name=""/>
          <p:cNvCxnSpPr/>
          <p:nvPr/>
        </p:nvCxnSpPr>
        <p:spPr>
          <a:xfrm xmlns:a="http://schemas.openxmlformats.org/drawingml/2006/main">
            <a:off x="800100" y="3238500"/>
            <a:ext cx="10191750" cy="0"/>
          </a:xfrm>
          <a:prstGeom xmlns:a="http://schemas.openxmlformats.org/drawingml/2006/main" prst="straightConnector1">
            <a:avLst/>
          </a:prstGeom>
          <a:ln xmlns:a="http://schemas.openxmlformats.org/drawingml/2006/main" w="19050">
            <a:solidFill>
              <a:srgbClr val="111111"/>
            </a:solidFill>
            <a:prstDash val="solid"/>
          </a:ln>
        </p:spPr>
      </p:cxn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68AD0E60-5BE7-4C85-BD97-D8B0BE1149E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0100" y="3143250"/>
            <a:ext cx="190500" cy="19050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3D8DFF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A7429962-FCDC-4642-B807-A6CC6FA6E1B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0100" y="2571750"/>
            <a:ext cx="1047750" cy="3429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l">
              <a:buNone/>
              <a:defRPr sz="1800" b="1">
                <a:solidFill>
                  <a:srgbClr val="565D67"/>
                </a:solidFill>
              </a:defRPr>
            </a:pPr>
            <a:r>
              <a:rPr sz="1800" b="1">
                <a:solidFill>
                  <a:srgbClr val="565D67"/>
                </a:solidFill>
              </a:rPr>
              <a:t>M2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83FB701A-DF95-498D-91A0-0CBB1C4FB42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0100" y="3695700"/>
            <a:ext cx="2095500" cy="361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l">
              <a:buNone/>
              <a:defRPr sz="2250" b="1">
                <a:solidFill>
                  <a:srgbClr val="3D8DFF"/>
                </a:solidFill>
              </a:defRPr>
            </a:pPr>
            <a:r>
              <a:rPr sz="2250" b="1">
                <a:solidFill>
                  <a:srgbClr val="3D8DFF"/>
                </a:solidFill>
              </a:rPr>
              <a:t>Represent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CA645F78-BD0B-4B67-929D-A91A7E3CEA9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0100" y="4248150"/>
            <a:ext cx="2143125" cy="9144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l">
              <a:buNone/>
              <a:defRPr sz="1650" b="0">
                <a:solidFill>
                  <a:srgbClr val="111111"/>
                </a:solidFill>
              </a:defRPr>
            </a:pPr>
            <a:r>
              <a:rPr sz="1650" b="0">
                <a:solidFill>
                  <a:srgbClr val="111111"/>
                </a:solidFill>
              </a:rPr>
              <a:t>TF-IDF + MiniLM</a:t>
            </a:r>
          </a:p>
          <a:p xmlns:a="http://schemas.openxmlformats.org/drawingml/2006/main">
            <a:pPr algn="l">
              <a:buNone/>
              <a:defRPr sz="1650" b="0">
                <a:solidFill>
                  <a:srgbClr val="111111"/>
                </a:solidFill>
              </a:defRPr>
            </a:pPr>
            <a:r>
              <a:rPr sz="1650" b="0">
                <a:solidFill>
                  <a:srgbClr val="111111"/>
                </a:solidFill>
              </a:rPr>
              <a:t>20k validation</a:t>
            </a:r>
          </a:p>
        </p:txBody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53413149-214C-4448-BA57-C2B406A4DCD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514725" y="3143250"/>
            <a:ext cx="190500" cy="19050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3D8DFF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8E7DD049-28A6-448B-8BDD-528236E8D8F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514725" y="2571750"/>
            <a:ext cx="1047750" cy="3429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l">
              <a:buNone/>
              <a:defRPr sz="1800" b="1">
                <a:solidFill>
                  <a:srgbClr val="565D67"/>
                </a:solidFill>
              </a:defRPr>
            </a:pPr>
            <a:r>
              <a:rPr sz="1800" b="1">
                <a:solidFill>
                  <a:srgbClr val="565D67"/>
                </a:solidFill>
              </a:rPr>
              <a:t>M3</a:t>
            </a:r>
          </a:p>
        </p:txBody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83387004-5451-4672-A883-04BA831ECC7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514725" y="3695700"/>
            <a:ext cx="2095500" cy="361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l">
              <a:buNone/>
              <a:defRPr sz="2250" b="1">
                <a:solidFill>
                  <a:srgbClr val="3D8DFF"/>
                </a:solidFill>
              </a:defRPr>
            </a:pPr>
            <a:r>
              <a:rPr sz="2250" b="1">
                <a:solidFill>
                  <a:srgbClr val="3D8DFF"/>
                </a:solidFill>
              </a:rPr>
              <a:t>Adapt</a:t>
            </a:r>
          </a:p>
        </p:txBody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CA3D8E3B-DA3D-47F0-A12F-44E31DC6832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514725" y="4248150"/>
            <a:ext cx="2143125" cy="9144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l">
              <a:buNone/>
              <a:defRPr sz="1650" b="0">
                <a:solidFill>
                  <a:srgbClr val="111111"/>
                </a:solidFill>
              </a:defRPr>
            </a:pPr>
            <a:r>
              <a:rPr sz="1650" b="0">
                <a:solidFill>
                  <a:srgbClr val="111111"/>
                </a:solidFill>
              </a:rPr>
              <a:t>Zero-shot + few-shot +</a:t>
            </a:r>
          </a:p>
          <a:p xmlns:a="http://schemas.openxmlformats.org/drawingml/2006/main">
            <a:pPr algn="l">
              <a:buNone/>
              <a:defRPr sz="1650" b="0">
                <a:solidFill>
                  <a:srgbClr val="111111"/>
                </a:solidFill>
              </a:defRPr>
            </a:pPr>
            <a:r>
              <a:rPr sz="1650" b="0">
                <a:solidFill>
                  <a:srgbClr val="111111"/>
                </a:solidFill>
              </a:rPr>
              <a:t>true PEFT LoRA</a:t>
            </a:r>
          </a:p>
        </p:txBody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591362B3-3A72-4AEF-94B1-408F6CB4A83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29350" y="3143250"/>
            <a:ext cx="190500" cy="19050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3D8DFF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1B192215-A64E-4AD1-B0B3-1ABB912EA03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29350" y="2571750"/>
            <a:ext cx="1047750" cy="3429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l">
              <a:buNone/>
              <a:defRPr sz="1800" b="1">
                <a:solidFill>
                  <a:srgbClr val="565D67"/>
                </a:solidFill>
              </a:defRPr>
            </a:pPr>
            <a:r>
              <a:rPr sz="1800" b="1">
                <a:solidFill>
                  <a:srgbClr val="565D67"/>
                </a:solidFill>
              </a:rPr>
              <a:t>M4</a:t>
            </a:r>
          </a:p>
        </p:txBody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69F6CDB9-61AE-4592-9B4F-8780BEA1E32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29350" y="3695700"/>
            <a:ext cx="2095500" cy="361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l">
              <a:buNone/>
              <a:defRPr sz="2250" b="1">
                <a:solidFill>
                  <a:srgbClr val="3D8DFF"/>
                </a:solidFill>
              </a:defRPr>
            </a:pPr>
            <a:r>
              <a:rPr sz="2250" b="1">
                <a:solidFill>
                  <a:srgbClr val="3D8DFF"/>
                </a:solidFill>
              </a:rPr>
              <a:t>Integrate</a:t>
            </a:r>
          </a:p>
        </p:txBody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9DC895ED-F7A9-40E5-B119-5C58BFBAEC0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29350" y="4248150"/>
            <a:ext cx="2143125" cy="9144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l">
              <a:buNone/>
              <a:defRPr sz="1650" b="0">
                <a:solidFill>
                  <a:srgbClr val="111111"/>
                </a:solidFill>
              </a:defRPr>
            </a:pPr>
            <a:r>
              <a:rPr sz="1650" b="0">
                <a:solidFill>
                  <a:srgbClr val="111111"/>
                </a:solidFill>
              </a:rPr>
              <a:t>80k-trained classifier +</a:t>
            </a:r>
          </a:p>
          <a:p xmlns:a="http://schemas.openxmlformats.org/drawingml/2006/main">
            <a:pPr algn="l">
              <a:buNone/>
              <a:defRPr sz="1650" b="0">
                <a:solidFill>
                  <a:srgbClr val="111111"/>
                </a:solidFill>
              </a:defRPr>
            </a:pPr>
            <a:r>
              <a:rPr sz="1650" b="0">
                <a:solidFill>
                  <a:srgbClr val="111111"/>
                </a:solidFill>
              </a:rPr>
              <a:t>retrieval + policy gates</a:t>
            </a:r>
          </a:p>
        </p:txBody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51651A0E-DF8B-4CEE-BF2A-CC45AB25766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943975" y="3143250"/>
            <a:ext cx="190500" cy="19050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D6532F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2B188ADE-DEF8-45EA-94D6-F6083BA5E37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943975" y="2571750"/>
            <a:ext cx="1047750" cy="3429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l">
              <a:buNone/>
              <a:defRPr sz="1800" b="1">
                <a:solidFill>
                  <a:srgbClr val="565D67"/>
                </a:solidFill>
              </a:defRPr>
            </a:pPr>
            <a:r>
              <a:rPr sz="1800" b="1">
                <a:solidFill>
                  <a:srgbClr val="565D67"/>
                </a:solidFill>
              </a:rPr>
              <a:t>M5</a:t>
            </a:r>
          </a:p>
        </p:txBody>
      </p:sp>
      <p:sp>
        <p:nvSpPr>
          <p:cNvPr id="18" name="">
            <a:extLst xmlns:a="http://schemas.openxmlformats.org/drawingml/2006/main">
              <a:ext uri="{FF2B5EF4-FFF2-40B4-BE49-F238E27FC236}">
                <a16:creationId xmlns:a16="http://schemas.microsoft.com/office/drawing/2014/main" id="{396E8FD4-31FF-4286-A671-AB8FCEB8B93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943975" y="3695700"/>
            <a:ext cx="2095500" cy="361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l">
              <a:buNone/>
              <a:defRPr sz="2250" b="1">
                <a:solidFill>
                  <a:srgbClr val="D6532F"/>
                </a:solidFill>
              </a:defRPr>
            </a:pPr>
            <a:r>
              <a:rPr sz="2250" b="1">
                <a:solidFill>
                  <a:srgbClr val="D6532F"/>
                </a:solidFill>
              </a:rPr>
              <a:t>Validate</a:t>
            </a:r>
          </a:p>
        </p:txBody>
      </p:sp>
      <p:sp>
        <p:nvSpPr>
          <p:cNvPr id="19" name="">
            <a:extLst xmlns:a="http://schemas.openxmlformats.org/drawingml/2006/main">
              <a:ext uri="{FF2B5EF4-FFF2-40B4-BE49-F238E27FC236}">
                <a16:creationId xmlns:a16="http://schemas.microsoft.com/office/drawing/2014/main" id="{94B9FDEC-4914-4761-A0D1-0F9C3222C63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943975" y="4248150"/>
            <a:ext cx="2143125" cy="9144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l">
              <a:buNone/>
              <a:defRPr sz="1650" b="0">
                <a:solidFill>
                  <a:srgbClr val="111111"/>
                </a:solidFill>
              </a:defRPr>
            </a:pPr>
            <a:r>
              <a:rPr sz="1650" b="0">
                <a:solidFill>
                  <a:srgbClr val="111111"/>
                </a:solidFill>
              </a:rPr>
              <a:t>Leakage audit, tests,</a:t>
            </a:r>
          </a:p>
          <a:p xmlns:a="http://schemas.openxmlformats.org/drawingml/2006/main">
            <a:pPr algn="l">
              <a:buNone/>
              <a:defRPr sz="1650" b="0">
                <a:solidFill>
                  <a:srgbClr val="111111"/>
                </a:solidFill>
              </a:defRPr>
            </a:pPr>
            <a:r>
              <a:rPr sz="1650" b="0">
                <a:solidFill>
                  <a:srgbClr val="111111"/>
                </a:solidFill>
              </a:rPr>
              <a:t>demo, and governance</a:t>
            </a:r>
          </a:p>
        </p:txBody>
      </p:sp>
    </p:spTree>
    <p:extLst>
      <p:ext uri="{BB962C8B-B14F-4D97-AF65-F5344CB8AC3E}">
        <p14:creationId xmlns:p14="http://schemas.microsoft.com/office/powerpoint/2010/main" val="229760914"/>
      </p:ext>
    </p:extLst>
  </p:cSld>
</p:sld>
</file>

<file path=ppt/slides/slide5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9" name="slide-5-title">
            <a:extLst xmlns:a="http://schemas.openxmlformats.org/drawingml/2006/main">
              <a:ext uri="{FF2B5EF4-FFF2-40B4-BE49-F238E27FC236}">
                <a16:creationId xmlns:a16="http://schemas.microsoft.com/office/drawing/2014/main" id="{7BDCD9AC-0654-48AF-A18E-137F197CC48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00050" y="323850"/>
            <a:ext cx="11096625" cy="685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l">
              <a:buNone/>
              <a:defRPr sz="3600" b="1">
                <a:solidFill>
                  <a:srgbClr val="111111"/>
                </a:solidFill>
              </a:defRPr>
            </a:pPr>
            <a:r>
              <a:rPr sz="3600" b="1">
                <a:solidFill>
                  <a:srgbClr val="111111"/>
                </a:solidFill>
              </a:rPr>
              <a:t>Two input modes prevent a subtle but costly task error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16B82BFC-F131-4499-BD02-EC30CCF08CC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19100" y="1028700"/>
            <a:ext cx="10668000" cy="457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l">
              <a:buNone/>
              <a:defRPr sz="1650" b="0">
                <a:solidFill>
                  <a:srgbClr val="565D67"/>
                </a:solidFill>
              </a:defRPr>
            </a:pPr>
            <a:r>
              <a:rPr sz="1650" b="0">
                <a:solidFill>
                  <a:srgbClr val="565D67"/>
                </a:solidFill>
              </a:rPr>
              <a:t>Search requests retrieve candidates; only job postings receive a role-fit label.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A1527DA8-26D3-4C3C-A53C-7AB7FDC6B61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220450" y="6267450"/>
            <a:ext cx="5715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r">
              <a:buNone/>
              <a:defRPr sz="1200" b="0">
                <a:solidFill>
                  <a:srgbClr val="565D67"/>
                </a:solidFill>
              </a:defRPr>
            </a:pPr>
            <a:r>
              <a:rPr sz="1200" b="0">
                <a:solidFill>
                  <a:srgbClr val="565D67"/>
                </a:solidFill>
              </a:rPr>
              <a:t>5</a:t>
            </a:r>
          </a:p>
        </p:txBody>
      </p:sp>
      <p:cxnSp>
        <p:nvCxnSpPr>
          <p:cNvPr id="46" name=""/>
          <p:cNvCxnSpPr/>
          <p:nvPr/>
        </p:nvCxnSpPr>
        <p:spPr>
          <a:xfrm xmlns:a="http://schemas.openxmlformats.org/drawingml/2006/main">
            <a:off x="2209800" y="3352800"/>
            <a:ext cx="514350" cy="0"/>
          </a:xfrm>
          <a:prstGeom xmlns:a="http://schemas.openxmlformats.org/drawingml/2006/main" prst="straightConnector1">
            <a:avLst/>
          </a:prstGeom>
          <a:ln xmlns:a="http://schemas.openxmlformats.org/drawingml/2006/main" w="28575">
            <a:solidFill>
              <a:srgbClr val="B8BCC4"/>
            </a:solidFill>
            <a:prstDash val="solid"/>
          </a:ln>
        </p:spPr>
      </p:cxnSp>
      <p:cxnSp>
        <p:nvCxnSpPr>
          <p:cNvPr id="47" name=""/>
          <p:cNvCxnSpPr/>
          <p:nvPr/>
        </p:nvCxnSpPr>
        <p:spPr>
          <a:xfrm xmlns:a="http://schemas.openxmlformats.org/drawingml/2006/main">
            <a:off x="4514850" y="3352800"/>
            <a:ext cx="514350" cy="0"/>
          </a:xfrm>
          <a:prstGeom xmlns:a="http://schemas.openxmlformats.org/drawingml/2006/main" prst="straightConnector1">
            <a:avLst/>
          </a:prstGeom>
          <a:ln xmlns:a="http://schemas.openxmlformats.org/drawingml/2006/main" w="28575">
            <a:solidFill>
              <a:srgbClr val="B8BCC4"/>
            </a:solidFill>
            <a:prstDash val="solid"/>
          </a:ln>
        </p:spPr>
      </p:cxnSp>
      <p:cxnSp>
        <p:nvCxnSpPr>
          <p:cNvPr id="48" name=""/>
          <p:cNvCxnSpPr/>
          <p:nvPr/>
        </p:nvCxnSpPr>
        <p:spPr>
          <a:xfrm xmlns:a="http://schemas.openxmlformats.org/drawingml/2006/main">
            <a:off x="6819900" y="3352800"/>
            <a:ext cx="514350" cy="0"/>
          </a:xfrm>
          <a:prstGeom xmlns:a="http://schemas.openxmlformats.org/drawingml/2006/main" prst="straightConnector1">
            <a:avLst/>
          </a:prstGeom>
          <a:ln xmlns:a="http://schemas.openxmlformats.org/drawingml/2006/main" w="28575">
            <a:solidFill>
              <a:srgbClr val="B8BCC4"/>
            </a:solidFill>
            <a:prstDash val="solid"/>
          </a:ln>
        </p:spPr>
      </p:cxnSp>
      <p:cxnSp>
        <p:nvCxnSpPr>
          <p:cNvPr id="49" name=""/>
          <p:cNvCxnSpPr/>
          <p:nvPr/>
        </p:nvCxnSpPr>
        <p:spPr>
          <a:xfrm xmlns:a="http://schemas.openxmlformats.org/drawingml/2006/main">
            <a:off x="9124950" y="3352800"/>
            <a:ext cx="514350" cy="0"/>
          </a:xfrm>
          <a:prstGeom xmlns:a="http://schemas.openxmlformats.org/drawingml/2006/main" prst="straightConnector1">
            <a:avLst/>
          </a:prstGeom>
          <a:ln xmlns:a="http://schemas.openxmlformats.org/drawingml/2006/main" w="28575">
            <a:solidFill>
              <a:srgbClr val="B8BCC4"/>
            </a:solidFill>
            <a:prstDash val="solid"/>
          </a:ln>
        </p:spPr>
      </p:cxn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0E211E3F-1A38-4C21-8766-B7F33FBD70C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19100" y="2495550"/>
            <a:ext cx="1790700" cy="21907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DEDED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1A095F7C-40B5-4716-905B-EDD3FAF450D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2724150"/>
            <a:ext cx="381000" cy="361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l">
              <a:buNone/>
              <a:defRPr sz="1950" b="1">
                <a:solidFill>
                  <a:srgbClr val="3D8DFF"/>
                </a:solidFill>
              </a:defRPr>
            </a:pPr>
            <a:r>
              <a:rPr sz="1950" b="1">
                <a:solidFill>
                  <a:srgbClr val="3D8DFF"/>
                </a:solidFill>
              </a:rPr>
              <a:t>1</a:t>
            </a:r>
          </a:p>
        </p:txBody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D24B1936-0FF6-4E7E-80BB-5414E108244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3257550"/>
            <a:ext cx="142875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l">
              <a:buNone/>
              <a:defRPr sz="1800" b="1">
                <a:solidFill>
                  <a:srgbClr val="111111"/>
                </a:solidFill>
              </a:defRPr>
            </a:pPr>
            <a:r>
              <a:rPr sz="1800" b="1">
                <a:solidFill>
                  <a:srgbClr val="111111"/>
                </a:solidFill>
              </a:rPr>
              <a:t>ROUTE</a:t>
            </a:r>
          </a:p>
        </p:txBody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F03E92C2-5EAB-4709-9406-919062455DB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3848100"/>
            <a:ext cx="1409700" cy="666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l">
              <a:buNone/>
              <a:defRPr sz="1500" b="0">
                <a:solidFill>
                  <a:srgbClr val="565D67"/>
                </a:solidFill>
              </a:defRPr>
            </a:pPr>
            <a:r>
              <a:rPr sz="1500" b="0">
                <a:solidFill>
                  <a:srgbClr val="565D67"/>
                </a:solidFill>
              </a:rPr>
              <a:t>Search request or job posting</a:t>
            </a:r>
          </a:p>
        </p:txBody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87CDE901-75A4-4DF4-BDD7-19D510B959A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724150" y="2495550"/>
            <a:ext cx="1790700" cy="21907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DEDED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1F9EE88A-283D-49D7-A23F-C0053D7EA4B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914650" y="2724150"/>
            <a:ext cx="381000" cy="361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l">
              <a:buNone/>
              <a:defRPr sz="1950" b="1">
                <a:solidFill>
                  <a:srgbClr val="3D8DFF"/>
                </a:solidFill>
              </a:defRPr>
            </a:pPr>
            <a:r>
              <a:rPr sz="1950" b="1">
                <a:solidFill>
                  <a:srgbClr val="3D8DFF"/>
                </a:solidFill>
              </a:rPr>
              <a:t>2</a:t>
            </a:r>
          </a:p>
        </p:txBody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96F040D8-4A70-47AA-8703-1A38252C2DD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914650" y="3257550"/>
            <a:ext cx="142875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l">
              <a:buNone/>
              <a:defRPr sz="1800" b="1">
                <a:solidFill>
                  <a:srgbClr val="111111"/>
                </a:solidFill>
              </a:defRPr>
            </a:pPr>
            <a:r>
              <a:rPr sz="1800" b="1">
                <a:solidFill>
                  <a:srgbClr val="111111"/>
                </a:solidFill>
              </a:rPr>
              <a:t>RETRIEVE</a:t>
            </a:r>
          </a:p>
        </p:txBody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3E082DDF-13A3-4826-9EBC-ABCE5875285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914650" y="3848100"/>
            <a:ext cx="1409700" cy="666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l">
              <a:buNone/>
              <a:defRPr sz="1500" b="0">
                <a:solidFill>
                  <a:srgbClr val="565D67"/>
                </a:solidFill>
              </a:defRPr>
            </a:pPr>
            <a:r>
              <a:rPr sz="1500" b="0">
                <a:solidFill>
                  <a:srgbClr val="565D67"/>
                </a:solidFill>
              </a:rPr>
              <a:t>80k index + hard constraints + dedupe</a:t>
            </a:r>
          </a:p>
        </p:txBody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F602D639-6A1D-49D5-82C0-B5A20DFC5ED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029200" y="2495550"/>
            <a:ext cx="1790700" cy="21907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DEDED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244C8185-A6F2-4DFA-AD53-2371EA73DDE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219700" y="2724150"/>
            <a:ext cx="381000" cy="361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l">
              <a:buNone/>
              <a:defRPr sz="1950" b="1">
                <a:solidFill>
                  <a:srgbClr val="3D8DFF"/>
                </a:solidFill>
              </a:defRPr>
            </a:pPr>
            <a:r>
              <a:rPr sz="1950" b="1">
                <a:solidFill>
                  <a:srgbClr val="3D8DFF"/>
                </a:solidFill>
              </a:rPr>
              <a:t>3</a:t>
            </a:r>
          </a:p>
        </p:txBody>
      </p:sp>
      <p:sp>
        <p:nvSpPr>
          <p:cNvPr id="18" name="">
            <a:extLst xmlns:a="http://schemas.openxmlformats.org/drawingml/2006/main">
              <a:ext uri="{FF2B5EF4-FFF2-40B4-BE49-F238E27FC236}">
                <a16:creationId xmlns:a16="http://schemas.microsoft.com/office/drawing/2014/main" id="{48118892-E205-44C0-84B1-0C43B8442E6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219700" y="3257550"/>
            <a:ext cx="142875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l">
              <a:buNone/>
              <a:defRPr sz="1800" b="1">
                <a:solidFill>
                  <a:srgbClr val="111111"/>
                </a:solidFill>
              </a:defRPr>
            </a:pPr>
            <a:r>
              <a:rPr sz="1800" b="1">
                <a:solidFill>
                  <a:srgbClr val="111111"/>
                </a:solidFill>
              </a:rPr>
              <a:t>CLASSIFY</a:t>
            </a:r>
          </a:p>
        </p:txBody>
      </p:sp>
      <p:sp>
        <p:nvSpPr>
          <p:cNvPr id="19" name="">
            <a:extLst xmlns:a="http://schemas.openxmlformats.org/drawingml/2006/main">
              <a:ext uri="{FF2B5EF4-FFF2-40B4-BE49-F238E27FC236}">
                <a16:creationId xmlns:a16="http://schemas.microsoft.com/office/drawing/2014/main" id="{5FD7A11C-9D81-4035-BF1A-51549023BB8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219700" y="3848100"/>
            <a:ext cx="1409700" cy="666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l">
              <a:buNone/>
              <a:defRPr sz="1500" b="0">
                <a:solidFill>
                  <a:srgbClr val="565D67"/>
                </a:solidFill>
              </a:defRPr>
            </a:pPr>
            <a:r>
              <a:rPr sz="1500" b="0">
                <a:solidFill>
                  <a:srgbClr val="565D67"/>
                </a:solidFill>
              </a:rPr>
              <a:t>77,135-row TF-IDF SVM</a:t>
            </a:r>
          </a:p>
        </p:txBody>
      </p:sp>
      <p:sp>
        <p:nvSpPr>
          <p:cNvPr id="20" name="">
            <a:extLst xmlns:a="http://schemas.openxmlformats.org/drawingml/2006/main">
              <a:ext uri="{FF2B5EF4-FFF2-40B4-BE49-F238E27FC236}">
                <a16:creationId xmlns:a16="http://schemas.microsoft.com/office/drawing/2014/main" id="{A2ECC7A9-7C59-4B33-95B4-8B0A3B0B167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334250" y="2495550"/>
            <a:ext cx="1790700" cy="21907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DEDED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21" name="">
            <a:extLst xmlns:a="http://schemas.openxmlformats.org/drawingml/2006/main">
              <a:ext uri="{FF2B5EF4-FFF2-40B4-BE49-F238E27FC236}">
                <a16:creationId xmlns:a16="http://schemas.microsoft.com/office/drawing/2014/main" id="{B02AA8AB-1D69-448C-BC07-BF8CAFD65B8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524750" y="2724150"/>
            <a:ext cx="381000" cy="361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l">
              <a:buNone/>
              <a:defRPr sz="1950" b="1">
                <a:solidFill>
                  <a:srgbClr val="3D8DFF"/>
                </a:solidFill>
              </a:defRPr>
            </a:pPr>
            <a:r>
              <a:rPr sz="1950" b="1">
                <a:solidFill>
                  <a:srgbClr val="3D8DFF"/>
                </a:solidFill>
              </a:rPr>
              <a:t>4</a:t>
            </a:r>
          </a:p>
        </p:txBody>
      </p:sp>
      <p:sp>
        <p:nvSpPr>
          <p:cNvPr id="22" name="">
            <a:extLst xmlns:a="http://schemas.openxmlformats.org/drawingml/2006/main">
              <a:ext uri="{FF2B5EF4-FFF2-40B4-BE49-F238E27FC236}">
                <a16:creationId xmlns:a16="http://schemas.microsoft.com/office/drawing/2014/main" id="{EDBBE4BD-CFD1-4192-B390-558953C3FBD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524750" y="3257550"/>
            <a:ext cx="142875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l">
              <a:buNone/>
              <a:defRPr sz="1800" b="1">
                <a:solidFill>
                  <a:srgbClr val="111111"/>
                </a:solidFill>
              </a:defRPr>
            </a:pPr>
            <a:r>
              <a:rPr sz="1800" b="1">
                <a:solidFill>
                  <a:srgbClr val="111111"/>
                </a:solidFill>
              </a:rPr>
              <a:t>GOVERN</a:t>
            </a:r>
          </a:p>
        </p:txBody>
      </p:sp>
      <p:sp>
        <p:nvSpPr>
          <p:cNvPr id="23" name="">
            <a:extLst xmlns:a="http://schemas.openxmlformats.org/drawingml/2006/main">
              <a:ext uri="{FF2B5EF4-FFF2-40B4-BE49-F238E27FC236}">
                <a16:creationId xmlns:a16="http://schemas.microsoft.com/office/drawing/2014/main" id="{959F7AB1-0015-4B4B-8CC3-E38451A67D2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524750" y="3848100"/>
            <a:ext cx="1409700" cy="666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l">
              <a:buNone/>
              <a:defRPr sz="1500" b="0">
                <a:solidFill>
                  <a:srgbClr val="565D67"/>
                </a:solidFill>
              </a:defRPr>
            </a:pPr>
            <a:r>
              <a:rPr sz="1500" b="0">
                <a:solidFill>
                  <a:srgbClr val="565D67"/>
                </a:solidFill>
              </a:rPr>
              <a:t>Calibrated margin + policy gates</a:t>
            </a:r>
          </a:p>
        </p:txBody>
      </p:sp>
      <p:sp>
        <p:nvSpPr>
          <p:cNvPr id="24" name="">
            <a:extLst xmlns:a="http://schemas.openxmlformats.org/drawingml/2006/main">
              <a:ext uri="{FF2B5EF4-FFF2-40B4-BE49-F238E27FC236}">
                <a16:creationId xmlns:a16="http://schemas.microsoft.com/office/drawing/2014/main" id="{BD28FDE5-8C58-446B-AAA4-D8533A9F88D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639300" y="2495550"/>
            <a:ext cx="1790700" cy="21907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9F1FC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25" name="">
            <a:extLst xmlns:a="http://schemas.openxmlformats.org/drawingml/2006/main">
              <a:ext uri="{FF2B5EF4-FFF2-40B4-BE49-F238E27FC236}">
                <a16:creationId xmlns:a16="http://schemas.microsoft.com/office/drawing/2014/main" id="{BAFD98C1-804F-452F-961A-0A43DC10B5B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829800" y="2724150"/>
            <a:ext cx="381000" cy="361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l">
              <a:buNone/>
              <a:defRPr sz="1950" b="1">
                <a:solidFill>
                  <a:srgbClr val="D6532F"/>
                </a:solidFill>
              </a:defRPr>
            </a:pPr>
            <a:r>
              <a:rPr sz="1950" b="1">
                <a:solidFill>
                  <a:srgbClr val="D6532F"/>
                </a:solidFill>
              </a:rPr>
              <a:t>5</a:t>
            </a:r>
          </a:p>
        </p:txBody>
      </p:sp>
      <p:sp>
        <p:nvSpPr>
          <p:cNvPr id="26" name="">
            <a:extLst xmlns:a="http://schemas.openxmlformats.org/drawingml/2006/main">
              <a:ext uri="{FF2B5EF4-FFF2-40B4-BE49-F238E27FC236}">
                <a16:creationId xmlns:a16="http://schemas.microsoft.com/office/drawing/2014/main" id="{D5846E8A-35FA-4FCA-B21D-18ACD0F58A9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829800" y="3257550"/>
            <a:ext cx="142875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l">
              <a:buNone/>
              <a:defRPr sz="1800" b="1">
                <a:solidFill>
                  <a:srgbClr val="111111"/>
                </a:solidFill>
              </a:defRPr>
            </a:pPr>
            <a:r>
              <a:rPr sz="1800" b="1">
                <a:solidFill>
                  <a:srgbClr val="111111"/>
                </a:solidFill>
              </a:rPr>
              <a:t>REVIEW</a:t>
            </a:r>
          </a:p>
        </p:txBody>
      </p:sp>
      <p:sp>
        <p:nvSpPr>
          <p:cNvPr id="27" name="">
            <a:extLst xmlns:a="http://schemas.openxmlformats.org/drawingml/2006/main">
              <a:ext uri="{FF2B5EF4-FFF2-40B4-BE49-F238E27FC236}">
                <a16:creationId xmlns:a16="http://schemas.microsoft.com/office/drawing/2014/main" id="{39C3C51F-1AA1-407E-81FE-82CFEA80B27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829800" y="3848100"/>
            <a:ext cx="1409700" cy="666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l">
              <a:buNone/>
              <a:defRPr sz="1500" b="0">
                <a:solidFill>
                  <a:srgbClr val="565D67"/>
                </a:solidFill>
              </a:defRPr>
            </a:pPr>
            <a:r>
              <a:rPr sz="1500" b="0">
                <a:solidFill>
                  <a:srgbClr val="565D67"/>
                </a:solidFill>
              </a:rPr>
              <a:t>Cited evidence and final action</a:t>
            </a:r>
          </a:p>
        </p:txBody>
      </p:sp>
      <p:sp>
        <p:nvSpPr>
          <p:cNvPr id="28" name="">
            <a:extLst xmlns:a="http://schemas.openxmlformats.org/drawingml/2006/main">
              <a:ext uri="{FF2B5EF4-FFF2-40B4-BE49-F238E27FC236}">
                <a16:creationId xmlns:a16="http://schemas.microsoft.com/office/drawing/2014/main" id="{6DEE05E7-86B1-4FEA-81AC-38CFDE1B61A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19100" y="5391150"/>
            <a:ext cx="10477500" cy="457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l">
              <a:buNone/>
              <a:defRPr sz="2175" b="1">
                <a:solidFill>
                  <a:srgbClr val="111111"/>
                </a:solidFill>
              </a:defRPr>
            </a:pPr>
            <a:r>
              <a:rPr sz="2175" b="1">
                <a:solidFill>
                  <a:srgbClr val="111111"/>
                </a:solidFill>
              </a:rPr>
              <a:t>A high role-fit score can never override an explicit authorization restriction.</a:t>
            </a:r>
          </a:p>
        </p:txBody>
      </p:sp>
    </p:spTree>
    <p:extLst>
      <p:ext uri="{BB962C8B-B14F-4D97-AF65-F5344CB8AC3E}">
        <p14:creationId xmlns:p14="http://schemas.microsoft.com/office/powerpoint/2010/main" val="559651574"/>
      </p:ext>
    </p:extLst>
  </p:cSld>
</p:sld>
</file>

<file path=ppt/slides/slide6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48" name="slide-6-title">
            <a:extLst xmlns:a="http://schemas.openxmlformats.org/drawingml/2006/main">
              <a:ext uri="{FF2B5EF4-FFF2-40B4-BE49-F238E27FC236}">
                <a16:creationId xmlns:a16="http://schemas.microsoft.com/office/drawing/2014/main" id="{B3D057C0-E5C8-4143-80E4-D3322F99213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95300" y="428625"/>
            <a:ext cx="11049000" cy="552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l">
              <a:buNone/>
              <a:defRPr sz="3600" b="1">
                <a:solidFill>
                  <a:srgbClr val="111111"/>
                </a:solidFill>
              </a:defRPr>
            </a:pPr>
            <a:r>
              <a:rPr sz="3600" b="1">
                <a:solidFill>
                  <a:srgbClr val="111111"/>
                </a:solidFill>
              </a:rPr>
              <a:t>A real search returns constrained, inspectable evidence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692830A5-FB33-49E3-B120-CF83E7BEF76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4350" y="6115050"/>
            <a:ext cx="1028700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l">
              <a:buNone/>
              <a:defRPr sz="1350" b="1">
                <a:solidFill>
                  <a:srgbClr val="111111"/>
                </a:solidFill>
              </a:defRPr>
            </a:pPr>
            <a:r>
              <a:rPr sz="1350" b="1">
                <a:solidFill>
                  <a:srgbClr val="111111"/>
                </a:solidFill>
              </a:rPr>
              <a:t>6 audit queries -&gt; 36 results -&gt; 0 hard-constraint violations -&gt; 0 duplicate company-title pairs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A4EACDB0-F718-47DC-BB30-B49651E78D5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220450" y="6267450"/>
            <a:ext cx="5715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r">
              <a:buNone/>
              <a:defRPr sz="1200" b="0">
                <a:solidFill>
                  <a:srgbClr val="565D67"/>
                </a:solidFill>
              </a:defRPr>
            </a:pPr>
            <a:r>
              <a:rPr sz="1200" b="0">
                <a:solidFill>
                  <a:srgbClr val="565D67"/>
                </a:solidFill>
              </a:rPr>
              <a:t>6</a:t>
            </a:r>
          </a:p>
        </p:txBody>
      </p:sp>
      <p:pic>
        <p:nvPicPr>
          <p:cNvPr id="53" name="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a8eb26cb17de460d"/>
          <a:srcRect xmlns:a="http://schemas.openxmlformats.org/drawingml/2006/main" l="0" t="13772" r="0" b="13772"/>
          <a:stretch xmlns:a="http://schemas.openxmlformats.org/drawingml/2006/main">
            <a:fillRect l="0" t="0" r="0" b="0"/>
          </a:stretch>
        </p:blipFill>
        <p:spPr>
          <a:xfrm xmlns:a="http://schemas.openxmlformats.org/drawingml/2006/main">
            <a:off x="419100" y="1285875"/>
            <a:ext cx="11334750" cy="4619625"/>
          </a:xfrm>
          <a:prstGeom xmlns:a="http://schemas.openxmlformats.org/drawingml/2006/main" prst="roundRect">
            <a:avLst>
              <a:gd name="adj" fmla="val 1649"/>
            </a:avLst>
          </a:prstGeom>
        </p:spPr>
      </p:pic>
    </p:spTree>
    <p:extLst>
      <p:ext uri="{BB962C8B-B14F-4D97-AF65-F5344CB8AC3E}">
        <p14:creationId xmlns:p14="http://schemas.microsoft.com/office/powerpoint/2010/main" val="313829244"/>
      </p:ext>
    </p:extLst>
  </p:cSld>
</p:sld>
</file>

<file path=ppt/slides/slide7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9" name="slide-7-title">
            <a:extLst xmlns:a="http://schemas.openxmlformats.org/drawingml/2006/main">
              <a:ext uri="{FF2B5EF4-FFF2-40B4-BE49-F238E27FC236}">
                <a16:creationId xmlns:a16="http://schemas.microsoft.com/office/drawing/2014/main" id="{A30E531F-F656-48C6-A370-12CAE470878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95300" y="428625"/>
            <a:ext cx="11049000" cy="552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l">
              <a:buNone/>
              <a:defRPr sz="3600" b="1">
                <a:solidFill>
                  <a:srgbClr val="111111"/>
                </a:solidFill>
              </a:defRPr>
            </a:pPr>
            <a:r>
              <a:rPr sz="3600" b="1">
                <a:solidFill>
                  <a:srgbClr val="111111"/>
                </a:solidFill>
              </a:rPr>
              <a:t>High role fit never overrides an explicit restriction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3BA565D8-B881-400C-B640-273C237AD36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220450" y="6267450"/>
            <a:ext cx="5715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r">
              <a:buNone/>
              <a:defRPr sz="1200" b="0">
                <a:solidFill>
                  <a:srgbClr val="565D67"/>
                </a:solidFill>
              </a:defRPr>
            </a:pPr>
            <a:r>
              <a:rPr sz="1200" b="0">
                <a:solidFill>
                  <a:srgbClr val="565D67"/>
                </a:solidFill>
              </a:rPr>
              <a:t>7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82285E05-5D02-43F5-BAA1-BA3237D03B5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4350" y="6115050"/>
            <a:ext cx="10477500" cy="3429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l">
              <a:buNone/>
              <a:defRPr sz="1650" b="1">
                <a:solidFill>
                  <a:srgbClr val="111111"/>
                </a:solidFill>
              </a:defRPr>
            </a:pPr>
            <a:r>
              <a:rPr sz="1650" b="1">
                <a:solidFill>
                  <a:srgbClr val="111111"/>
                </a:solidFill>
              </a:rPr>
              <a:t>No OPT/CPT -&gt; HOLD. Missing core fields -&gt; UNCLEAR + REVIEW.</a:t>
            </a:r>
          </a:p>
        </p:txBody>
      </p:sp>
      <p:pic>
        <p:nvPicPr>
          <p:cNvPr id="24" name="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1b0bc76286884537"/>
          <a:srcRect xmlns:a="http://schemas.openxmlformats.org/drawingml/2006/main" l="0" t="13833" r="0" b="13833"/>
          <a:stretch xmlns:a="http://schemas.openxmlformats.org/drawingml/2006/main">
            <a:fillRect l="0" t="0" r="0" b="0"/>
          </a:stretch>
        </p:blipFill>
        <p:spPr>
          <a:xfrm xmlns:a="http://schemas.openxmlformats.org/drawingml/2006/main">
            <a:off x="419100" y="1285875"/>
            <a:ext cx="11353800" cy="4619625"/>
          </a:xfrm>
          <a:prstGeom xmlns:a="http://schemas.openxmlformats.org/drawingml/2006/main" prst="roundRect">
            <a:avLst>
              <a:gd name="adj" fmla="val 1649"/>
            </a:avLst>
          </a:prstGeom>
        </p:spPr>
      </p:pic>
    </p:spTree>
    <p:extLst>
      <p:ext uri="{BB962C8B-B14F-4D97-AF65-F5344CB8AC3E}">
        <p14:creationId xmlns:p14="http://schemas.microsoft.com/office/powerpoint/2010/main" val="1902305412"/>
      </p:ext>
    </p:extLst>
  </p:cSld>
</p:sld>
</file>

<file path=ppt/slides/slide8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4" name="slide-8-title">
            <a:extLst xmlns:a="http://schemas.openxmlformats.org/drawingml/2006/main">
              <a:ext uri="{FF2B5EF4-FFF2-40B4-BE49-F238E27FC236}">
                <a16:creationId xmlns:a16="http://schemas.microsoft.com/office/drawing/2014/main" id="{9A0913A7-11AA-47AB-9883-AB210CE07FC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00050" y="323850"/>
            <a:ext cx="11096625" cy="685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l">
              <a:buNone/>
              <a:defRPr sz="3600" b="1">
                <a:solidFill>
                  <a:srgbClr val="111111"/>
                </a:solidFill>
              </a:defRPr>
            </a:pPr>
            <a:r>
              <a:rPr sz="3600" b="1">
                <a:solidFill>
                  <a:srgbClr val="111111"/>
                </a:solidFill>
              </a:rPr>
              <a:t>More data worked; extra complexity did not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06A0C868-A707-4DED-B903-2B564C8A458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220450" y="6267450"/>
            <a:ext cx="5715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r">
              <a:buNone/>
              <a:defRPr sz="1200" b="0">
                <a:solidFill>
                  <a:srgbClr val="565D67"/>
                </a:solidFill>
              </a:defRPr>
            </a:pPr>
            <a:r>
              <a:rPr sz="1200" b="0">
                <a:solidFill>
                  <a:srgbClr val="565D67"/>
                </a:solidFill>
              </a:rPr>
              <a:t>8</a:t>
            </a:r>
          </a:p>
        </p:txBody>
      </p:sp>
      <p:graphicFrame>
        <p:nvGraphicFramePr>
          <p:cNvPr id="18" name="Chart"/>
          <p:cNvGraphicFramePr/>
          <p:nvPr/>
        </p:nvGraphicFramePr>
        <p:xfrm>
          <a:off xmlns:a="http://schemas.openxmlformats.org/drawingml/2006/main" x="419100" y="1409700"/>
          <a:ext xmlns:a="http://schemas.openxmlformats.org/drawingml/2006/main" cx="6191250" cy="4572000"/>
        </p:xfrm>
        <a:graphic xmlns:a="http://schemas.openxmlformats.org/drawingml/2006/main">
          <a:graphicData uri="http://schemas.openxmlformats.org/drawingml/2006/chart">
            <c:chart xmlns:r="http://schemas.openxmlformats.org/officeDocument/2006/relationships" xmlns:c="http://schemas.openxmlformats.org/drawingml/2006/chart" r:id="R1f413d81d2344820"/>
          </a:graphicData>
        </a:graphic>
      </p:graphicFrame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0F8A6816-04DC-48C5-8699-C6CA7C66942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124700" y="1466850"/>
            <a:ext cx="4286250" cy="11811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DEDED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8E62EF8B-AB82-4D35-AAFD-B011CC5A1E2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410450" y="1638300"/>
            <a:ext cx="1428750" cy="5334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l">
              <a:buNone/>
              <a:defRPr sz="3150" b="1">
                <a:solidFill>
                  <a:srgbClr val="3D8DFF"/>
                </a:solidFill>
              </a:defRPr>
            </a:pPr>
            <a:r>
              <a:rPr sz="3150" b="1">
                <a:solidFill>
                  <a:srgbClr val="3D8DFF"/>
                </a:solidFill>
              </a:rPr>
              <a:t>98.4%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A3F91A6A-956D-4B62-96FA-EB77EDC8F82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858250" y="1733550"/>
            <a:ext cx="2190750" cy="571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l">
              <a:buNone/>
              <a:defRPr sz="1650" b="0">
                <a:solidFill>
                  <a:srgbClr val="111111"/>
                </a:solidFill>
              </a:defRPr>
            </a:pPr>
            <a:r>
              <a:rPr sz="1650" b="0">
                <a:solidFill>
                  <a:srgbClr val="111111"/>
                </a:solidFill>
              </a:rPr>
              <a:t>fixed-set macro F1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32AF54C9-42DB-48A9-867F-DDE1457F4C9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124700" y="2952750"/>
            <a:ext cx="4286250" cy="11811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DEDED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C117416A-0C43-4F2D-80CC-BEB8CC232FB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410450" y="3124200"/>
            <a:ext cx="1428750" cy="5334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l">
              <a:buNone/>
              <a:defRPr sz="3150" b="1">
                <a:solidFill>
                  <a:srgbClr val="3D8DFF"/>
                </a:solidFill>
              </a:defRPr>
            </a:pPr>
            <a:r>
              <a:rPr sz="3150" b="1">
                <a:solidFill>
                  <a:srgbClr val="3D8DFF"/>
                </a:solidFill>
              </a:rPr>
              <a:t>97.9%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FF2CB1DC-C412-4348-91CF-173D9971193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858250" y="3219450"/>
            <a:ext cx="2190750" cy="571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l">
              <a:buNone/>
              <a:defRPr sz="1650" b="0">
                <a:solidFill>
                  <a:srgbClr val="111111"/>
                </a:solidFill>
              </a:defRPr>
            </a:pPr>
            <a:r>
              <a:rPr sz="1650" b="0">
                <a:solidFill>
                  <a:srgbClr val="111111"/>
                </a:solidFill>
              </a:rPr>
              <a:t>novel-text macro F1</a:t>
            </a:r>
          </a:p>
        </p:txBody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B0E501EC-9F16-46BE-9E14-9A97DD47521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124700" y="4438650"/>
            <a:ext cx="4286250" cy="11811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9F1FC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D964B965-1FD2-4019-98EB-37CAD706EC3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410450" y="4610100"/>
            <a:ext cx="1428750" cy="5334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l">
              <a:buNone/>
              <a:defRPr sz="3150" b="1">
                <a:solidFill>
                  <a:srgbClr val="D6532F"/>
                </a:solidFill>
              </a:defRPr>
            </a:pPr>
            <a:r>
              <a:rPr sz="3150" b="1">
                <a:solidFill>
                  <a:srgbClr val="D6532F"/>
                </a:solidFill>
              </a:rPr>
              <a:t>0</a:t>
            </a:r>
          </a:p>
        </p:txBody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6C400290-157E-457C-8D8F-53523C66A5D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858250" y="4705350"/>
            <a:ext cx="2190750" cy="571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l">
              <a:buNone/>
              <a:defRPr sz="1650" b="0">
                <a:solidFill>
                  <a:srgbClr val="111111"/>
                </a:solidFill>
              </a:defRPr>
            </a:pPr>
            <a:r>
              <a:rPr sz="1650" b="0">
                <a:solidFill>
                  <a:srgbClr val="111111"/>
                </a:solidFill>
              </a:rPr>
              <a:t>unsupported authorization claims</a:t>
            </a:r>
          </a:p>
        </p:txBody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2C4BC77B-CA7A-4A6C-9A78-8CE740DCF5A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124700" y="5753100"/>
            <a:ext cx="4095750" cy="4191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l">
              <a:buNone/>
              <a:defRPr sz="1500" b="1">
                <a:solidFill>
                  <a:srgbClr val="111111"/>
                </a:solidFill>
              </a:defRPr>
            </a:pPr>
            <a:r>
              <a:rPr sz="1500" b="1">
                <a:solidFill>
                  <a:srgbClr val="111111"/>
                </a:solidFill>
              </a:rPr>
              <a:t>The final 3.8 MB model trains in under one minute.</a:t>
            </a:r>
          </a:p>
        </p:txBody>
      </p:sp>
    </p:spTree>
    <p:extLst>
      <p:ext uri="{BB962C8B-B14F-4D97-AF65-F5344CB8AC3E}">
        <p14:creationId xmlns:p14="http://schemas.microsoft.com/office/powerpoint/2010/main" val="2024225077"/>
      </p:ext>
    </p:extLst>
  </p:cSld>
</p:sld>
</file>

<file path=ppt/slides/slide9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0" name="slide-9-title">
            <a:extLst xmlns:a="http://schemas.openxmlformats.org/drawingml/2006/main">
              <a:ext uri="{FF2B5EF4-FFF2-40B4-BE49-F238E27FC236}">
                <a16:creationId xmlns:a16="http://schemas.microsoft.com/office/drawing/2014/main" id="{D60D6427-115B-4344-B2A2-C6C450CCB9A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00050" y="323850"/>
            <a:ext cx="11096625" cy="685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l">
              <a:buNone/>
              <a:defRPr sz="3600" b="1">
                <a:solidFill>
                  <a:srgbClr val="111111"/>
                </a:solidFill>
              </a:defRPr>
            </a:pPr>
            <a:r>
              <a:rPr sz="3600" b="1">
                <a:solidFill>
                  <a:srgbClr val="111111"/>
                </a:solidFill>
              </a:rPr>
              <a:t>The remaining risk is label validity, not model capacity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ABAFACF2-54C9-4459-B4CF-127D6E71AD5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220450" y="6267450"/>
            <a:ext cx="5715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r">
              <a:buNone/>
              <a:defRPr sz="1200" b="0">
                <a:solidFill>
                  <a:srgbClr val="565D67"/>
                </a:solidFill>
              </a:defRPr>
            </a:pPr>
            <a:r>
              <a:rPr sz="1200" b="0">
                <a:solidFill>
                  <a:srgbClr val="565D67"/>
                </a:solidFill>
              </a:rPr>
              <a:t>9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700FDB19-7502-427C-B062-63F8BEAAAF6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19100" y="1524000"/>
            <a:ext cx="4953000" cy="304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l">
              <a:buNone/>
              <a:defRPr sz="1650" b="1">
                <a:solidFill>
                  <a:srgbClr val="3D8DFF"/>
                </a:solidFill>
              </a:defRPr>
            </a:pPr>
            <a:r>
              <a:rPr sz="1650" b="1">
                <a:solidFill>
                  <a:srgbClr val="3D8DFF"/>
                </a:solidFill>
              </a:rPr>
              <a:t>FIXED 4K ERRORS BY TRUE LABEL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2A6178DF-486A-4B40-8D17-1062CE4D02F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19100" y="2000250"/>
            <a:ext cx="247650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l">
              <a:buNone/>
              <a:defRPr sz="1650" b="0">
                <a:solidFill>
                  <a:srgbClr val="111111"/>
                </a:solidFill>
              </a:defRPr>
            </a:pPr>
            <a:r>
              <a:rPr sz="1650" b="0">
                <a:solidFill>
                  <a:srgbClr val="111111"/>
                </a:solidFill>
              </a:rPr>
              <a:t>high_fit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64954410-458C-4BFC-98D4-4033B65167A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952750" y="2019300"/>
            <a:ext cx="177165" cy="2667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3D8DFF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AC64A0D7-FE65-467E-A211-B67E01DCB9A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0" y="2000250"/>
            <a:ext cx="76200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r">
              <a:buNone/>
              <a:defRPr sz="1650" b="1">
                <a:solidFill>
                  <a:srgbClr val="111111"/>
                </a:solidFill>
              </a:defRPr>
            </a:pPr>
            <a:r>
              <a:rPr sz="1650" b="1">
                <a:solidFill>
                  <a:srgbClr val="111111"/>
                </a:solidFill>
              </a:rPr>
              <a:t>3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DA29336A-6622-4068-9101-365026425D9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19100" y="2743200"/>
            <a:ext cx="247650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l">
              <a:buNone/>
              <a:defRPr sz="1650" b="0">
                <a:solidFill>
                  <a:srgbClr val="111111"/>
                </a:solidFill>
              </a:defRPr>
            </a:pPr>
            <a:r>
              <a:rPr sz="1650" b="0">
                <a:solidFill>
                  <a:srgbClr val="111111"/>
                </a:solidFill>
              </a:rPr>
              <a:t>medium_fit</a:t>
            </a:r>
          </a:p>
        </p:txBody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D4BE6F80-4593-44FD-A7FC-513195F413B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952750" y="2762250"/>
            <a:ext cx="767715" cy="2667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3D8DFF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4971DB63-CF55-4524-8C62-7F629493503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0" y="2743200"/>
            <a:ext cx="76200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r">
              <a:buNone/>
              <a:defRPr sz="1650" b="1">
                <a:solidFill>
                  <a:srgbClr val="111111"/>
                </a:solidFill>
              </a:defRPr>
            </a:pPr>
            <a:r>
              <a:rPr sz="1650" b="1">
                <a:solidFill>
                  <a:srgbClr val="111111"/>
                </a:solidFill>
              </a:rPr>
              <a:t>13</a:t>
            </a:r>
          </a:p>
        </p:txBody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993F8AE9-7ED8-41BD-937F-0227A1F9878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19100" y="3486150"/>
            <a:ext cx="247650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l">
              <a:buNone/>
              <a:defRPr sz="1650" b="0">
                <a:solidFill>
                  <a:srgbClr val="111111"/>
                </a:solidFill>
              </a:defRPr>
            </a:pPr>
            <a:r>
              <a:rPr sz="1650" b="0">
                <a:solidFill>
                  <a:srgbClr val="111111"/>
                </a:solidFill>
              </a:rPr>
              <a:t>low_fit</a:t>
            </a:r>
          </a:p>
        </p:txBody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59DFD881-4833-4C2D-A20F-B711E493377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952750" y="3505200"/>
            <a:ext cx="472440" cy="2667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3D8DFF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11B64816-F235-4D0D-B09C-8F9D5B41DED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0" y="3486150"/>
            <a:ext cx="76200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r">
              <a:buNone/>
              <a:defRPr sz="1650" b="1">
                <a:solidFill>
                  <a:srgbClr val="111111"/>
                </a:solidFill>
              </a:defRPr>
            </a:pPr>
            <a:r>
              <a:rPr sz="1650" b="1">
                <a:solidFill>
                  <a:srgbClr val="111111"/>
                </a:solidFill>
              </a:rPr>
              <a:t>8</a:t>
            </a:r>
          </a:p>
        </p:txBody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87B4240E-F4C7-4B3F-8BB1-FBE6CD3CBF7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19100" y="4229100"/>
            <a:ext cx="247650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l">
              <a:buNone/>
              <a:defRPr sz="1500" b="0">
                <a:solidFill>
                  <a:srgbClr val="111111"/>
                </a:solidFill>
              </a:defRPr>
            </a:pPr>
            <a:r>
              <a:rPr sz="1500" b="0">
                <a:solidFill>
                  <a:srgbClr val="111111"/>
                </a:solidFill>
              </a:rPr>
              <a:t>unclear</a:t>
            </a:r>
          </a:p>
        </p:txBody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D04AB4E6-2117-476D-90A0-EBFA288D869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952750" y="4248150"/>
            <a:ext cx="2421255" cy="2667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6532F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4BA2B1C9-4CB5-48E0-B174-94D51B7709E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0" y="4229100"/>
            <a:ext cx="76200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r">
              <a:buNone/>
              <a:defRPr sz="1650" b="1">
                <a:solidFill>
                  <a:srgbClr val="111111"/>
                </a:solidFill>
              </a:defRPr>
            </a:pPr>
            <a:r>
              <a:rPr sz="1650" b="1">
                <a:solidFill>
                  <a:srgbClr val="111111"/>
                </a:solidFill>
              </a:rPr>
              <a:t>41</a:t>
            </a:r>
          </a:p>
        </p:txBody>
      </p:sp>
      <p:cxnSp>
        <p:nvCxnSpPr>
          <p:cNvPr id="67" name=""/>
          <p:cNvCxnSpPr/>
          <p:nvPr/>
        </p:nvCxnSpPr>
        <p:spPr>
          <a:xfrm xmlns:a="http://schemas.openxmlformats.org/drawingml/2006/main">
            <a:off x="6819900" y="1524000"/>
            <a:ext cx="4572000" cy="0"/>
          </a:xfrm>
          <a:prstGeom xmlns:a="http://schemas.openxmlformats.org/drawingml/2006/main" prst="straightConnector1">
            <a:avLst/>
          </a:prstGeom>
          <a:ln xmlns:a="http://schemas.openxmlformats.org/drawingml/2006/main" w="19050">
            <a:solidFill>
              <a:srgbClr val="B8BCC4"/>
            </a:solidFill>
            <a:prstDash val="solid"/>
          </a:ln>
        </p:spPr>
      </p:cxnSp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F948D03C-7228-42F1-A606-869223B30B4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19900" y="1752600"/>
            <a:ext cx="4191000" cy="3429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l">
              <a:buNone/>
              <a:defRPr sz="1650" b="1">
                <a:solidFill>
                  <a:srgbClr val="3D8DFF"/>
                </a:solidFill>
              </a:defRPr>
            </a:pPr>
            <a:r>
              <a:rPr sz="1650" b="1">
                <a:solidFill>
                  <a:srgbClr val="3D8DFF"/>
                </a:solidFill>
              </a:rPr>
              <a:t>DEPLOYMENT RULE</a:t>
            </a:r>
          </a:p>
        </p:txBody>
      </p:sp>
      <p:sp>
        <p:nvSpPr>
          <p:cNvPr id="18" name="">
            <a:extLst xmlns:a="http://schemas.openxmlformats.org/drawingml/2006/main">
              <a:ext uri="{FF2B5EF4-FFF2-40B4-BE49-F238E27FC236}">
                <a16:creationId xmlns:a16="http://schemas.microsoft.com/office/drawing/2014/main" id="{08AC9FFA-0A0C-4DD9-8740-1E18B38E578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19900" y="2362200"/>
            <a:ext cx="4286250" cy="11049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l">
              <a:buNone/>
              <a:defRPr sz="2250" b="1">
                <a:solidFill>
                  <a:srgbClr val="111111"/>
                </a:solidFill>
              </a:defRPr>
            </a:pPr>
            <a:r>
              <a:rPr sz="2250" b="1">
                <a:solidFill>
                  <a:srgbClr val="111111"/>
                </a:solidFill>
              </a:rPr>
              <a:t>Treat 0.984 as weak-label agreement, not advisor accuracy.</a:t>
            </a:r>
          </a:p>
        </p:txBody>
      </p:sp>
      <p:sp>
        <p:nvSpPr>
          <p:cNvPr id="19" name="">
            <a:extLst xmlns:a="http://schemas.openxmlformats.org/drawingml/2006/main">
              <a:ext uri="{FF2B5EF4-FFF2-40B4-BE49-F238E27FC236}">
                <a16:creationId xmlns:a16="http://schemas.microsoft.com/office/drawing/2014/main" id="{BC55074B-B665-4112-8C68-566FE5E7BBD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19900" y="3981450"/>
            <a:ext cx="4476750" cy="1466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l">
              <a:buNone/>
              <a:defRPr sz="1725" b="0">
                <a:solidFill>
                  <a:srgbClr val="565D67"/>
                </a:solidFill>
              </a:defRPr>
            </a:pPr>
            <a:r>
              <a:rPr sz="1725" b="0">
                <a:solidFill>
                  <a:srgbClr val="565D67"/>
                </a:solidFill>
              </a:rPr>
              <a:t>Operational validation:</a:t>
            </a:r>
          </a:p>
          <a:p xmlns:a="http://schemas.openxmlformats.org/drawingml/2006/main">
            <a:pPr algn="l">
              <a:buNone/>
              <a:defRPr sz="1725" b="0">
                <a:solidFill>
                  <a:srgbClr val="565D67"/>
                </a:solidFill>
              </a:defRPr>
            </a:pPr>
            <a:r>
              <a:rPr sz="1725" b="0">
                <a:solidFill>
                  <a:srgbClr val="565D67"/>
                </a:solidFill>
              </a:rPr>
              <a:t>91.6% selective coverage</a:t>
            </a:r>
          </a:p>
          <a:p xmlns:a="http://schemas.openxmlformats.org/drawingml/2006/main">
            <a:pPr algn="l">
              <a:buNone/>
              <a:defRPr sz="1725" b="0">
                <a:solidFill>
                  <a:srgbClr val="565D67"/>
                </a:solidFill>
              </a:defRPr>
            </a:pPr>
            <a:r>
              <a:rPr sz="1725" b="0">
                <a:solidFill>
                  <a:srgbClr val="565D67"/>
                </a:solidFill>
              </a:rPr>
              <a:t>99.47% retained accuracy</a:t>
            </a:r>
          </a:p>
          <a:p xmlns:a="http://schemas.openxmlformats.org/drawingml/2006/main">
            <a:pPr algn="l">
              <a:buNone/>
              <a:defRPr sz="1725" b="0">
                <a:solidFill>
                  <a:srgbClr val="565D67"/>
                </a:solidFill>
              </a:defRPr>
            </a:pPr>
            <a:r>
              <a:rPr sz="1725" b="0">
                <a:solidFill>
                  <a:srgbClr val="565D67"/>
                </a:solidFill>
              </a:rPr>
              <a:t>36 search results, 0 violations</a:t>
            </a:r>
          </a:p>
        </p:txBody>
      </p:sp>
    </p:spTree>
    <p:extLst>
      <p:ext uri="{BB962C8B-B14F-4D97-AF65-F5344CB8AC3E}">
        <p14:creationId xmlns:p14="http://schemas.microsoft.com/office/powerpoint/2010/main" val="948970082"/>
      </p:ext>
    </p:extLst>
  </p:cSld>
</p:sld>
</file>

<file path=ppt/slides/slide10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74BC5564-739B-41BB-9B0D-BEBF7B46599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00050" y="381000"/>
            <a:ext cx="4953000" cy="381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l">
              <a:buNone/>
              <a:defRPr sz="1800" b="0">
                <a:solidFill>
                  <a:srgbClr val="565D67"/>
                </a:solidFill>
              </a:defRPr>
            </a:pPr>
            <a:r>
              <a:rPr sz="1800" b="0">
                <a:solidFill>
                  <a:srgbClr val="565D67"/>
                </a:solidFill>
              </a:rPr>
              <a:t>RECOMMENDATION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8664B6EC-F5BF-4E10-AD47-71FE4BC4780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00050" y="1619250"/>
            <a:ext cx="5286375" cy="1428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b"/>
          <a:lstStyle xmlns:a="http://schemas.openxmlformats.org/drawingml/2006/main"/>
          <a:p xmlns:a="http://schemas.openxmlformats.org/drawingml/2006/main">
            <a:pPr algn="l">
              <a:buNone/>
              <a:defRPr sz="3300" b="1">
                <a:solidFill>
                  <a:srgbClr val="111111"/>
                </a:solidFill>
              </a:defRPr>
            </a:pPr>
            <a:r>
              <a:rPr sz="3300" b="1">
                <a:solidFill>
                  <a:srgbClr val="111111"/>
                </a:solidFill>
              </a:rPr>
              <a:t>Ready for a supervised Career Center pilot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9554C779-D39F-494B-81D3-DF38B3D94F7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00050" y="3638550"/>
            <a:ext cx="4762500" cy="361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l">
              <a:buNone/>
              <a:defRPr sz="2025" b="1">
                <a:solidFill>
                  <a:srgbClr val="3D8DFF"/>
                </a:solidFill>
              </a:defRPr>
            </a:pPr>
            <a:r>
              <a:rPr sz="2025" b="1">
                <a:solidFill>
                  <a:srgbClr val="3D8DFF"/>
                </a:solidFill>
              </a:rPr>
              <a:t>Deploy with guardrails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D31D12CA-BE6F-49E4-ACE3-E5CB071FC7A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00050" y="4143375"/>
            <a:ext cx="4953000" cy="1428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l">
              <a:buNone/>
              <a:defRPr sz="1650" b="0">
                <a:solidFill>
                  <a:srgbClr val="111111"/>
                </a:solidFill>
              </a:defRPr>
            </a:pPr>
            <a:r>
              <a:rPr sz="1650" b="0">
                <a:solidFill>
                  <a:srgbClr val="111111"/>
                </a:solidFill>
              </a:rPr>
              <a:t>Prioritize, do not auto-reject</a:t>
            </a:r>
          </a:p>
          <a:p xmlns:a="http://schemas.openxmlformats.org/drawingml/2006/main">
            <a:pPr algn="l">
              <a:buNone/>
              <a:defRPr sz="1650" b="0">
                <a:solidFill>
                  <a:srgbClr val="111111"/>
                </a:solidFill>
              </a:defRPr>
            </a:pPr>
            <a:r>
              <a:rPr sz="1650" b="0">
                <a:solidFill>
                  <a:srgbClr val="111111"/>
                </a:solidFill>
              </a:rPr>
              <a:t>Keep advisor confirmation</a:t>
            </a:r>
          </a:p>
          <a:p xmlns:a="http://schemas.openxmlformats.org/drawingml/2006/main">
            <a:pPr algn="l">
              <a:buNone/>
              <a:defRPr sz="1650" b="0">
                <a:solidFill>
                  <a:srgbClr val="111111"/>
                </a:solidFill>
              </a:defRPr>
            </a:pPr>
            <a:r>
              <a:rPr sz="1650" b="0">
                <a:solidFill>
                  <a:srgbClr val="111111"/>
                </a:solidFill>
              </a:rPr>
              <a:t>Measure time saved and overrides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A5DF3588-959C-4C20-AEAD-9F8AD89A97B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191250" y="4953000"/>
            <a:ext cx="542925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l">
              <a:buNone/>
              <a:defRPr sz="1575" b="1">
                <a:solidFill>
                  <a:srgbClr val="D6532F"/>
                </a:solidFill>
              </a:defRPr>
            </a:pPr>
            <a:r>
              <a:rPr sz="1575" b="1">
                <a:solidFill>
                  <a:srgbClr val="D6532F"/>
                </a:solidFill>
              </a:rPr>
              <a:t>98.4% = weak-label agreement</a:t>
            </a:r>
          </a:p>
        </p:txBody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2D13B615-A61F-459D-968C-E6DFD34D7CC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191250" y="5381625"/>
            <a:ext cx="5429250" cy="647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l">
              <a:buNone/>
              <a:defRPr sz="1425" b="1">
                <a:solidFill>
                  <a:srgbClr val="111111"/>
                </a:solidFill>
              </a:defRPr>
            </a:pPr>
            <a:r>
              <a:rPr sz="1425" b="1">
                <a:solidFill>
                  <a:srgbClr val="111111"/>
                </a:solidFill>
              </a:rPr>
              <a:t>Next: label the 1,000-row advisor queue and measure real workflow value.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11B2BC92-819B-4C4D-B2CD-AC598B6A940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220450" y="6267450"/>
            <a:ext cx="5715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r">
              <a:buNone/>
              <a:defRPr sz="1200" b="0">
                <a:solidFill>
                  <a:srgbClr val="565D67"/>
                </a:solidFill>
              </a:defRPr>
            </a:pPr>
            <a:r>
              <a:rPr sz="1200" b="0">
                <a:solidFill>
                  <a:srgbClr val="565D67"/>
                </a:solidFill>
              </a:rPr>
              <a:t>10</a:t>
            </a:r>
          </a:p>
        </p:txBody>
      </p:sp>
      <p:pic>
        <p:nvPicPr>
          <p:cNvPr id="19" name="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fe3275b426e4472f"/>
          <a:srcRect xmlns:a="http://schemas.openxmlformats.org/drawingml/2006/main" l="1420" t="0" r="1420" b="0"/>
          <a:stretch xmlns:a="http://schemas.openxmlformats.org/drawingml/2006/main">
            <a:fillRect l="0" t="0" r="0" b="0"/>
          </a:stretch>
        </p:blipFill>
        <p:spPr>
          <a:xfrm xmlns:a="http://schemas.openxmlformats.org/drawingml/2006/main">
            <a:off x="6191250" y="1571625"/>
            <a:ext cx="5429250" cy="3143250"/>
          </a:xfrm>
          <a:prstGeom xmlns:a="http://schemas.openxmlformats.org/drawingml/2006/main" prst="roundRect">
            <a:avLst>
              <a:gd name="adj" fmla="val 2424"/>
            </a:avLst>
          </a:prstGeom>
        </p:spPr>
      </p:pic>
    </p:spTree>
    <p:extLst>
      <p:ext uri="{BB962C8B-B14F-4D97-AF65-F5344CB8AC3E}">
        <p14:creationId xmlns:p14="http://schemas.microsoft.com/office/powerpoint/2010/main" val="1915068259"/>
      </p:ext>
    </p:extLst>
  </p:cSld>
</p:sld>
</file>

<file path=ppt/theme/theme1.xml><?xml version="1.0" encoding="utf-8"?>
<a:theme xmlns:a="http://schemas.openxmlformats.org/drawingml/2006/main" name="ChatGPT">
  <a:themeElements>
    <a:clrScheme name="ChatGPT">
      <a:dk1>
        <a:srgbClr val="000000"/>
      </a:dk1>
      <a:lt1>
        <a:srgbClr val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Calibri Light"/>
        <a:ea typeface="Calibri Light"/>
        <a:cs typeface="Calibri Light"/>
      </a:majorFont>
      <a:minorFont>
        <a:latin typeface="Calibri"/>
        <a:ea typeface="Calibri"/>
        <a:cs typeface="Calibri"/>
      </a:minorFont>
    </a:fontScheme>
    <a:fmtScheme name="ChatGPT">
      <a:fillStyleLst>
        <a:solidFill>
          <a:schemeClr val="phClr"/>
        </a:solidFill>
        <a:gradFill>
          <a:gsLst>
            <a:gs pos="0">
              <a:schemeClr val="phClr">
                <a:tint val="67000"/>
                <a:lumMod val="110000"/>
                <a:satMod val="105000"/>
              </a:schemeClr>
            </a:gs>
            <a:gs pos="50000">
              <a:schemeClr val="phClr">
                <a:tint val="73000"/>
                <a:lumMod val="105000"/>
                <a:satMod val="103000"/>
              </a:schemeClr>
            </a:gs>
            <a:gs pos="100000">
              <a:schemeClr val="phClr">
                <a:tint val="81000"/>
                <a:lumMod val="105000"/>
                <a:satMod val="109000"/>
              </a:schemeClr>
            </a:gs>
          </a:gsLst>
          <a:lin ang="5400000" scaled="0"/>
        </a:gradFill>
        <a:gradFill>
          <a:gsLst>
            <a:gs pos="0">
              <a:schemeClr val="phClr">
                <a:tint val="94000"/>
                <a:lumMod val="102000"/>
                <a:satMod val="103000"/>
              </a:schemeClr>
            </a:gs>
            <a:gs pos="50000">
              <a:schemeClr val="phClr">
                <a:shade val="100000"/>
                <a:lumMod val="100000"/>
                <a:satMod val="110000"/>
              </a:schemeClr>
            </a:gs>
            <a:gs pos="100000">
              <a:schemeClr val="phClr">
                <a:shade val="78000"/>
                <a:lumMod val="99000"/>
                <a:satMod val="120000"/>
              </a:schemeClr>
            </a:gs>
          </a:gsLst>
          <a:lin ang="5400000" scaled="0"/>
        </a:gradFill>
      </a:fillStyleLst>
      <a:lnStyleLst>
        <a:ln w="12700">
          <a:solidFill>
            <a:schemeClr val="phClr"/>
          </a:solidFill>
          <a:prstDash val="solid"/>
        </a:ln>
        <a:ln w="19050">
          <a:solidFill>
            <a:schemeClr val="phClr"/>
          </a:solidFill>
          <a:prstDash val="solid"/>
        </a:ln>
        <a:ln w="25400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19050" dist="9525" dir="5400000">
              <a:srgbClr val="000000">
                <a:alpha val="6000"/>
              </a:srgbClr>
            </a:outerShdw>
          </a:effectLst>
        </a:effectStyle>
        <a:effectStyle>
          <a:effectLst>
            <a:outerShdw blurRad="28575" dist="9525" dir="5400000">
              <a:srgbClr val="000000">
                <a:alpha val="8000"/>
              </a:srgbClr>
            </a:outerShdw>
          </a:effectLst>
        </a:effectStyle>
        <a:effectStyle>
          <a:effectLst>
            <a:outerShdw blurRad="57150" dist="19050" dir="5400000">
              <a:srgbClr val="000000">
                <a:alpha val="10000"/>
              </a:srgbClr>
            </a:outerShdw>
          </a:effectLst>
        </a:effectStyle>
        <a:effectStyle>
          <a:effectLst>
            <a:outerShdw blurRad="114300" dist="38100" dir="5400000">
              <a:srgbClr val="000000">
                <a:alpha val="12000"/>
              </a:srgbClr>
            </a:outerShdw>
          </a:effectLst>
        </a:effectStyle>
        <a:effectStyle>
          <a:effectLst>
            <a:outerShdw blurRad="171450" dist="571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266700" dist="95250" dir="5400000">
              <a:srgbClr val="000000">
                <a:alpha val="24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>
          <a:gsLst>
            <a:gs pos="0">
              <a:schemeClr val="phClr">
                <a:tint val="93000"/>
                <a:shade val="98000"/>
                <a:lumMod val="102000"/>
                <a:satMod val="150000"/>
              </a:schemeClr>
            </a:gs>
            <a:gs pos="50000">
              <a:schemeClr val="phClr">
                <a:tint val="98000"/>
                <a:shade val="90000"/>
                <a:lumMod val="103000"/>
                <a:satMod val="130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</a:theme>
</file>

<file path=docProps/app.xml><?xml version="1.0" encoding="utf-8"?>
<ap:Properties xmlns:ap="http://schemas.openxmlformats.org/officeDocument/2006/extended-properties">
  <ap:Application>Walnut Exporter</ap:Application>
  <ap:PresentationFormat>Converted Presentation</ap:PresentationFormat>
  <ap:Slides>0</ap:Slides>
  <ap:Notes>0</ap:Notes>
  <ap:HiddenSlides>0</ap:HiddenSlides>
  <ap:SharedDoc>false</ap:SharedDoc>
  <ap:DocSecurity>0</ap:DocSecurity>
</ap:Properties>
</file>

<file path=docProps/core.xml><?xml version="1.0" encoding="utf-8"?>
<coreProperties xmlns:dc="http://purl.org/dc/elements/1.1/" xmlns:dcterms="http://purl.org/dc/terms/" xmlns:xsi="http://www.w3.org/2001/XMLSchema-instance" xmlns="http://schemas.openxmlformats.org/package/2006/metadata/core-properties">
  <dc:creator>Walnut Exporter</dc:creator>
  <lastModifiedBy>Walnut Exporter</lastModifiedBy>
  <dc:title>Presentation</dc:title>
  <dcterms:created xsi:type="dcterms:W3CDTF">2026-08-20T11:53:48.3990000Z</dcterms:created>
  <dcterms:modified xsi:type="dcterms:W3CDTF">2026-08-20T11:53:48.3990000Z</dcterms:modified>
</coreProperties>
</file>