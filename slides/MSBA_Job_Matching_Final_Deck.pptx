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f0e0260fef4f3d" /><Relationship Type="http://schemas.openxmlformats.org/officeDocument/2006/relationships/extended-properties" Target="/docProps/app.xml" Id="R8caebbaf3feb43dc" /><Relationship Type="http://schemas.openxmlformats.org/officeDocument/2006/relationships/officeDocument" Target="/ppt/presentation.xml" Id="Rbf89f4df646143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6dd2163800473c"/>
  </p:sldMasterIdLst>
  <p:notesMasterIdLst>
    <p:notesMasterId xmlns:r="http://schemas.openxmlformats.org/officeDocument/2006/relationships" r:id="R778a614ee15c434e"/>
  </p:notesMasterIdLst>
  <p:sldIdLst>
    <p:sldId xmlns:r="http://schemas.openxmlformats.org/officeDocument/2006/relationships" id="256" r:id="Raec8c631347148ae"/>
    <p:sldId xmlns:r="http://schemas.openxmlformats.org/officeDocument/2006/relationships" id="257" r:id="Rcd37af2a91794b18"/>
    <p:sldId xmlns:r="http://schemas.openxmlformats.org/officeDocument/2006/relationships" id="258" r:id="R8581dd4a25f54ea3"/>
    <p:sldId xmlns:r="http://schemas.openxmlformats.org/officeDocument/2006/relationships" id="259" r:id="R7095fdfa9ea74f85"/>
    <p:sldId xmlns:r="http://schemas.openxmlformats.org/officeDocument/2006/relationships" id="260" r:id="Rcbe4ac8379c04f6d"/>
    <p:sldId xmlns:r="http://schemas.openxmlformats.org/officeDocument/2006/relationships" id="261" r:id="R808b1d78f01a444e"/>
    <p:sldId xmlns:r="http://schemas.openxmlformats.org/officeDocument/2006/relationships" id="262" r:id="R2638dd6c44cc4c2b"/>
    <p:sldId xmlns:r="http://schemas.openxmlformats.org/officeDocument/2006/relationships" id="263" r:id="R83644fdaa1ab44c1"/>
    <p:sldId xmlns:r="http://schemas.openxmlformats.org/officeDocument/2006/relationships" id="264" r:id="R51ff0ca316264ed3"/>
    <p:sldId xmlns:r="http://schemas.openxmlformats.org/officeDocument/2006/relationships" id="265" r:id="Raa67aa4fff0f42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daaab835674b2c" /><Relationship Type="http://schemas.openxmlformats.org/officeDocument/2006/relationships/slideMaster" Target="/ppt/slideMasters/slideMaster1.xml" Id="R426dd2163800473c" /><Relationship Type="http://schemas.openxmlformats.org/officeDocument/2006/relationships/notesMaster" Target="/ppt/notesMasters/notesMaster1.xml" Id="R778a614ee15c434e" /><Relationship Type="http://schemas.openxmlformats.org/officeDocument/2006/relationships/presProps" Target="/ppt/presProps.xml" Id="Rba583dd2c1f444bd" /><Relationship Type="http://schemas.openxmlformats.org/officeDocument/2006/relationships/tableStyles" Target="/ppt/tableStyles.xml" Id="Rfe43e268db464446" /><Relationship Type="http://schemas.openxmlformats.org/officeDocument/2006/relationships/slide" Target="/ppt/slides/slide1.xml" Id="Raec8c631347148ae" /><Relationship Type="http://schemas.openxmlformats.org/officeDocument/2006/relationships/slide" Target="/ppt/slides/slide2.xml" Id="Rcd37af2a91794b18" /><Relationship Type="http://schemas.openxmlformats.org/officeDocument/2006/relationships/slide" Target="/ppt/slides/slide3.xml" Id="R8581dd4a25f54ea3" /><Relationship Type="http://schemas.openxmlformats.org/officeDocument/2006/relationships/slide" Target="/ppt/slides/slide4.xml" Id="R7095fdfa9ea74f85" /><Relationship Type="http://schemas.openxmlformats.org/officeDocument/2006/relationships/slide" Target="/ppt/slides/slide5.xml" Id="Rcbe4ac8379c04f6d" /><Relationship Type="http://schemas.openxmlformats.org/officeDocument/2006/relationships/slide" Target="/ppt/slides/slide6.xml" Id="R808b1d78f01a444e" /><Relationship Type="http://schemas.openxmlformats.org/officeDocument/2006/relationships/slide" Target="/ppt/slides/slide7.xml" Id="R2638dd6c44cc4c2b" /><Relationship Type="http://schemas.openxmlformats.org/officeDocument/2006/relationships/slide" Target="/ppt/slides/slide8.xml" Id="R83644fdaa1ab44c1" /><Relationship Type="http://schemas.openxmlformats.org/officeDocument/2006/relationships/slide" Target="/ppt/slides/slide9.xml" Id="R51ff0ca316264ed3" /><Relationship Type="http://schemas.openxmlformats.org/officeDocument/2006/relationships/slide" Target="/ppt/slides/slide10.xml" Id="Raa67aa4fff0f42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b09b55e1514c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cd3763bf9e467a" /><Relationship Type="http://schemas.openxmlformats.org/officeDocument/2006/relationships/notesMaster" Target="/ppt/notesMasters/notesMaster1.xml" Id="Rae535e3a5b8440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ac8ded91d14707" /><Relationship Type="http://schemas.openxmlformats.org/officeDocument/2006/relationships/notesMaster" Target="/ppt/notesMasters/notesMaster1.xml" Id="Rfdf11d8fe8c247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a4792965a44655" /><Relationship Type="http://schemas.openxmlformats.org/officeDocument/2006/relationships/notesMaster" Target="/ppt/notesMasters/notesMaster1.xml" Id="Ree5e332460ab4b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b787f4b0ab431c" /><Relationship Type="http://schemas.openxmlformats.org/officeDocument/2006/relationships/notesMaster" Target="/ppt/notesMasters/notesMaster1.xml" Id="Rb231dca12e9d4d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f5fe20f7944c92" /><Relationship Type="http://schemas.openxmlformats.org/officeDocument/2006/relationships/notesMaster" Target="/ppt/notesMasters/notesMaster1.xml" Id="R571c955be67d45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e7bcaa8ce04a4d" /><Relationship Type="http://schemas.openxmlformats.org/officeDocument/2006/relationships/notesMaster" Target="/ppt/notesMasters/notesMaster1.xml" Id="R9565edf091c14c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e3f95ae5664403" /><Relationship Type="http://schemas.openxmlformats.org/officeDocument/2006/relationships/notesMaster" Target="/ppt/notesMasters/notesMaster1.xml" Id="Rf896e2d930e743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c9fbbee3904983" /><Relationship Type="http://schemas.openxmlformats.org/officeDocument/2006/relationships/notesMaster" Target="/ppt/notesMasters/notesMaster1.xml" Id="R2da161b496b049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24a4d483d04ce5" /><Relationship Type="http://schemas.openxmlformats.org/officeDocument/2006/relationships/notesMaster" Target="/ppt/notesMasters/notesMaster1.xml" Id="Re7c75f22b41243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241e6539154477" /><Relationship Type="http://schemas.openxmlformats.org/officeDocument/2006/relationships/notesMaster" Target="/ppt/notesMasters/notesMaster1.xml" Id="R4c6ef260ea7642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the product helps an advisor prioritize postings, while final forwarding and authorization review stay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README.md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advisor actions. Emphasize that the system supports triage rather than making immigration or hiring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role-fit corpus is already large. The next useful data investment is advisor-reviewed labels and real authorization text, not more weak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data_jobs_msba_project_sample_100k_metadata.json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M3 established that adaptation helps. M4 then tested a wider model and data choice and found that a lightweight linear model trained on the full split is both stronger and easier to 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outputs/final_model_comparison.json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mode router prevents a search sentence from being misclassified as a posting. The policy layer then handles missing fields and authorization independently from role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msba_job_matcher/core.py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this is retrieval, not posting classification. The result list is filtered and reranked by explicit query constraints, then each retrieved posting receives a model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 - entry_level_analytics_search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four saved runs. The key case is a high-fit analyst role that explicitly says No OPT/CPT. The policy layer forces Hold, proving that authorization cannot be hidden by a strong fit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model uses all available training labels and outperforms the 2,000-row LoRA experiment. The lesson is not that linear models always win; it is that data utilization and reproducibility matter for this structured weak-label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now makes only 65 errors on the fixed weak-label set. That shifts the project question: the next bottleneck is whether the labels represent advisor judgment. Stronger claims require a human-reviewed external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data decision. The public weak-label corpus is already sufficient for this model family. The next investment should create a small but trustworthy human and authorization benchmark, then measure workflow value in a controlled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docs/evaluation_summary.md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84372ee834d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49e5cc19264f83" /><Relationship Type="http://schemas.openxmlformats.org/officeDocument/2006/relationships/slideLayout" Target="/ppt/slideLayouts/slideLayout1.xml" Id="R8247c833d5be4b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47c833d5be4b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d7dd7fe8049ec" /><Relationship Type="http://schemas.openxmlformats.org/officeDocument/2006/relationships/notesSlide" Target="/ppt/notesSlides/notesSlide1.xml" Id="R714e38b644b64f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87765a7f74c17" /><Relationship Type="http://schemas.openxmlformats.org/officeDocument/2006/relationships/notesSlide" Target="/ppt/notesSlides/notesSlide2.xml" Id="Rd38d990a907943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cd5b50a9a41c9" /><Relationship Type="http://schemas.openxmlformats.org/officeDocument/2006/relationships/notesSlide" Target="/ppt/notesSlides/notesSlide3.xml" Id="R17c75548627146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662b9c4a54929" /><Relationship Type="http://schemas.openxmlformats.org/officeDocument/2006/relationships/notesSlide" Target="/ppt/notesSlides/notesSlide4.xml" Id="R365e676b5a0545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b72597c6b42a6" /><Relationship Type="http://schemas.openxmlformats.org/officeDocument/2006/relationships/notesSlide" Target="/ppt/notesSlides/notesSlide5.xml" Id="Rb17e7cf32def42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4d19529614339" /><Relationship Type="http://schemas.openxmlformats.org/officeDocument/2006/relationships/notesSlide" Target="/ppt/notesSlides/notesSlide6.xml" Id="R8f04df65381a4a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71c17ba4d43c0" /><Relationship Type="http://schemas.openxmlformats.org/officeDocument/2006/relationships/notesSlide" Target="/ppt/notesSlides/notesSlide7.xml" Id="R51776f0febfa4a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12234da864de4" /><Relationship Type="http://schemas.openxmlformats.org/officeDocument/2006/relationships/chart" Target="/ppt/slides/charts/chart1.xml" Id="R40cbc99ce91947df" /><Relationship Type="http://schemas.openxmlformats.org/officeDocument/2006/relationships/notesSlide" Target="/ppt/notesSlides/notesSlide8.xml" Id="R41271a390b9940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342a33079436d" /><Relationship Type="http://schemas.openxmlformats.org/officeDocument/2006/relationships/notesSlide" Target="/ppt/notesSlides/notesSlide9.xml" Id="Raa8c2a8b0a2241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2ecb7570541b8" /><Relationship Type="http://schemas.openxmlformats.org/officeDocument/2006/relationships/notesSlide" Target="/ppt/notesSlides/notesSlide10.xml" Id="R170a1883adbf4eb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98.4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98.4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31D60-4011-45F6-85DF-99F7443E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ISBA 2411 | FINAL TEAM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18A5B-F8A9-42B3-ABD1-B5645D3E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MSBA Job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E06395-BA38-4777-9BA2-F02A5974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11111"/>
                </a:solidFill>
              </a:defRPr>
            </a:pPr>
            <a:r>
              <a:rPr sz="2700" b="0">
                <a:solidFill>
                  <a:srgbClr val="111111"/>
                </a:solidFill>
              </a:rPr>
              <a:t>Grounded NLP decision support for career advisors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8C72F-2A13-46F6-98E1-4949F8F6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5D67"/>
                </a:solidFill>
              </a:defRPr>
            </a:pPr>
            <a:r>
              <a:rPr sz="1950" b="0">
                <a:solidFill>
                  <a:srgbClr val="565D67"/>
                </a:solidFill>
              </a:rPr>
              <a:t>Real postings -&gt; retrieved evidence -&gt; role-fit triage -&gt;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048DD-E9B1-490A-8153-CB4741F9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8DFF"/>
                </a:solidFill>
              </a:defRPr>
            </a:pPr>
            <a:r>
              <a:rPr sz="1650" b="0">
                <a:solidFill>
                  <a:srgbClr val="3D8DFF"/>
                </a:solidFill>
              </a:rPr>
              <a:t>Yitong Wang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3C68E-39F0-4D4C-9E42-61D7B641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963927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803D02D9-B0AB-4841-97BA-E2ECED6B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advisor must separate fit, uncertainty, and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E5575-9705-4B78-9FCF-59E78195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A useful system improves a specific decision: forward, hold, or investigate.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31D44-3EB1-4E57-9018-6896B727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2</a:t>
            </a:r>
          </a:p>
        </p:txBody>
      </p:sp>
      <p:cxnSp>
        <p:nvCxnSpPr>
          <p:cNvPr id="17" name=""/>
          <p:cNvCxnSpPr/>
          <p:nvPr/>
        </p:nvCxnSpPr>
        <p:spPr>
          <a:xfrm xmlns:a="http://schemas.openxmlformats.org/drawingml/2006/main">
            <a:off x="41910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2F199-096C-4418-B80E-604116B0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FORWARD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8611C-16F8-4F86-8833-1727DC6E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Strong entry-level analytics fit supported by title, skills, and location evidence.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276725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45849-2D03-4729-86F1-B9195DD4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172D6-5126-4275-9517-DB91AA43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Senior, engineering-heavy, or clearly misaligned roles require a conservative screen.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13435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58293-A22C-4CB6-A052-C37D08B7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532F"/>
                </a:solidFill>
              </a:defRPr>
            </a:pPr>
            <a:r>
              <a:rPr sz="2100" b="1">
                <a:solidFill>
                  <a:srgbClr val="D6532F"/>
                </a:solidFill>
              </a:rPr>
              <a:t>INVESTIGATE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DA8E1-724B-4D89-AC91-FDE07DAE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Incomplete fields or missing authorization language require human follow-up.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2E14F-83A5-4591-8ABF-A6842F8E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19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Role fit and work authorization are related in workflow, but they are not the same prediction task.</a:t>
            </a:r>
          </a:p>
        </p:txBody>
      </p:sp>
    </p:spTree>
    <p:extLst>
      <p:ext uri="{BB962C8B-B14F-4D97-AF65-F5344CB8AC3E}">
        <p14:creationId xmlns:p14="http://schemas.microsoft.com/office/powerpoint/2010/main" val="5797978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D8DADEC7-78D1-4D74-81DD-8BC2459E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Label quality, not data volume, is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99D36-F792-42C9-9D64-5C3BBFA5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final model uses the full training split after exact-text deduplication.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1016F-A5AC-42CC-9828-04A5BB87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AAA7D-F908-429C-A6DF-E5DC678F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9F03A-DE97-4FEB-89F6-82D248C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785,741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F4CCB-463A-4C96-913A-E3EDCBB6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original public job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8398B-664C-4941-8374-131522D5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AAB57-0F6F-4C37-A0D2-C827095F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8A2FE-74B3-4C10-9065-CB3B83B5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stratified project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3D70C-6194-4749-A14C-8C12F958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D2632-6C85-418D-827F-28C4539D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77,135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1BF058-D9E2-47A1-9A58-B237AF56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deduplicated training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FCD2D-A7DD-42D6-AD7F-7F206F63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35DD1-CE19-4A67-953F-7FA57DCC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9116C7-1ADD-4460-8EF3-A935379F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representative authorization labels</a:t>
            </a:r>
          </a:p>
        </p:txBody>
      </p:sp>
    </p:spTree>
    <p:extLst>
      <p:ext uri="{BB962C8B-B14F-4D97-AF65-F5344CB8AC3E}">
        <p14:creationId xmlns:p14="http://schemas.microsoft.com/office/powerpoint/2010/main" val="1935748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4BEAD27-9725-40DE-B0A7-4F19A37A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Each milestone changed the final technical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F1004-6EDF-488B-B7D9-DCCEB97E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4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00100" y="3238500"/>
            <a:ext cx="10191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72FD0-A27D-4A4F-9204-7F00DB41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DB72F-1E52-4FB8-B2DB-8EA3F637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FD7F9-8A19-4637-AAE8-F095CDAA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Represent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902C0-3AC6-4538-8D07-E8B85112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TF-IDF + MiniLM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20k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F20F8-6D56-4A6C-B072-EBFE48E3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3F4CE-B7AA-47DB-A35F-5B81C082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AA9C9-66A7-4E4D-A7C6-B021D655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Adapt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8764C-FB49-404F-AC6E-F3C0D8E7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Zero-shot + few-shot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true PEFT 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C8CDE-29EA-4D1E-AA10-47247AA2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23FDF-DDAA-4BD5-9079-64781703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A8B350-A8E3-4338-8706-C12EA585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Integrate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24A019-AF99-4CEA-9B90-F5EC089C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80k-trained classifier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retrieval + policy gates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7C81D-5717-481A-B09C-F1C9701E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A20A19-121D-4C3B-A538-FBFB1269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6D1766-44F0-4270-9DD9-6435F9B0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532F"/>
                </a:solidFill>
              </a:defRPr>
            </a:pPr>
            <a:r>
              <a:rPr sz="2250" b="1">
                <a:solidFill>
                  <a:srgbClr val="D6532F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31FFD-79A0-49BF-A5E3-234A202D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Leakage audit, tests,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demo, and governance</a:t>
            </a:r>
          </a:p>
        </p:txBody>
      </p:sp>
    </p:spTree>
    <p:extLst>
      <p:ext uri="{BB962C8B-B14F-4D97-AF65-F5344CB8AC3E}">
        <p14:creationId xmlns:p14="http://schemas.microsoft.com/office/powerpoint/2010/main" val="1716480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D7F0156D-6E31-40D7-A40D-8D4CE1C8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Two input modes prevent a subtle but costly task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61410-6012-4066-9384-0419B1C1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Search requests retrieve candidates; only job postings receive a role-fit label.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D9B23-E298-487C-AADA-2F466DC1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5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22098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45148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8199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91249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4954D-7B7F-4D96-80F1-5242EF63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C8F1E-4D76-470F-B73B-FD57235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B2967-BD4C-497B-9A77-FC120A3D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84F35-99A4-46A2-AB96-F010701D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Search request or job posting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0067F-D743-4842-9F03-B955B259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F3B88-0B60-495B-BCEE-FFEA52D2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4729E-A9DD-4CA7-BB5A-5DA7ED36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937F0-A0F0-4E6E-86F5-C67E5926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80k index + constraints + dedupe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D75D67-C254-4768-9D9F-E3D3CFEF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7F0A0-F683-4182-A572-A27D02DE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FA5564-413F-44DA-8235-CBBCD203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CLASSIFY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4BFA99-8765-40BF-ADA2-2E2E1B41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77,135-row TF-IDF SVM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F5E6D8-7242-42CB-8F7E-BD26A60F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E7BC6A-F899-4F1F-B80F-050FE06F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78B83-130D-401E-AAAD-A28A1EE4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5A3703-39D0-4E74-BDFF-ADB49A09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Missing fields + authorization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70C2A7-387F-4207-9624-ECBFC9BC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F61EFD-7BC1-4B52-9016-DE3D80EC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532F"/>
                </a:solidFill>
              </a:defRPr>
            </a:pPr>
            <a:r>
              <a:rPr sz="1950" b="1">
                <a:solidFill>
                  <a:srgbClr val="D6532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40AE7F-EE1A-4D6F-8A0A-892BB06B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3BA6CC-CEAB-4CA6-9294-8A2E900D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Cited evidence and final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227782-6714-40F1-BE38-D7ACF09D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 high role-fit score can never override an explicit authorization restriction.</a:t>
            </a:r>
          </a:p>
        </p:txBody>
      </p:sp>
    </p:spTree>
    <p:extLst>
      <p:ext uri="{BB962C8B-B14F-4D97-AF65-F5344CB8AC3E}">
        <p14:creationId xmlns:p14="http://schemas.microsoft.com/office/powerpoint/2010/main" val="3361500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507817C5-340B-406E-BEB4-8AAFCD54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Search mode returns constrained, inspectable candidates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7B6DD-E389-4AFE-8BFD-E5AA577B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top five results satisfy the requested US constraint; the search sentence is not misclassified.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E3A6A-F7B1-4EC5-8706-64E24B76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3D51D-F923-4C85-ACB7-85757508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83F53-7B14-4E2D-8D19-485ED976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24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Find entry-level US data analyst, business analyst, or BI roles with SQL, Python, Excel, Tableau, or Power BI. Remote roles are acceptable.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5CEBE-CAFA-4B33-A3E8-2F392E6B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D0305-351A-4E15-989B-A10C42CA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6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EB1DB-A65B-4E68-91F2-B6BCABCE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361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BB196-403B-4E6D-B826-58EBDEE0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66975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POSTING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C7E34-DE86-42A5-901C-D16B916D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58D7A-FF9F-4A1B-BD2C-0A58DCCB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66975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COMPANY / LOCATION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77B5C-7C84-48C3-A0CB-9B4672B9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35AB11-41B9-43B0-8588-AA296036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669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50EB5-0F75-46E7-84C6-CAF9E7BA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43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43528-ED88-4FDF-9817-C0A39684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86ACE-D22E-4A6A-833D-525A2B55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003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8E40A-84AB-44B6-9433-D454D3B8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146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181CBD-B1AD-4346-AF04-A1718E4A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003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A8E167-FA0C-4701-B234-C9386CFB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146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077B4-386E-45EE-BD8C-9939CC55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003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C1E750-3B2B-4433-952D-F44D666E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14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HireMatch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E63BF-9EF9-49F0-B9ED-31BF6B15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003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047372-19BA-45E1-9325-FDFB06B3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146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62DB44-A47D-4F09-B380-F7CC3C3F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003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BFE071-D73A-496F-96B5-F0BDD439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146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10.354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8CFAF2-140A-453F-A721-6863E49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242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3D9EE4-C102-41F5-B07D-A9C68354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8A5DC7-9BB9-4337-B6C3-47B05618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0754FD-CA2A-4A31-A587-EF121D4C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 (US REMOTE)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AE1B65-C7BC-4F9A-8009-0FD2D9AB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242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5398F8-4D47-4159-B4BB-B5BF4ACE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LeanTaaS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3E8A5E-5DC9-439B-AAD2-2580CCB1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CEABCD-8A2A-4894-90E5-5E53B373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8F89CD-0E84-4103-BFBC-5CE56459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FBDEBA-D41F-40E9-B538-9DE4C425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385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9.158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C36496-EAC4-406D-A47F-F03ACF7A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481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1E9E2D-4EF6-47FF-8C59-EDA63B68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A39D05-CCCE-4D83-9F5D-424CCC2A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113481-C7B9-4CBD-A5C9-750C9C1C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2F4C89-A304-4CC3-8AB8-AB1E8AAA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A17864-D7B8-46B2-BD1B-9F5B678A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24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HMP Global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6D608E-A024-43EF-BAE8-CA436E6A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691030-AB99-4D07-8EB5-02E6BF20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624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911699-E479-429D-BE7E-99D1D3AD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481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10746D-6386-48A9-9D55-437ECFDA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624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9.055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8E307A-0047-480C-BEC0-A31B3193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Review six retrieved postings; the top five satisfy the US constraint.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21F736-26DD-4422-A73E-DBCC93A6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6532F"/>
                </a:solidFill>
              </a:defRPr>
            </a:pPr>
            <a:r>
              <a:rPr sz="1500" b="0">
                <a:solidFill>
                  <a:srgbClr val="D6532F"/>
                </a:solidFill>
              </a:rPr>
              <a:t>Authorization: verify separately unless explicit source text is present.</a:t>
            </a:r>
          </a:p>
        </p:txBody>
      </p:sp>
    </p:spTree>
    <p:extLst>
      <p:ext uri="{BB962C8B-B14F-4D97-AF65-F5344CB8AC3E}">
        <p14:creationId xmlns:p14="http://schemas.microsoft.com/office/powerpoint/2010/main" val="2061116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D19FCEC4-0F9D-4633-A95F-C0744677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Edge cases change the action, not the safety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7A5F3-8BA1-499E-8FAE-400EFE75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7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191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AD1A9-AC9A-47DC-899E-990AE650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ENTRY LEVEL ANALYTICS 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302A70-31DD-4E73-A2A3-481EBDE8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search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09820-A5E4-4CEB-9BBF-14671CB1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Find US analytics opportunities for advisor review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62484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428C4-2031-416F-8ADE-115EF5DD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SENIOR ENGINEERING POSTING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2A096-0D5A-4B9A-8C5F-704A7B66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low_fit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F64D4-ECC0-468A-8FCC-3E3EBF57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Hold a role that is too senior and engineering-heavy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191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D9F7D-8916-409D-96FC-83D1C178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AUTHORIZATION RESTRICTION POSTING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F124F-5A63-44F4-AD73-1110441A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6532F"/>
                </a:solidFill>
              </a:defRPr>
            </a:pPr>
            <a:r>
              <a:rPr sz="2325" b="1">
                <a:solidFill>
                  <a:srgbClr val="D6532F"/>
                </a:solidFill>
              </a:rPr>
              <a:t>high_fit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AA18F8-DDF7-40C0-AC41-2787DC4D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 role fit, but No OPT/CPT forces Hold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2484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FD184-5BFA-4FA9-BF6C-F165EF59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THIN METADATA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58D6C-EDA1-4D10-B6D6-0E626019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unclear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87D6BA-AD2D-4CFF-A1EC-84BD1F76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Missing fields override medium_fit to unclear</a:t>
            </a:r>
          </a:p>
        </p:txBody>
      </p:sp>
    </p:spTree>
    <p:extLst>
      <p:ext uri="{BB962C8B-B14F-4D97-AF65-F5344CB8AC3E}">
        <p14:creationId xmlns:p14="http://schemas.microsoft.com/office/powerpoint/2010/main" val="3569855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905B53E-E832-4723-9413-672F3E4F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Using all training data beats extra model complexity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22397-367B-467A-99F4-5C38E2FE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409700"/>
          <a:ext xmlns:a="http://schemas.openxmlformats.org/drawingml/2006/main" cx="6191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cbc99ce91947df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02365-1FB2-431D-B7AF-42EB6833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668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9AF8B-10DC-443F-B28C-7669334B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98.4%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AB564-E470-49E3-9BCD-C626B754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335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fixed-set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FDB4C-BA91-41C3-9B2F-6F305022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EC2F6-2173-4C50-B983-C8A562C0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242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3A4FE-DE1B-4000-9783-A2A7E2F1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19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novel-text macro 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04AE0-323E-4660-8714-E1C42502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A8FCE-9DF2-405A-A2A4-A90CB35D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6532F"/>
                </a:solidFill>
              </a:defRPr>
            </a:pPr>
            <a:r>
              <a:rPr sz="31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683995-7F9B-4B23-99AF-B3E8105B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unsupported authorization claims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C1531-F2B6-4455-B20C-0B6C5C94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The final 3.8 MB model trains in under one minute.</a:t>
            </a:r>
          </a:p>
        </p:txBody>
      </p:sp>
    </p:spTree>
    <p:extLst>
      <p:ext uri="{BB962C8B-B14F-4D97-AF65-F5344CB8AC3E}">
        <p14:creationId xmlns:p14="http://schemas.microsoft.com/office/powerpoint/2010/main" val="1535167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71931BCC-2883-41BA-BD34-C76A7F84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remaining risk is label validity, not model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A9FF4-05C7-4960-9FA6-753078A2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CF712-4F2F-489B-A7A8-AE8DB2B6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FIXED 4K ERRORS BY TRUE LABEL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2692A-0B23-4FFF-BEA2-BDAD2AB7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high_fit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94C61-0756-4245-A196-68AE5CB6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19300"/>
            <a:ext cx="1771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C1D79-5FD4-406D-B4B2-A8745E44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10A06-375F-41B0-9F27-7F1FA0CB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medium_fit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0CFB4-C420-4747-9BEF-CE399894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76771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397B8-EE24-4254-B09C-5913FBAA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3DC80-EC66-43AD-B79C-59768544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low_fit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CACD2-9513-4C75-BCCC-2926C140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05200"/>
            <a:ext cx="4724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EB181E-70D2-4D5A-9118-FA27F031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86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9003B-E5E8-466F-A8DE-96167402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unclear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DF96C-A154-4A32-A23E-FC59C507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242125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3B931-DC5E-41BD-9DB2-09D0E9D2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291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41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19900" y="1524000"/>
            <a:ext cx="457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82DAA-E456-49DA-8C25-5DC908D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DEPLOYMENT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21FAD1-9FE5-47EC-8662-FA68F37E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622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Treat 0.984 as weak-label agreement, not advisor accuracy.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9AA238-D294-4082-8B3F-2EE8B696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957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Next test: 500-1,000 advisor labels</a:t>
            </a:r>
          </a:p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Separate authorization benchmark</a:t>
            </a:r>
          </a:p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Time-based external validation</a:t>
            </a:r>
          </a:p>
        </p:txBody>
      </p:sp>
    </p:spTree>
    <p:extLst>
      <p:ext uri="{BB962C8B-B14F-4D97-AF65-F5344CB8AC3E}">
        <p14:creationId xmlns:p14="http://schemas.microsoft.com/office/powerpoint/2010/main" val="4364019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F1594-0BC3-4A23-9E78-D8D2364C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2D2CB-096D-4555-9C7C-D6B7E46E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Stop adding weak labels; start collecting decision-grade evidence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39433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90EA0-AF44-4807-95E6-296D5C76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Next measures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2DE0B-41A5-433A-9EE8-1276649F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400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High-fit precision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Advisor time saved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Override rate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Authorization extraction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29291-14C8-4CE3-ABCE-E9A1EA92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86300"/>
            <a:ext cx="19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3261A-1A31-4059-9D88-DC8DFBA9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6532F"/>
                </a:solidFill>
              </a:defRPr>
            </a:pPr>
            <a:r>
              <a:rPr sz="1575" b="1">
                <a:solidFill>
                  <a:srgbClr val="D6532F"/>
                </a:solidFill>
              </a:rPr>
              <a:t>DATA TO COLLECT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F5EE9-22E0-45FE-8B54-94649499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57750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500-1,000 advisor-reviewed postings</a:t>
            </a:r>
          </a:p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Hundreds of real authorization examples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53C07-C1FC-4AC1-BAC3-79900E1F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77628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2026-08-05T02:54:29.3970000Z</dcterms:created>
  <dcterms:modified xsi:type="dcterms:W3CDTF">2026-08-05T02:54:29.3970000Z</dcterms:modified>
</coreProperties>
</file>