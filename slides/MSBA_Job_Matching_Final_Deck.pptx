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daffdcac38406c" /><Relationship Type="http://schemas.openxmlformats.org/officeDocument/2006/relationships/extended-properties" Target="/docProps/app.xml" Id="Rf5336100bea1426e" /><Relationship Type="http://schemas.openxmlformats.org/officeDocument/2006/relationships/officeDocument" Target="/ppt/presentation.xml" Id="R6ccd6c3287da42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fa20d886074678"/>
  </p:sldMasterIdLst>
  <p:notesMasterIdLst>
    <p:notesMasterId xmlns:r="http://schemas.openxmlformats.org/officeDocument/2006/relationships" r:id="R4254cf508d2f4efc"/>
  </p:notesMasterIdLst>
  <p:sldIdLst>
    <p:sldId xmlns:r="http://schemas.openxmlformats.org/officeDocument/2006/relationships" id="256" r:id="R5ffbd88150e64fa6"/>
    <p:sldId xmlns:r="http://schemas.openxmlformats.org/officeDocument/2006/relationships" id="257" r:id="Rd1df9c35922d4420"/>
    <p:sldId xmlns:r="http://schemas.openxmlformats.org/officeDocument/2006/relationships" id="258" r:id="Ra20516a66d4d47eb"/>
    <p:sldId xmlns:r="http://schemas.openxmlformats.org/officeDocument/2006/relationships" id="259" r:id="R0835cd633d544483"/>
    <p:sldId xmlns:r="http://schemas.openxmlformats.org/officeDocument/2006/relationships" id="260" r:id="R28ff57ae2e22405d"/>
    <p:sldId xmlns:r="http://schemas.openxmlformats.org/officeDocument/2006/relationships" id="261" r:id="R2d40a5f79b664180"/>
    <p:sldId xmlns:r="http://schemas.openxmlformats.org/officeDocument/2006/relationships" id="262" r:id="R3788447387044603"/>
    <p:sldId xmlns:r="http://schemas.openxmlformats.org/officeDocument/2006/relationships" id="263" r:id="R780204d1daed4db4"/>
    <p:sldId xmlns:r="http://schemas.openxmlformats.org/officeDocument/2006/relationships" id="264" r:id="R3d1ec74838d14b6f"/>
    <p:sldId xmlns:r="http://schemas.openxmlformats.org/officeDocument/2006/relationships" id="265" r:id="Rd74561ba0a0048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9a8bd447d54d27" /><Relationship Type="http://schemas.openxmlformats.org/officeDocument/2006/relationships/slideMaster" Target="/ppt/slideMasters/slideMaster1.xml" Id="R8dfa20d886074678" /><Relationship Type="http://schemas.openxmlformats.org/officeDocument/2006/relationships/notesMaster" Target="/ppt/notesMasters/notesMaster1.xml" Id="R4254cf508d2f4efc" /><Relationship Type="http://schemas.openxmlformats.org/officeDocument/2006/relationships/presProps" Target="/ppt/presProps.xml" Id="Rb458d703424b4c29" /><Relationship Type="http://schemas.openxmlformats.org/officeDocument/2006/relationships/tableStyles" Target="/ppt/tableStyles.xml" Id="R6ffbf7b1f3434051" /><Relationship Type="http://schemas.openxmlformats.org/officeDocument/2006/relationships/slide" Target="/ppt/slides/slide1.xml" Id="R5ffbd88150e64fa6" /><Relationship Type="http://schemas.openxmlformats.org/officeDocument/2006/relationships/slide" Target="/ppt/slides/slide2.xml" Id="Rd1df9c35922d4420" /><Relationship Type="http://schemas.openxmlformats.org/officeDocument/2006/relationships/slide" Target="/ppt/slides/slide3.xml" Id="Ra20516a66d4d47eb" /><Relationship Type="http://schemas.openxmlformats.org/officeDocument/2006/relationships/slide" Target="/ppt/slides/slide4.xml" Id="R0835cd633d544483" /><Relationship Type="http://schemas.openxmlformats.org/officeDocument/2006/relationships/slide" Target="/ppt/slides/slide5.xml" Id="R28ff57ae2e22405d" /><Relationship Type="http://schemas.openxmlformats.org/officeDocument/2006/relationships/slide" Target="/ppt/slides/slide6.xml" Id="R2d40a5f79b664180" /><Relationship Type="http://schemas.openxmlformats.org/officeDocument/2006/relationships/slide" Target="/ppt/slides/slide7.xml" Id="R3788447387044603" /><Relationship Type="http://schemas.openxmlformats.org/officeDocument/2006/relationships/slide" Target="/ppt/slides/slide8.xml" Id="R780204d1daed4db4" /><Relationship Type="http://schemas.openxmlformats.org/officeDocument/2006/relationships/slide" Target="/ppt/slides/slide9.xml" Id="R3d1ec74838d14b6f" /><Relationship Type="http://schemas.openxmlformats.org/officeDocument/2006/relationships/slide" Target="/ppt/slides/slide10.xml" Id="Rd74561ba0a0048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17dbb656c84e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727ef4ecb048d2" /><Relationship Type="http://schemas.openxmlformats.org/officeDocument/2006/relationships/notesMaster" Target="/ppt/notesMasters/notesMaster1.xml" Id="R170b8500aa3945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fcd0d5ae004f28" /><Relationship Type="http://schemas.openxmlformats.org/officeDocument/2006/relationships/notesMaster" Target="/ppt/notesMasters/notesMaster1.xml" Id="Recaec17ce3f645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78973ebe034855" /><Relationship Type="http://schemas.openxmlformats.org/officeDocument/2006/relationships/notesMaster" Target="/ppt/notesMasters/notesMaster1.xml" Id="R20eb276842054d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f810cbdb364ccb" /><Relationship Type="http://schemas.openxmlformats.org/officeDocument/2006/relationships/notesMaster" Target="/ppt/notesMasters/notesMaster1.xml" Id="Ra3cfd514d40049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f08ed8f07449e7" /><Relationship Type="http://schemas.openxmlformats.org/officeDocument/2006/relationships/notesMaster" Target="/ppt/notesMasters/notesMaster1.xml" Id="Reb278fce9f054e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debdabbf464e9b" /><Relationship Type="http://schemas.openxmlformats.org/officeDocument/2006/relationships/notesMaster" Target="/ppt/notesMasters/notesMaster1.xml" Id="R70981d4efef44d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c0a1b31bfd4106" /><Relationship Type="http://schemas.openxmlformats.org/officeDocument/2006/relationships/notesMaster" Target="/ppt/notesMasters/notesMaster1.xml" Id="R55102b8c77ce41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b9a22b763645f7" /><Relationship Type="http://schemas.openxmlformats.org/officeDocument/2006/relationships/notesMaster" Target="/ppt/notesMasters/notesMaster1.xml" Id="R5f908bb294de4d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1d5d6c77e74dc7" /><Relationship Type="http://schemas.openxmlformats.org/officeDocument/2006/relationships/notesMaster" Target="/ppt/notesMasters/notesMaster1.xml" Id="R0761e8fa326249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004e1f770e412a" /><Relationship Type="http://schemas.openxmlformats.org/officeDocument/2006/relationships/notesMaster" Target="/ppt/notesMasters/notesMaster1.xml" Id="R4c94399e3a644d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decision: the product helps an advisor prioritize postings, while final forwarding and authorization review stay human.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README.md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 advisor actions. Emphasize that the system supports triage rather than making immigration or hiring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role-fit corpus is already large. We completed a full-source authorization scan and packaged the evidence candidates for advisor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data_jobs_msba_project_sample_100k_metadata.json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- outputs/authorization_evidence_audit.json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M3 established that adaptation helps. M4 then tested a wider model and data choice and found that a lightweight linear model trained on the full split is both stronger and easier to 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outputs/final_model_comparison.json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mode router prevents a search sentence from being misclassified as a posting. The policy layer then handles missing fields and authorization independently from role 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msba_job_matcher/core.py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this is retrieval, not posting classification. The result list is filtered and reranked by explicit query constraints, then each retrieved posting receives a model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 - entry_level_analytics_search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four saved runs. The key case is a high-fit analyst role that explicitly says No OPT/CPT. The policy layer forces Hold, proving that authorization cannot be hidden by a strong fit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model uses all available training labels and outperforms the 2,000-row LoRA experiment. The lesson is not that linear models always win; it is that data utilization and reproducibility matter for this structured weak-label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makes 65 errors on the fixed weak-label set. We therefore prepared the human annotation queue, authorization benchmark, and time-based validation instead of treating weak-label agreement as advisor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- outputs/temporal_validation_results.json</a:t>
            </a:r>
          </a:p>
          <a:p xmlns:a="http://schemas.openxmlformats.org/drawingml/2006/main">
            <a:r>
              <a:t>- outputs/authorization_evidence_audit.json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what is complete: the system, time-based test, full-source authorization audit, and 1,000-row human-review queue. The blank advisor fields are an honest deployment boundary, not a missing model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docs/evaluation_summary.md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- docs/annotation_guide.md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a4bc8bdb2b4b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002c7a34d64ca3" /><Relationship Type="http://schemas.openxmlformats.org/officeDocument/2006/relationships/slideLayout" Target="/ppt/slideLayouts/slideLayout1.xml" Id="R82be10d8fe5b4c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be10d8fe5b4c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ad631714247e0" /><Relationship Type="http://schemas.openxmlformats.org/officeDocument/2006/relationships/notesSlide" Target="/ppt/notesSlides/notesSlide1.xml" Id="Rfac413f837fa4d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467544d404349" /><Relationship Type="http://schemas.openxmlformats.org/officeDocument/2006/relationships/notesSlide" Target="/ppt/notesSlides/notesSlide2.xml" Id="R046ba0c968a045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1d12c87c040eb" /><Relationship Type="http://schemas.openxmlformats.org/officeDocument/2006/relationships/notesSlide" Target="/ppt/notesSlides/notesSlide3.xml" Id="Rf4d5c543057541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fe0a4fce44750" /><Relationship Type="http://schemas.openxmlformats.org/officeDocument/2006/relationships/notesSlide" Target="/ppt/notesSlides/notesSlide4.xml" Id="Rc0ab5ce867b84d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6400910531456c" /><Relationship Type="http://schemas.openxmlformats.org/officeDocument/2006/relationships/notesSlide" Target="/ppt/notesSlides/notesSlide5.xml" Id="Rde23bdaa24b341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5e8215ac44e38" /><Relationship Type="http://schemas.openxmlformats.org/officeDocument/2006/relationships/notesSlide" Target="/ppt/notesSlides/notesSlide6.xml" Id="Rc37e1716c2a645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2e77cfbfb4062" /><Relationship Type="http://schemas.openxmlformats.org/officeDocument/2006/relationships/notesSlide" Target="/ppt/notesSlides/notesSlide7.xml" Id="R5791061b94844a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2815797fe40c1" /><Relationship Type="http://schemas.openxmlformats.org/officeDocument/2006/relationships/chart" Target="/ppt/slides/charts/chart1.xml" Id="Rb6f73d105ae94c4c" /><Relationship Type="http://schemas.openxmlformats.org/officeDocument/2006/relationships/notesSlide" Target="/ppt/notesSlides/notesSlide8.xml" Id="R7df9553960ac40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55906090f4709" /><Relationship Type="http://schemas.openxmlformats.org/officeDocument/2006/relationships/notesSlide" Target="/ppt/notesSlides/notesSlide9.xml" Id="R6a9a5fd655fd4fd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7cee68c64467a" /><Relationship Type="http://schemas.openxmlformats.org/officeDocument/2006/relationships/notesSlide" Target="/ppt/notesSlides/notesSlide10.xml" Id="Rb7f04f72d57e48b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79.3</c:v>
              </c:pt>
              <c:pt idx="1">
                <c:v>87.5</c:v>
              </c:pt>
              <c:pt idx="2">
                <c:v>98.4</c:v>
              </c:pt>
            </c:numLit>
          </c:val>
        </c:ser>
        <c:ser>
          <c:idx val="1"/>
          <c:order val="1"/>
          <c:tx>
            <c:v>Macro F1</c:v>
          </c:tx>
          <c:spPr>
            <a:solidFill xmlns:a="http://schemas.openxmlformats.org/drawingml/2006/main">
              <a:srgbClr val="D6532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78.5</c:v>
              </c:pt>
              <c:pt idx="1">
                <c:v>87.3</c:v>
              </c:pt>
              <c:pt idx="2">
                <c:v>98.4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F3771-E2AE-43F8-AE25-0A5E6590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ISBA 2411 | FINAL TEAM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CAE7A-2715-40E7-AF2F-EAA65493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11111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MSBA Job Matching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F81BE-D747-4F6D-8BEE-9B95AC8C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11111"/>
                </a:solidFill>
              </a:defRPr>
            </a:pPr>
            <a:r>
              <a:rPr sz="2700" b="0">
                <a:solidFill>
                  <a:srgbClr val="111111"/>
                </a:solidFill>
              </a:rPr>
              <a:t>Grounded NLP decision support for career advisors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AE03E-9EA6-4EAC-A347-911E4756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65D67"/>
                </a:solidFill>
              </a:defRPr>
            </a:pPr>
            <a:r>
              <a:rPr sz="1950" b="0">
                <a:solidFill>
                  <a:srgbClr val="565D67"/>
                </a:solidFill>
              </a:rPr>
              <a:t>Real postings -&gt; retrieved evidence -&gt; role-fit triage -&gt;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3EF0B-6441-4CF7-AD31-5D99F80D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8DFF"/>
                </a:solidFill>
              </a:defRPr>
            </a:pPr>
            <a:r>
              <a:rPr sz="1650" b="0">
                <a:solidFill>
                  <a:srgbClr val="3D8DFF"/>
                </a:solidFill>
              </a:rPr>
              <a:t>Yitong Wang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D1A34-1110-4E24-98C8-B37CDFCF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6850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342538E1-E710-4248-9BE4-EFF00ECD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advisor must separate fit, uncertainty, and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293F2-9318-4CC4-81E0-ABBD41EA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A useful system improves a specific decision: forward, hold, or investigate.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6257D-F8FB-4CE0-A195-3AA1F4E4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2</a:t>
            </a:r>
          </a:p>
        </p:txBody>
      </p:sp>
      <p:cxnSp>
        <p:nvCxnSpPr>
          <p:cNvPr id="17" name=""/>
          <p:cNvCxnSpPr/>
          <p:nvPr/>
        </p:nvCxnSpPr>
        <p:spPr>
          <a:xfrm xmlns:a="http://schemas.openxmlformats.org/drawingml/2006/main">
            <a:off x="41910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41BDD-A752-4E25-AE89-3FAF80C9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FORWARD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3CB68-EA62-447C-9278-2E0A1B93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Strong entry-level analytics fit supported by title, skills, and location evidence.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276725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977B7-8ABF-48DC-98F2-3722A6D1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9AC05-8981-44CE-9C88-DDF50163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Senior, engineering-heavy, or clearly misaligned roles require a conservative screen.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813435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37EA0-6690-4DFC-AF41-945DA1E8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532F"/>
                </a:solidFill>
              </a:defRPr>
            </a:pPr>
            <a:r>
              <a:rPr sz="2100" b="1">
                <a:solidFill>
                  <a:srgbClr val="D6532F"/>
                </a:solidFill>
              </a:rPr>
              <a:t>INVESTIGATE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B6EBD-1662-4117-B108-4413EB07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Incomplete fields or missing authorization language require human follow-up.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AAB008-F987-4C61-8765-3096D0F9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19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Role fit and work authorization are related in workflow, but they are not the same prediction task.</a:t>
            </a:r>
          </a:p>
        </p:txBody>
      </p:sp>
    </p:spTree>
    <p:extLst>
      <p:ext uri="{BB962C8B-B14F-4D97-AF65-F5344CB8AC3E}">
        <p14:creationId xmlns:p14="http://schemas.microsoft.com/office/powerpoint/2010/main" val="12154804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973916A-4760-4A3C-B59B-A672B738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Label quality, not data volume, is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D5848-0B33-41B1-9413-739A1B48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final model uses the full training split and audits all 785,741 source rows.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60F2C-B8FA-40E4-8B5C-47378712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B55ED-1215-4052-86E9-EBB52306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18D5FB-DCB9-4689-B237-2D780694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785,741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2BE20-6634-4954-85E3-73E8D977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original public job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D7E8FA-5A58-4119-A9F3-E6C91CBD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86651F-3CD6-444D-BBA5-633EAF8C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CB2-6289-47DD-991E-21C917B9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stratified project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48ACF-CCB4-4E1F-B657-51866B1B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36C86-FC91-400F-967C-20953B98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77,135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F1817-F65C-48CD-BCC0-DA161AA5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deduplicated training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2C1B87-E55F-4F63-918E-49BACDCA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8C685-2359-4F3B-9913-685C5C21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11DF0-F4BD-4D5F-BA88-477B1A43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unique authorization candidates</a:t>
            </a:r>
          </a:p>
        </p:txBody>
      </p:sp>
    </p:spTree>
    <p:extLst>
      <p:ext uri="{BB962C8B-B14F-4D97-AF65-F5344CB8AC3E}">
        <p14:creationId xmlns:p14="http://schemas.microsoft.com/office/powerpoint/2010/main" val="19263382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9C23E98A-7FE3-407D-868D-26B1297A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Each milestone changed the final technical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377BA-E90A-4FBA-A532-9627C83C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4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800100" y="3238500"/>
            <a:ext cx="10191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EA94D-6FC9-469C-9EDA-0AC37B89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124AB-3A9B-4CA8-8807-49AD394F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83ED7-734A-4224-BC89-27FFB6D1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Represent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74DD9B-FADA-410A-9A2F-4B6FCE11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TF-IDF + MiniLM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20k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F5F86E-48C9-4F10-839D-B0E4C889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6722A-F52E-4544-BC4D-49B376D8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AA3C8-15FC-4349-BFB8-A9236149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Adapt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619BB-5AE6-423F-AC9E-57456E9F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Zero-shot + few-shot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true PEFT LoRA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EE3207-5E75-4F30-9451-DDB35F05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AA02E-CE2C-446D-BEE2-6057D211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BD2476-FD38-4E76-9101-98A63450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Integrate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44F042-D4ED-4480-9B69-23479A93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80k-trained classifier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retrieval + policy gates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58A73-478D-4AC4-BFD3-732A8E0E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1363A0-9D43-48C6-9388-E594FA09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769763-5DE7-46BB-83CF-B74805B4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532F"/>
                </a:solidFill>
              </a:defRPr>
            </a:pPr>
            <a:r>
              <a:rPr sz="2250" b="1">
                <a:solidFill>
                  <a:srgbClr val="D6532F"/>
                </a:solidFill>
              </a:rPr>
              <a:t>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27727-F2D3-492A-A8B4-8DD28F97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Leakage audit, tests,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demo, and governance</a:t>
            </a:r>
          </a:p>
        </p:txBody>
      </p:sp>
    </p:spTree>
    <p:extLst>
      <p:ext uri="{BB962C8B-B14F-4D97-AF65-F5344CB8AC3E}">
        <p14:creationId xmlns:p14="http://schemas.microsoft.com/office/powerpoint/2010/main" val="16757595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AC551BE6-9C7B-4717-A98C-B1A1DEC0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Two input modes prevent a subtle but costly task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DDA2F-9C1C-478A-B203-6F6CB1D6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Search requests retrieve candidates; only job postings receive a role-fit label.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E05A3-4977-47C5-8F79-7C2C2965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5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22098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45148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8199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91249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20441-CC1F-4AC9-A364-E24B2E6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0E1BD-A384-434A-B958-1FEE44F4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240ED-AAE8-4D03-A19B-8C318DED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ROUTE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29D61-7B12-405F-894C-A5BDB8EC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Search request or job posting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793CC-2EB7-41D5-83CD-219B3D2B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9A091-6414-4A99-82BD-6CC73361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654EED-00A9-444F-82DA-3D9DAB21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RETRIEVE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E0E3D-F671-43C2-8A7D-EC59FDBE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80k index + constraints + dedupe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FAC424-5791-4CEB-B82A-9DACB47A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8C43D-BAC9-4464-BA7A-57B8E1E8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940920-81D7-4B65-B224-0DD2787F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CLASSIFY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40ACB-E816-4568-8E98-68649D33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77,135-row TF-IDF SVM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D8A9E5-9CB1-44D8-AD75-A5410F9E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21F02-1A2D-4120-8FFC-75BA6CBE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776A57-5FD6-4F6D-9D3A-120659D2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264A2-6921-437C-A375-86F287EA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Missing fields + authorization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0E46DF-FCFF-48A5-B919-19BDC6F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1731E9-574D-4DA6-B957-191B1105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532F"/>
                </a:solidFill>
              </a:defRPr>
            </a:pPr>
            <a:r>
              <a:rPr sz="1950" b="1">
                <a:solidFill>
                  <a:srgbClr val="D6532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BD6F1E-0962-43ED-9BAC-C5B79B40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FCAA64-382C-48A3-A14C-1694125F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Cited evidence and final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E0C66F-51CF-4F14-8B2B-230350C8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A high role-fit score can never override an explicit authorization restriction.</a:t>
            </a:r>
          </a:p>
        </p:txBody>
      </p:sp>
    </p:spTree>
    <p:extLst>
      <p:ext uri="{BB962C8B-B14F-4D97-AF65-F5344CB8AC3E}">
        <p14:creationId xmlns:p14="http://schemas.microsoft.com/office/powerpoint/2010/main" val="17272061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80C78B83-9975-4C0F-A243-6D68053E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Search mode returns constrained, inspectable candidates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558DB-4C5B-4916-B819-7A033BF5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top five results satisfy the requested US constraint; the search sentence is not misclassified.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37AF0-212E-4383-92C8-F9E1940A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A3A88-B206-4668-8408-1E2C33CD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811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338032-879C-4540-9CDE-E35D9C00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524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Find entry-level US data analyst, business analyst, or BI roles with SQL, Python, Excel, Tableau, or Power BI. Remote roles are acceptable.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C7A33-4375-4158-88A6-0979C210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66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66C51-8642-47AC-ABAB-DD5188D7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6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BEADA-BDC5-4BA6-AEBD-A79FF21E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361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435153-08E7-48A8-9AC0-2E0F6D5B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66975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POSTING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DE2FC-06A0-45B3-A243-36976B10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9FD13-F648-4A7F-B6C9-D7529D9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66975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COMPANY / LOCATION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DEDFF-B2B6-4B72-A8F7-E3CAB964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EC370C-F702-4AE8-ABA5-C8DCB68E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66975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C8B64-8ECC-4CB6-BFD5-46CDC775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431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E05889-05AE-4CCF-80F4-B6412C9D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D5CEE5-4C64-476A-9D5D-62D879FD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003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25832-C459-4609-A178-B5CA1EDE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146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FC629-3D40-45CD-A069-5B581A94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003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B3E4F2-318D-4AB8-9ABB-77E4988C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146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0FB70-52B6-4BA0-824D-79D5929D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003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4BDF02-D16C-461A-83A6-3783F9D7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146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HireMatch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962EA5-AABB-4BF0-B4AE-277828FC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003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DF35C8-1384-4488-921C-8E67CA89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146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78C806-3A6A-425C-B08E-019D8670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003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465A69-C5F8-418B-941F-747FFC8B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146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10.354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3F7BD4-E1DA-4C43-B480-9B3B5A8D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242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A0054-C9B5-472A-91BA-96CEDE7E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3E3EB9-ADC8-41AC-95AE-E4E54159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620463-57FD-421E-9F32-133F24BF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385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 (US REMOTE)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B57F84-2092-4AE9-9A75-BB2483E4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242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99C7DB-4FC5-46C6-BBD7-C0B75BB5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385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LeanTaaS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F3B23B-0CB8-4705-BAD2-80C4F38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BCDF7D-E1A2-4354-BFDA-7D42D024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86EFF1-7E76-464A-B574-6EE39463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DAEB70-8702-46B5-B3F9-39547E64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385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9.158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830468-B818-4698-A921-39209D33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481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7805C7-E01F-4210-8EDD-46FA4122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624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4D006A-B7EF-4417-AD5D-D740AA22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AA2036-3B77-4A5A-BF37-E882137E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758123-A94A-4B9F-BB38-4896306B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481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1BAE681-A575-49A2-9CF9-A2825653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24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HMP Global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8ED49AA-FED5-46B3-A1A3-69D12A8B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B35FD3-44AC-41E7-A984-58AD7F4D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624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9117C7-CC35-4D46-993D-D89E5240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481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7C469BF-F909-4BAF-AA20-593071A7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3624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9.055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0CB438-D76C-4BDC-9F47-E6C304CD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Review six retrieved postings; the top five satisfy the US constraint.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F03E76-AD35-4194-9D9A-424D799C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340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6532F"/>
                </a:solidFill>
              </a:defRPr>
            </a:pPr>
            <a:r>
              <a:rPr sz="1500" b="0">
                <a:solidFill>
                  <a:srgbClr val="D6532F"/>
                </a:solidFill>
              </a:rPr>
              <a:t>Authorization: verify separately unless explicit source text is present.</a:t>
            </a:r>
          </a:p>
        </p:txBody>
      </p:sp>
    </p:spTree>
    <p:extLst>
      <p:ext uri="{BB962C8B-B14F-4D97-AF65-F5344CB8AC3E}">
        <p14:creationId xmlns:p14="http://schemas.microsoft.com/office/powerpoint/2010/main" val="2005675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091F933D-5BC1-4592-AB3C-F7FB5764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Edge cases change the action, not the safety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665034-DB1F-4CD8-8807-77A2227D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7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191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20156-63F0-4307-AB7F-B65B5A4E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ENTRY LEVEL ANALYTICS SEARCH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ACA95-FE86-47ED-AC77-7B31D09B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search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4DC61-1541-4E0A-A1DB-28AF26C7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Find US analytics opportunities for advisor review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62484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8BC0F-EB2A-4399-AD92-9AA5737A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SENIOR ENGINEERING POSTING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0344E-BC56-4736-8D2E-C9AC5E9E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low_fit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D3C2D-407E-4ADE-B40B-3C374C11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Hold a role that is too senior and engineering-heavy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191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2D426D-2CDE-4E06-8337-7E870BDE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AUTHORIZATION RESTRICTION POSTING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C86821-BA00-413D-A61A-8F8C5099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6532F"/>
                </a:solidFill>
              </a:defRPr>
            </a:pPr>
            <a:r>
              <a:rPr sz="2325" b="1">
                <a:solidFill>
                  <a:srgbClr val="D6532F"/>
                </a:solidFill>
              </a:rPr>
              <a:t>high_fit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EFE464-4BA9-4E59-9328-AB748EE6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 role fit, but No OPT/CPT forces Hold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62484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DC565-D5DE-448A-9CA5-22F3A7B1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THIN METADATA POSTING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C91FC9-24F9-4EDE-98C4-82571609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unclear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CA84B-D53C-4B47-AECB-168B0E38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Missing fields override medium_fit to unclear</a:t>
            </a:r>
          </a:p>
        </p:txBody>
      </p:sp>
    </p:spTree>
    <p:extLst>
      <p:ext uri="{BB962C8B-B14F-4D97-AF65-F5344CB8AC3E}">
        <p14:creationId xmlns:p14="http://schemas.microsoft.com/office/powerpoint/2010/main" val="18100165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E3F2AD5F-21F7-4F0F-9526-2B06FE93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Using all training data beats extra model complexity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98B38-BB30-4CC6-B9E8-299AA8B3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8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409700"/>
          <a:ext xmlns:a="http://schemas.openxmlformats.org/drawingml/2006/main" cx="6191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f73d105ae94c4c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8CBBA-279C-4C88-9F15-93C6FD70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668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007AE-5502-43F3-B334-ED20468C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98.4%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5D210-D43B-4B0D-A283-0C2C37ED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335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fixed-set macro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C8EF9-AB3C-473C-AEE8-7C5C315A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AEDF4-24E1-4A12-A8E0-E46626B0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242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2226C-573E-4DD0-B3F8-5E4A81B0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19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novel-text macro 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8AAE7-B680-4F91-965D-5FCA3B6E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386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DEFA1C-CB43-4618-9041-BBD298CC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6532F"/>
                </a:solidFill>
              </a:defRPr>
            </a:pPr>
            <a:r>
              <a:rPr sz="3150" b="1">
                <a:solidFill>
                  <a:srgbClr val="D6532F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1E8A9-B9D0-4981-9665-9DF7ED10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unsupported authorization claims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B29B5-B62A-4652-8039-E08F6175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The final 3.8 MB model trains in under one minute.</a:t>
            </a:r>
          </a:p>
        </p:txBody>
      </p:sp>
    </p:spTree>
    <p:extLst>
      <p:ext uri="{BB962C8B-B14F-4D97-AF65-F5344CB8AC3E}">
        <p14:creationId xmlns:p14="http://schemas.microsoft.com/office/powerpoint/2010/main" val="3950238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506DBA37-9943-4251-B1E5-31F8FD0D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remaining risk is label validity, not model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35588-8C03-418F-B977-4A0ABED6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939B3-C698-4728-8079-E0210C6E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FIXED 4K ERRORS BY TRUE LABEL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D37AE-85E6-4710-A612-1D416E07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high_fit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1D95D-D2E1-41B2-853D-0537A8FB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19300"/>
            <a:ext cx="1771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D86FF-03AF-4B12-AFDB-4ED5CB47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002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5326F-5CB4-4D1D-BEC3-21AA7BC2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medium_fit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440EE-D985-4ACE-88A0-3B09BBF8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76771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4ED2C-6AB5-412E-9E18-97D22BE3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05BDB-468E-4253-87A1-81CD253D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low_fit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DA4E7-A627-4C48-ABE3-ED5C10A5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05200"/>
            <a:ext cx="4724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CBE48-BEF6-4561-84A1-1BFF43C6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86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B8014-EC34-46D5-AE32-EC976689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unclear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82F2B-C0B4-4C92-8688-577F11B4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242125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F97EEC-1697-417F-8753-61B123F7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291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41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6819900" y="1524000"/>
            <a:ext cx="457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4F3CCE-DC47-4010-9FE2-B297ADAA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DEPLOYMENT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9E0488-8B42-4766-B43C-4EC9F146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62200"/>
            <a:ext cx="4286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Treat 0.984 as weak-label agreement, not advisor accuracy.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4BBDFD-B1E3-4BFC-BE85-9AB05992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Prepared validation assets: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1,000-row advisor queue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430-row authorization benchmark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Time-split macro F1 0.976</a:t>
            </a:r>
          </a:p>
        </p:txBody>
      </p:sp>
    </p:spTree>
    <p:extLst>
      <p:ext uri="{BB962C8B-B14F-4D97-AF65-F5344CB8AC3E}">
        <p14:creationId xmlns:p14="http://schemas.microsoft.com/office/powerpoint/2010/main" val="18991280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64AA27-8E53-46DF-A575-856507B6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DELIVERED VALIDATION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47CF7-89F6-44B9-B16A-26EFB2EB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The system and its human-review package are complete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39433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79925-FD31-49AF-AC14-09969432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Delivered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3D693D-B4E3-4972-AF92-FC27DF1F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4000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Trained classifier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Four-case policy test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Time-based validation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Reproducible CLI and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FFFD6-9989-476A-8097-888CAB75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86300"/>
            <a:ext cx="19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66042-C472-421A-B7FF-615E831F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6532F"/>
                </a:solidFill>
              </a:defRPr>
            </a:pPr>
            <a:r>
              <a:rPr sz="1575" b="1">
                <a:solidFill>
                  <a:srgbClr val="D6532F"/>
                </a:solidFill>
              </a:rPr>
              <a:t>PREPARED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7703DF-D4A8-4B3C-8236-EC661883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57750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1,000-row advisor annotation queue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230 unique authorization candidates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430-row candidate/control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1831C-7C3F-4C17-AA9F-39FB544B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165937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2026-08-05T04:05:11.2370000Z</dcterms:created>
  <dcterms:modified xsi:type="dcterms:W3CDTF">2026-08-05T04:05:11.2370000Z</dcterms:modified>
</coreProperties>
</file>