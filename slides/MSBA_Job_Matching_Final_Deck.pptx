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f652b0db0c40c7" /><Relationship Type="http://schemas.openxmlformats.org/officeDocument/2006/relationships/extended-properties" Target="/docProps/app.xml" Id="R0ab1d3a85a7d44f8" /><Relationship Type="http://schemas.openxmlformats.org/officeDocument/2006/relationships/officeDocument" Target="/ppt/presentation.xml" Id="Ra7a181df65184a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9af1d80c304a53"/>
  </p:sldMasterIdLst>
  <p:notesMasterIdLst>
    <p:notesMasterId xmlns:r="http://schemas.openxmlformats.org/officeDocument/2006/relationships" r:id="Re23f7da17dea4144"/>
  </p:notesMasterIdLst>
  <p:sldIdLst>
    <p:sldId xmlns:r="http://schemas.openxmlformats.org/officeDocument/2006/relationships" id="256" r:id="R102dcf91f5c74ecd"/>
    <p:sldId xmlns:r="http://schemas.openxmlformats.org/officeDocument/2006/relationships" id="257" r:id="Rff192712ad214951"/>
    <p:sldId xmlns:r="http://schemas.openxmlformats.org/officeDocument/2006/relationships" id="258" r:id="R1125972501be4e7d"/>
    <p:sldId xmlns:r="http://schemas.openxmlformats.org/officeDocument/2006/relationships" id="259" r:id="R081b191ede1046c2"/>
    <p:sldId xmlns:r="http://schemas.openxmlformats.org/officeDocument/2006/relationships" id="260" r:id="Ra9e8e2a0a2f34cb7"/>
    <p:sldId xmlns:r="http://schemas.openxmlformats.org/officeDocument/2006/relationships" id="261" r:id="Rfbdcb05825564ed3"/>
    <p:sldId xmlns:r="http://schemas.openxmlformats.org/officeDocument/2006/relationships" id="262" r:id="R572638e9f293434c"/>
    <p:sldId xmlns:r="http://schemas.openxmlformats.org/officeDocument/2006/relationships" id="263" r:id="R724978658f524156"/>
    <p:sldId xmlns:r="http://schemas.openxmlformats.org/officeDocument/2006/relationships" id="264" r:id="R9920695a6bbb4118"/>
    <p:sldId xmlns:r="http://schemas.openxmlformats.org/officeDocument/2006/relationships" id="265" r:id="R4e43aeba136f4cd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0f0f0264fd4e07" /><Relationship Type="http://schemas.openxmlformats.org/officeDocument/2006/relationships/slideMaster" Target="/ppt/slideMasters/slideMaster1.xml" Id="R5a9af1d80c304a53" /><Relationship Type="http://schemas.openxmlformats.org/officeDocument/2006/relationships/notesMaster" Target="/ppt/notesMasters/notesMaster1.xml" Id="Re23f7da17dea4144" /><Relationship Type="http://schemas.openxmlformats.org/officeDocument/2006/relationships/presProps" Target="/ppt/presProps.xml" Id="R8a4f009e5808468b" /><Relationship Type="http://schemas.openxmlformats.org/officeDocument/2006/relationships/tableStyles" Target="/ppt/tableStyles.xml" Id="Rae4decbb6f6241a8" /><Relationship Type="http://schemas.openxmlformats.org/officeDocument/2006/relationships/slide" Target="/ppt/slides/slide1.xml" Id="R102dcf91f5c74ecd" /><Relationship Type="http://schemas.openxmlformats.org/officeDocument/2006/relationships/slide" Target="/ppt/slides/slide2.xml" Id="Rff192712ad214951" /><Relationship Type="http://schemas.openxmlformats.org/officeDocument/2006/relationships/slide" Target="/ppt/slides/slide3.xml" Id="R1125972501be4e7d" /><Relationship Type="http://schemas.openxmlformats.org/officeDocument/2006/relationships/slide" Target="/ppt/slides/slide4.xml" Id="R081b191ede1046c2" /><Relationship Type="http://schemas.openxmlformats.org/officeDocument/2006/relationships/slide" Target="/ppt/slides/slide5.xml" Id="Ra9e8e2a0a2f34cb7" /><Relationship Type="http://schemas.openxmlformats.org/officeDocument/2006/relationships/slide" Target="/ppt/slides/slide6.xml" Id="Rfbdcb05825564ed3" /><Relationship Type="http://schemas.openxmlformats.org/officeDocument/2006/relationships/slide" Target="/ppt/slides/slide7.xml" Id="R572638e9f293434c" /><Relationship Type="http://schemas.openxmlformats.org/officeDocument/2006/relationships/slide" Target="/ppt/slides/slide8.xml" Id="R724978658f524156" /><Relationship Type="http://schemas.openxmlformats.org/officeDocument/2006/relationships/slide" Target="/ppt/slides/slide9.xml" Id="R9920695a6bbb4118" /><Relationship Type="http://schemas.openxmlformats.org/officeDocument/2006/relationships/slide" Target="/ppt/slides/slide10.xml" Id="R4e43aeba136f4c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5483d430d146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5705d35a784a68" /><Relationship Type="http://schemas.openxmlformats.org/officeDocument/2006/relationships/notesMaster" Target="/ppt/notesMasters/notesMaster1.xml" Id="R09bc4c6e7d0c47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29b068a4fa747b1" /><Relationship Type="http://schemas.openxmlformats.org/officeDocument/2006/relationships/notesMaster" Target="/ppt/notesMasters/notesMaster1.xml" Id="Ra438edf5b654403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4ec31b50a144e3" /><Relationship Type="http://schemas.openxmlformats.org/officeDocument/2006/relationships/notesMaster" Target="/ppt/notesMasters/notesMaster1.xml" Id="Rd4b43ae0e4b74e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da56f3d77d4fb9" /><Relationship Type="http://schemas.openxmlformats.org/officeDocument/2006/relationships/notesMaster" Target="/ppt/notesMasters/notesMaster1.xml" Id="Rf63221f2d05541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7aa13177bbe4731" /><Relationship Type="http://schemas.openxmlformats.org/officeDocument/2006/relationships/notesMaster" Target="/ppt/notesMasters/notesMaster1.xml" Id="R08a84320e8d74c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966a53fe5854a0f" /><Relationship Type="http://schemas.openxmlformats.org/officeDocument/2006/relationships/notesMaster" Target="/ppt/notesMasters/notesMaster1.xml" Id="R0efda3ed765148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c8bccdd25b4e44" /><Relationship Type="http://schemas.openxmlformats.org/officeDocument/2006/relationships/notesMaster" Target="/ppt/notesMasters/notesMaster1.xml" Id="R4ecb8d9add364f1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f5c454ff8f4338" /><Relationship Type="http://schemas.openxmlformats.org/officeDocument/2006/relationships/notesMaster" Target="/ppt/notesMasters/notesMaster1.xml" Id="R25ff0afbd13d4f5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7f491a3e0034869" /><Relationship Type="http://schemas.openxmlformats.org/officeDocument/2006/relationships/notesMaster" Target="/ppt/notesMasters/notesMaster1.xml" Id="R3bc2799db324488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4ebbc755744d45" /><Relationship Type="http://schemas.openxmlformats.org/officeDocument/2006/relationships/notesMaster" Target="/ppt/notesMasters/notesMaster1.xml" Id="Rc4673d9bf0cc40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business decision: the product helps an advisor prioritize postings, while final forwarding and authorization review stay human.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 README.md</a:t>
            </a:r>
          </a:p>
          <a:p xmlns:a="http://schemas.openxmlformats.org/drawingml/2006/main">
            <a:r>
              <a:t>- docs/problem_statement.md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three advisor actions. Emphasize that the system supports triage rather than making immigration or hiring decisions.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docs/problem_statement.md</a:t>
            </a:r>
          </a:p>
          <a:p xmlns:a="http://schemas.openxmlformats.org/drawingml/2006/main">
            <a:r>
              <a:t>- docs/governance_risk_appendix.md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public role-fit corpus is already large. We completed a full-source authorization scan and packaged the evidence candidates for advisor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data_jobs_msba_project_sample_100k_metadata.json</a:t>
            </a:r>
          </a:p>
          <a:p xmlns:a="http://schemas.openxmlformats.org/drawingml/2006/main">
            <a:r>
              <a:t>- models/job_fit_tfidf_svc_metrics.json</a:t>
            </a:r>
          </a:p>
          <a:p xmlns:a="http://schemas.openxmlformats.org/drawingml/2006/main">
            <a:r>
              <a:t>- outputs/authorization_evidence_audit.json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M3 established that adaptation helps. M4 then tested a wider model and data choice and found that a lightweight linear model trained on the full split is both stronger and easier to 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outputs/milestone2_baseline_results.json</a:t>
            </a:r>
          </a:p>
          <a:p xmlns:a="http://schemas.openxmlformats.org/drawingml/2006/main">
            <a:r>
              <a:t>- outputs/milestone3_adaptation_results.json</a:t>
            </a:r>
          </a:p>
          <a:p xmlns:a="http://schemas.openxmlformats.org/drawingml/2006/main">
            <a:r>
              <a:t>- outputs/final_model_comparison.json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mode router prevents a search sentence from being misclassified as a posting. Verifiable search constraints are enforced before ranking. The policy layer uses class-specific calibrated margins, then handles missing fields and authorization independently from role fit.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msba_job_matcher/core.py</a:t>
            </a:r>
          </a:p>
          <a:p xmlns:a="http://schemas.openxmlformats.org/drawingml/2006/main">
            <a:r>
              <a:t>- models/review_policy.json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this is retrieval, not posting classification. The result list is filtered and reranked by explicit query constraints, then each retrieved posting receives a model label.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outputs/final_casebook_outputs.json - entry_level_analytics_search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the four saved runs. The key case is a high-fit analyst role that explicitly says No OPT/CPT. The policy layer forces Hold, proving that authorization cannot be hidden by a strong fit score.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outputs/final_casebook_outputs.json</a:t>
            </a:r>
          </a:p>
          <a:p xmlns:a="http://schemas.openxmlformats.org/drawingml/2006/main">
            <a:r>
              <a:t>- docs/governance_risk_appendix.md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comparison directly. What did not work best was adding model complexity while using only 2,000 weakly labeled rows: LoRA improved on the baseline but stopped at 87.3 percent macro F1. What worked was a word-and-character model trained on all 77,135 deduplicated rows. The lesson is not that linear models always win; it is that data utilization and reproducibility mattered for this structured weak-label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outputs/milestone2_baseline_results.json</a:t>
            </a:r>
          </a:p>
          <a:p xmlns:a="http://schemas.openxmlformats.org/drawingml/2006/main">
            <a:r>
              <a:t>- outputs/milestone3_adaptation_results.json</a:t>
            </a:r>
          </a:p>
          <a:p xmlns:a="http://schemas.openxmlformats.org/drawingml/2006/main">
            <a:r>
              <a:t>- outputs/final_evaluation_results.json</a:t>
            </a:r>
          </a:p>
          <a:p xmlns:a="http://schemas.openxmlformats.org/drawingml/2006/main">
            <a:r>
              <a:t>- models/job_fit_tfidf_svc_metrics.json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model makes 65 errors on the fixed weak-label set, so the production policy is calibrated on one 10,000-row half and audited on another. It retains 91.63 percent coverage at 99.47 percent weak-label accuracy. A separate six-query audit records zero hard-constraint violations across 36 search results.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outputs/final_evaluation_results.json</a:t>
            </a:r>
          </a:p>
          <a:p xmlns:a="http://schemas.openxmlformats.org/drawingml/2006/main">
            <a:r>
              <a:t>- models/review_policy.json</a:t>
            </a:r>
          </a:p>
          <a:p xmlns:a="http://schemas.openxmlformats.org/drawingml/2006/main">
            <a:r>
              <a:t>- outputs/search_constraint_audit.json</a:t>
            </a:r>
          </a:p>
          <a:p xmlns:a="http://schemas.openxmlformats.org/drawingml/2006/main">
            <a:r>
              <a:t>- outputs/temporal_validation_results.json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what is complete: the trained system, calibrated uncertainty policy, hard-constraint search audit, batch workflow, time-based test, full-source authorization audit, and human-review package. The blank advisor fields are an honest deployment boundary, not a missing model output.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docs/evaluation_summary.md</a:t>
            </a:r>
          </a:p>
          <a:p xmlns:a="http://schemas.openxmlformats.org/drawingml/2006/main">
            <a:r>
              <a:t>- docs/governance_risk_appendix.md</a:t>
            </a:r>
          </a:p>
          <a:p xmlns:a="http://schemas.openxmlformats.org/drawingml/2006/main">
            <a:r>
              <a:t>- models/review_policy.json</a:t>
            </a:r>
          </a:p>
          <a:p xmlns:a="http://schemas.openxmlformats.org/drawingml/2006/main">
            <a:r>
              <a:t>- outputs/search_constraint_audit.json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011ecee837442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e9af46b76df4fef" /><Relationship Type="http://schemas.openxmlformats.org/officeDocument/2006/relationships/slideLayout" Target="/ppt/slideLayouts/slideLayout1.xml" Id="Ref499be4c95144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499be4c95144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78ac1a592a4819" /><Relationship Type="http://schemas.openxmlformats.org/officeDocument/2006/relationships/notesSlide" Target="/ppt/notesSlides/notesSlide1.xml" Id="R75e62ab6adc141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587319dd145c8" /><Relationship Type="http://schemas.openxmlformats.org/officeDocument/2006/relationships/notesSlide" Target="/ppt/notesSlides/notesSlide2.xml" Id="Rac1845ecde5540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45e9728d34e2d" /><Relationship Type="http://schemas.openxmlformats.org/officeDocument/2006/relationships/notesSlide" Target="/ppt/notesSlides/notesSlide3.xml" Id="R7539f8e2afbb42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e5eaab2bec46ba" /><Relationship Type="http://schemas.openxmlformats.org/officeDocument/2006/relationships/notesSlide" Target="/ppt/notesSlides/notesSlide4.xml" Id="R0f201197791646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7831503f28404c" /><Relationship Type="http://schemas.openxmlformats.org/officeDocument/2006/relationships/notesSlide" Target="/ppt/notesSlides/notesSlide5.xml" Id="R64b2d01474cf4ea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60282a3017430b" /><Relationship Type="http://schemas.openxmlformats.org/officeDocument/2006/relationships/notesSlide" Target="/ppt/notesSlides/notesSlide6.xml" Id="R9f1e10f527a2428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0796e49cf940f3" /><Relationship Type="http://schemas.openxmlformats.org/officeDocument/2006/relationships/notesSlide" Target="/ppt/notesSlides/notesSlide7.xml" Id="R504d35f04d914f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50382405547a8" /><Relationship Type="http://schemas.openxmlformats.org/officeDocument/2006/relationships/chart" Target="/ppt/slides/charts/chart1.xml" Id="R8cfdfec96331477e" /><Relationship Type="http://schemas.openxmlformats.org/officeDocument/2006/relationships/notesSlide" Target="/ppt/notesSlides/notesSlide8.xml" Id="R3e4b1a260e2745c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ce3e69378043c2" /><Relationship Type="http://schemas.openxmlformats.org/officeDocument/2006/relationships/notesSlide" Target="/ppt/notesSlides/notesSlide9.xml" Id="R5ccd9e957b8b424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f789204fd94b94" /><Relationship Type="http://schemas.openxmlformats.org/officeDocument/2006/relationships/notesSlide" Target="/ppt/notesSlides/notesSlide10.xml" Id="R778060ea3ee64ada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Accuracy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3"/>
              <c:pt idx="0">
                <c:v>M2 baseline</c:v>
              </c:pt>
              <c:pt idx="1">
                <c:v>M3 PEFT LoRA</c:v>
              </c:pt>
              <c:pt idx="2">
                <c:v>Final classifier</c:v>
              </c:pt>
            </c:strLit>
          </c:cat>
          <c:val>
            <c:numLit>
              <c:formatCode>General</c:formatCode>
              <c:ptCount val="3"/>
              <c:pt idx="0">
                <c:v>79.3</c:v>
              </c:pt>
              <c:pt idx="1">
                <c:v>87.5</c:v>
              </c:pt>
              <c:pt idx="2">
                <c:v>98.4</c:v>
              </c:pt>
            </c:numLit>
          </c:val>
        </c:ser>
        <c:ser>
          <c:idx val="1"/>
          <c:order val="1"/>
          <c:tx>
            <c:v>Macro F1</c:v>
          </c:tx>
          <c:spPr>
            <a:solidFill xmlns:a="http://schemas.openxmlformats.org/drawingml/2006/main">
              <a:srgbClr val="D6532F"/>
            </a:solidFill>
          </c:spPr>
          <c:cat>
            <c:strLit>
              <c:ptCount val="3"/>
              <c:pt idx="0">
                <c:v>M2 baseline</c:v>
              </c:pt>
              <c:pt idx="1">
                <c:v>M3 PEFT LoRA</c:v>
              </c:pt>
              <c:pt idx="2">
                <c:v>Final classifier</c:v>
              </c:pt>
            </c:strLit>
          </c:cat>
          <c:val>
            <c:numLit>
              <c:formatCode>General</c:formatCode>
              <c:ptCount val="3"/>
              <c:pt idx="0">
                <c:v>78.5</c:v>
              </c:pt>
              <c:pt idx="1">
                <c:v>87.3</c:v>
              </c:pt>
              <c:pt idx="2">
                <c:v>98.4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2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E04B4E-3600-49D9-A886-0784CCC4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D67"/>
                </a:solidFill>
              </a:defRPr>
            </a:pPr>
            <a:r>
              <a:rPr sz="1800" b="0">
                <a:solidFill>
                  <a:srgbClr val="565D67"/>
                </a:solidFill>
              </a:rPr>
              <a:t>ISBA 2411 | FINAL TEAM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70C986-0EE4-4CB0-BA39-94B31EDD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9525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11111"/>
                </a:solidFill>
              </a:defRPr>
            </a:pPr>
            <a:r>
              <a:rPr sz="5400" b="1">
                <a:solidFill>
                  <a:srgbClr val="111111"/>
                </a:solidFill>
              </a:rPr>
              <a:t>MSBA Job Matching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FA4D41-0C5A-44F7-B771-FAEEE046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11111"/>
                </a:solidFill>
              </a:defRPr>
            </a:pPr>
            <a:r>
              <a:rPr sz="2700" b="0">
                <a:solidFill>
                  <a:srgbClr val="111111"/>
                </a:solidFill>
              </a:rPr>
              <a:t>Grounded NLP decision support for career advisors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F47023-ED47-4A13-9912-1334FE51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65D67"/>
                </a:solidFill>
              </a:defRPr>
            </a:pPr>
            <a:r>
              <a:rPr sz="1950" b="0">
                <a:solidFill>
                  <a:srgbClr val="565D67"/>
                </a:solidFill>
              </a:rPr>
              <a:t>Real postings -&gt; retrieved evidence -&gt; role-fit triage -&gt; human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36A72D-E24E-4796-A710-1C068625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D8DFF"/>
                </a:solidFill>
              </a:defRPr>
            </a:pPr>
            <a:r>
              <a:rPr sz="1650" b="0">
                <a:solidFill>
                  <a:srgbClr val="3D8DFF"/>
                </a:solidFill>
              </a:rPr>
              <a:t>Yitong Wang | Zhike Yan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0EF13-E5B4-4DA0-9EE5-35C6F3ED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7905004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74556003-EC26-4A05-BBE1-9019CC52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The advisor must separate fit, uncertainty, and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95B155-F18F-4DE6-B1EC-2E6F5F90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A useful system improves a specific decision: forward, hold, or investigate.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C3E404-8C1E-4BB3-BE7A-C76BE309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2</a:t>
            </a:r>
          </a:p>
        </p:txBody>
      </p:sp>
      <p:cxnSp>
        <p:nvCxnSpPr>
          <p:cNvPr id="17" name=""/>
          <p:cNvCxnSpPr/>
          <p:nvPr/>
        </p:nvCxnSpPr>
        <p:spPr>
          <a:xfrm xmlns:a="http://schemas.openxmlformats.org/drawingml/2006/main">
            <a:off x="419100" y="27241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DD17D9-B95F-4DBA-BD04-377CE6F34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099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FORWARD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679A9-D1A2-4FA5-B3F6-C19112D5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76650"/>
            <a:ext cx="333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Strong entry-level analytics fit supported by title, skills, and location evidence.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4276725" y="27241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5ED023-06B4-40DB-9014-54D985F0C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0099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HOLD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9A6156-2E20-4A24-93B7-E389D1A3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676650"/>
            <a:ext cx="333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Senior, engineering-heavy, or clearly misaligned roles require a conservative screen.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8134350" y="27241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D6532F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69BE4A-A94D-40BE-9C6A-950F2D18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099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6532F"/>
                </a:solidFill>
              </a:defRPr>
            </a:pPr>
            <a:r>
              <a:rPr sz="2100" b="1">
                <a:solidFill>
                  <a:srgbClr val="D6532F"/>
                </a:solidFill>
              </a:rPr>
              <a:t>INVESTIGATE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51ECBB-CD4F-4632-B9CF-CB9E2BEA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76650"/>
            <a:ext cx="333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Incomplete fields or missing authorization language require human follow-up.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FA5BE3-8BF6-4A64-8B83-CB786E8D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197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Role fit and work authorization are related in workflow, but they are not the same prediction task.</a:t>
            </a:r>
          </a:p>
        </p:txBody>
      </p:sp>
    </p:spTree>
    <p:extLst>
      <p:ext uri="{BB962C8B-B14F-4D97-AF65-F5344CB8AC3E}">
        <p14:creationId xmlns:p14="http://schemas.microsoft.com/office/powerpoint/2010/main" val="3226718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B2E48A52-5F6E-48C7-BE5C-099A6C9E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Label quality, not data volume, is the bottleneck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908947-BC9E-4E32-A3A7-2AB0CEAE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The final model uses the full training split and audits all 785,741 source rows.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4B77C5-8DC8-4AAE-8219-C4624E88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552293-86C4-4EA7-ACB3-7A586358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D8C5E6-C599-46EA-80FE-B8E94195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3D8DFF"/>
                </a:solidFill>
              </a:defRPr>
            </a:pPr>
            <a:r>
              <a:rPr sz="4350" b="1">
                <a:solidFill>
                  <a:srgbClr val="3D8DFF"/>
                </a:solidFill>
              </a:rPr>
              <a:t>785,741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93BB7A-5E75-4E47-BFAB-7E450FAC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original public job records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6CDA45-88FD-4FBD-8CA1-049BA44D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DE1C26-8B52-4AF4-8CAE-5623EEB9E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3D8DFF"/>
                </a:solidFill>
              </a:defRPr>
            </a:pPr>
            <a:r>
              <a:rPr sz="4350" b="1">
                <a:solidFill>
                  <a:srgbClr val="3D8DFF"/>
                </a:solidFill>
              </a:rPr>
              <a:t>100,000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203F4B-D94B-496D-A992-2B1CC0A7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stratified project sample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103908-720B-421C-886A-DCC6AF9B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F7511E-4307-4EE8-BF0A-F41717B4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6532F"/>
                </a:solidFill>
              </a:defRPr>
            </a:pPr>
            <a:r>
              <a:rPr sz="4350" b="1">
                <a:solidFill>
                  <a:srgbClr val="D6532F"/>
                </a:solidFill>
              </a:rPr>
              <a:t>77,135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7E21C8-B5B1-4860-8F78-3EC72FFD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deduplicated training rows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8DD38F-0A1F-43DE-A2AA-3CB14B6A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9A6E43-A650-4444-8E59-23216B07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6532F"/>
                </a:solidFill>
              </a:defRPr>
            </a:pPr>
            <a:r>
              <a:rPr sz="4350" b="1">
                <a:solidFill>
                  <a:srgbClr val="D6532F"/>
                </a:solidFill>
              </a:rPr>
              <a:t>230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A23066-5E4A-40C3-87DB-142C1278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unique authorization candidates</a:t>
            </a:r>
          </a:p>
        </p:txBody>
      </p:sp>
    </p:spTree>
    <p:extLst>
      <p:ext uri="{BB962C8B-B14F-4D97-AF65-F5344CB8AC3E}">
        <p14:creationId xmlns:p14="http://schemas.microsoft.com/office/powerpoint/2010/main" val="14741878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17601EDB-95CC-434B-84A8-44068FBF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Each milestone changed the final technical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35F729-10A3-41B5-AD5D-1301661A7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4</a:t>
            </a:r>
          </a:p>
        </p:txBody>
      </p:sp>
      <p:cxnSp>
        <p:nvCxnSpPr>
          <p:cNvPr id="22" name=""/>
          <p:cNvCxnSpPr/>
          <p:nvPr/>
        </p:nvCxnSpPr>
        <p:spPr>
          <a:xfrm xmlns:a="http://schemas.openxmlformats.org/drawingml/2006/main">
            <a:off x="800100" y="3238500"/>
            <a:ext cx="10191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111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AD0E60-5BE7-4C85-BD97-D8B0BE11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429962-FCDC-4642-B807-A6CC6FA6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FB701A-DF95-498D-91A0-0CBB1C4F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Represent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645F78-BD0B-4B67-929D-A91A7E3C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TF-IDF + MiniLM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20k validation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413149-214C-4448-BA57-C2B406A4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7DD049-28A6-448B-8BDD-528236E8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87004-5451-4672-A883-04BA831E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Adapt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3D8E3B-DA3D-47F0-A12F-44E31DC6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Zero-shot + few-shot +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true PEFT LoRA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1362B3-3A72-4AEF-94B1-408F6CB4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192215-A64E-4AD1-B0B3-1ABB912E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F6CDB9-61AE-4592-9B4F-8780BEA1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Integrate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C895ED-F7A9-40E5-B119-5C58BFBA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80k-trained classifier +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retrieval + policy gates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651A0E-DF8B-4CEE-BF2A-CC45AB25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53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188ADE-DEF8-45EA-94D6-F6083BA5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6E8FD4-31FF-4286-A671-AB8FCEB8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532F"/>
                </a:solidFill>
              </a:defRPr>
            </a:pPr>
            <a:r>
              <a:rPr sz="2250" b="1">
                <a:solidFill>
                  <a:srgbClr val="D6532F"/>
                </a:solidFill>
              </a:rPr>
              <a:t>Validate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B9FDEC-4914-4761-A0D1-0F9C3222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Leakage audit, tests,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demo, and governance</a:t>
            </a:r>
          </a:p>
        </p:txBody>
      </p:sp>
    </p:spTree>
    <p:extLst>
      <p:ext uri="{BB962C8B-B14F-4D97-AF65-F5344CB8AC3E}">
        <p14:creationId xmlns:p14="http://schemas.microsoft.com/office/powerpoint/2010/main" val="2297609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7BDCD9AC-0654-48AF-A18E-137F197C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Two input modes prevent a subtle but costly task error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B82BFC-F131-4499-BD02-EC30CCF0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Search requests retrieve candidates; only job postings receive a role-fit label.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527DA8-26D3-4C3C-A53C-7AB7FDC6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5</a:t>
            </a:r>
          </a:p>
        </p:txBody>
      </p:sp>
      <p:cxnSp>
        <p:nvCxnSpPr>
          <p:cNvPr id="32" name=""/>
          <p:cNvCxnSpPr/>
          <p:nvPr/>
        </p:nvCxnSpPr>
        <p:spPr>
          <a:xfrm xmlns:a="http://schemas.openxmlformats.org/drawingml/2006/main">
            <a:off x="220980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cxnSp>
        <p:nvCxnSpPr>
          <p:cNvPr id="33" name=""/>
          <p:cNvCxnSpPr/>
          <p:nvPr/>
        </p:nvCxnSpPr>
        <p:spPr>
          <a:xfrm xmlns:a="http://schemas.openxmlformats.org/drawingml/2006/main">
            <a:off x="451485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cxnSp>
        <p:nvCxnSpPr>
          <p:cNvPr id="34" name=""/>
          <p:cNvCxnSpPr/>
          <p:nvPr/>
        </p:nvCxnSpPr>
        <p:spPr>
          <a:xfrm xmlns:a="http://schemas.openxmlformats.org/drawingml/2006/main">
            <a:off x="681990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cxnSp>
        <p:nvCxnSpPr>
          <p:cNvPr id="35" name=""/>
          <p:cNvCxnSpPr/>
          <p:nvPr/>
        </p:nvCxnSpPr>
        <p:spPr>
          <a:xfrm xmlns:a="http://schemas.openxmlformats.org/drawingml/2006/main">
            <a:off x="912495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211E3F-1A38-4C21-8766-B7F33FBD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95F7C-40B5-4716-905B-EDD3FAF4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4B1936-0FF6-4E7E-80BB-5414E108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ROUTE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3E92C2-5EAB-4709-9406-91906245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Search request or job posting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CDE901-75A4-4DF4-BDD7-19D510B9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9EE88A-283D-49D7-A23F-C0053D7EA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F040D8-4A70-47AA-8703-1A38252C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RETRIEVE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082DDF-13A3-4826-9EBC-ABCE5875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80k index + hard constraints + dedupe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02D639-6A1D-49D5-82C0-B5A20DFC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C8185-A6F2-4DFA-AD53-2371EA73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118892-E205-44C0-84B1-0C43B844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CLASSIFY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D7A11C-9D81-4035-BF1A-51549023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77,135-row TF-IDF SVM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ECC7A9-7C59-4B33-95B4-8B0A3B0B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2AA8AB-1D69-448C-BC07-BF8CAFD6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BBE4BD-CFD1-4192-B390-558953C3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GOVERN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9F7AB1-0015-4B4B-8CC3-E38451A6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Calibrated margin + policy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28FDE5-8C58-446B-AAA4-D8533A9F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1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FD98C1-804F-452F-961A-0A43DC10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6532F"/>
                </a:solidFill>
              </a:defRPr>
            </a:pPr>
            <a:r>
              <a:rPr sz="1950" b="1">
                <a:solidFill>
                  <a:srgbClr val="D6532F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846E8A-35FA-4FCA-B21D-18ACD0F5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C3C51F-1AA1-407E-81FE-82CFEA80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Cited evidence and final action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EE05E7-86B1-4FEA-81AC-38CFDE1B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911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</a:defRPr>
            </a:pPr>
            <a:r>
              <a:rPr sz="2175" b="1">
                <a:solidFill>
                  <a:srgbClr val="111111"/>
                </a:solidFill>
              </a:rPr>
              <a:t>A high role-fit score can never override an explicit authorization restriction.</a:t>
            </a:r>
          </a:p>
        </p:txBody>
      </p:sp>
    </p:spTree>
    <p:extLst>
      <p:ext uri="{BB962C8B-B14F-4D97-AF65-F5344CB8AC3E}">
        <p14:creationId xmlns:p14="http://schemas.microsoft.com/office/powerpoint/2010/main" val="5596515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B3D057C0-E5C8-4143-80E4-D3322F99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Search mode returns constrained, inspectable candidates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2830A5-FB33-49E3-B120-CF83E7BE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The top five results satisfy the requested US constraint; the search sentence is not misclassified.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EACDB0-F718-47DC-BB30-B49651E7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BC0E9-56F5-4F15-B41E-8C907B63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811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INPUT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43585A-18D7-4F8E-BB7A-BC463BDA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5240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Find entry-level US data analyst, business analyst, or BI roles with SQL, Python, Excel, Tableau, or Power BI. Remote roles are acceptable.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69EE34-7DAE-40AC-8AEB-B5B39D6E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43150"/>
            <a:ext cx="666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3C6886-3491-486E-B3A2-8FA048D3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669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</a:defRPr>
            </a:pPr>
            <a:r>
              <a:rPr sz="1050" b="1">
                <a:solidFill>
                  <a:srgbClr val="111111"/>
                </a:solidFill>
              </a:rPr>
              <a:t>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F2676A-4324-479A-A336-481EBC20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361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DC3B87-A190-4B33-B813-4282F48A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66975"/>
            <a:ext cx="350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POSTING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E47D26-1CD6-40B9-A9DE-697FDFE2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4315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F610CA-0571-4068-AD3A-F53251103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66975"/>
            <a:ext cx="3600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COMPANY / LOCATION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98E561-B445-4781-9F71-9997A769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431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A5A32E-3180-4F7B-9390-62C3D609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66975"/>
            <a:ext cx="1314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FIT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7ADC12-66D4-4043-99C0-B6826E62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343150"/>
            <a:ext cx="95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50F3F3-B032-46A0-8DF3-92E91C68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669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SCORE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47ECF4-4EEE-4A22-8FDF-8D8E5016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00350"/>
            <a:ext cx="66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BDF1E4-BE9B-4072-ACAA-B28C99F3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146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4843EC-BEA8-4CFB-9F70-35D2F3CD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00350"/>
            <a:ext cx="3619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07CF48-9B8B-496D-90FF-D9EFB81E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146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Data Analyst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D2A4E3-ECAD-4D4E-94D2-7023F02F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00350"/>
            <a:ext cx="3714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AFB412-57AD-4BEE-895F-DC9D91CB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1465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HireMatch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Anywhere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845062-1972-4462-A6FA-46EBF066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00350"/>
            <a:ext cx="142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4EC6EA-23C8-47DF-9BD4-7E1A8070B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146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high_fit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2B50AC-BBC9-4BE8-95F8-A555EE2F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00350"/>
            <a:ext cx="95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BE12CF-4B20-454F-84A2-9D5ECB82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914650"/>
            <a:ext cx="80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9.854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232F57-D896-467A-94F9-5CA69BD5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524250"/>
            <a:ext cx="66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7B0B1D-9274-4A21-8735-89761C81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385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FDDADB-CED0-40B1-88FD-1D4FF907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24250"/>
            <a:ext cx="3619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F0DAE0-EE29-487E-A2DC-EE605CB1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385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Data Analyst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04C213-690D-4B71-9D3F-81E5A982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524250"/>
            <a:ext cx="3714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4E02A8-80BD-4887-BD71-E27640C3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3855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HMP Global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Anywhere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CF0949-E03B-456B-B6B2-33758407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24250"/>
            <a:ext cx="142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C14650-505B-444A-AF44-CB402243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385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high_fit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1A92EBF-8690-4751-9A1A-44610043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524250"/>
            <a:ext cx="95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865A71-1AF6-4DEC-BC4D-4C13D489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638550"/>
            <a:ext cx="80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8.555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AFDD15-17FA-40D8-877E-C3A8CC16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48150"/>
            <a:ext cx="66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056DDD1-CF79-405C-9828-9F974B3D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624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5D5E133-19D8-463D-870F-F43AB818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3619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1F444B-A218-47AA-923D-759C8BC90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624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Data Analyst (US REMOTE)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AFA6669-70B3-48E1-BCC6-58F8E2AE0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48150"/>
            <a:ext cx="3714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BE31BED-660A-4987-ACCC-96906DEC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6245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LeanTaaS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Anywhere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0D98F03-A5B0-4667-BA96-43A8FE9A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48150"/>
            <a:ext cx="142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D252523-184C-4E9B-B094-1A2800D5C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624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high_fit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624099-D56E-4B2A-8761-32A0C734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248150"/>
            <a:ext cx="95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0CF33AD-EC44-42CB-B10F-164AB13F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362450"/>
            <a:ext cx="80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8.458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9AC2B1-8A03-4856-93F9-53C595CC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197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Review six retrieved postings; the top five satisfy the US constraint.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594B8D0-2022-4BDA-B9C1-81A57619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340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6532F"/>
                </a:solidFill>
              </a:defRPr>
            </a:pPr>
            <a:r>
              <a:rPr sz="1500" b="0">
                <a:solidFill>
                  <a:srgbClr val="D6532F"/>
                </a:solidFill>
              </a:rPr>
              <a:t>Authorization: verify separately unless explicit source text is present.</a:t>
            </a:r>
          </a:p>
        </p:txBody>
      </p:sp>
    </p:spTree>
    <p:extLst>
      <p:ext uri="{BB962C8B-B14F-4D97-AF65-F5344CB8AC3E}">
        <p14:creationId xmlns:p14="http://schemas.microsoft.com/office/powerpoint/2010/main" val="3138292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A30E531F-F656-48C6-A370-12CAE470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Edge cases change the action, not the safety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A565D8-B881-400C-B640-273C237AD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7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419100" y="179070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86FC69-1F6F-43A6-B31F-23261E82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1930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65D67"/>
                </a:solidFill>
              </a:defRPr>
            </a:pPr>
            <a:r>
              <a:rPr sz="1650" b="1">
                <a:solidFill>
                  <a:srgbClr val="565D67"/>
                </a:solidFill>
              </a:rPr>
              <a:t>ENTRY LEVEL ANALYTICS SEARCH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FF07E-9A81-454F-B4A6-2EEA78164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146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D8DFF"/>
                </a:solidFill>
              </a:defRPr>
            </a:pPr>
            <a:r>
              <a:rPr sz="2325" b="1">
                <a:solidFill>
                  <a:srgbClr val="3D8DFF"/>
                </a:solidFill>
              </a:rPr>
              <a:t>search results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285E05-5D02-43F5-BAA1-BA3237D0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38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Find US analytics opportunities for advisor review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6248400" y="179070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30DCFA-1BE4-4A88-8E56-F22CDE4F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1930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65D67"/>
                </a:solidFill>
              </a:defRPr>
            </a:pPr>
            <a:r>
              <a:rPr sz="1650" b="1">
                <a:solidFill>
                  <a:srgbClr val="565D67"/>
                </a:solidFill>
              </a:rPr>
              <a:t>SENIOR ENGINEERING POSTING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BFC8C0-AB14-4A22-AFDE-20DD55175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146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D8DFF"/>
                </a:solidFill>
              </a:defRPr>
            </a:pPr>
            <a:r>
              <a:rPr sz="2325" b="1">
                <a:solidFill>
                  <a:srgbClr val="3D8DFF"/>
                </a:solidFill>
              </a:rPr>
              <a:t>low_fit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C9B55D-BACC-4691-8529-4431E22E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38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Hold a role that is too senior and engineering-heavy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419100" y="394335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D6532F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A17F34-50BD-47F0-A301-15150CE9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1719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65D67"/>
                </a:solidFill>
              </a:defRPr>
            </a:pPr>
            <a:r>
              <a:rPr sz="1650" b="1">
                <a:solidFill>
                  <a:srgbClr val="565D67"/>
                </a:solidFill>
              </a:rPr>
              <a:t>AUTHORIZATION RESTRICTION POSTING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4CBED6-5FB8-44E0-8669-C9D26778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667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D6532F"/>
                </a:solidFill>
              </a:defRPr>
            </a:pPr>
            <a:r>
              <a:rPr sz="2325" b="1">
                <a:solidFill>
                  <a:srgbClr val="D6532F"/>
                </a:solidFill>
              </a:rPr>
              <a:t>high_fit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83745D-93F8-48EF-A8E2-DE6BE6B0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5910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High role fit, but No OPT/CPT forces Hold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6248400" y="394335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2C620E-441A-4968-9067-2B2F8592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719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65D67"/>
                </a:solidFill>
              </a:defRPr>
            </a:pPr>
            <a:r>
              <a:rPr sz="1650" b="1">
                <a:solidFill>
                  <a:srgbClr val="565D67"/>
                </a:solidFill>
              </a:rPr>
              <a:t>THIN METADATA POSTING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D85F6F-E224-46DA-B279-F68921D67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667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D8DFF"/>
                </a:solidFill>
              </a:defRPr>
            </a:pPr>
            <a:r>
              <a:rPr sz="2325" b="1">
                <a:solidFill>
                  <a:srgbClr val="3D8DFF"/>
                </a:solidFill>
              </a:rPr>
              <a:t>unclear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5C51FE-0528-4C48-A1C7-27C1697F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910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Missing fields override medium_fit to unclear</a:t>
            </a:r>
          </a:p>
        </p:txBody>
      </p:sp>
    </p:spTree>
    <p:extLst>
      <p:ext uri="{BB962C8B-B14F-4D97-AF65-F5344CB8AC3E}">
        <p14:creationId xmlns:p14="http://schemas.microsoft.com/office/powerpoint/2010/main" val="19023054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9A0913A7-11AA-47AB-9883-AB210CE0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More data worked; extra complexity did not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A0C868-A707-4DED-B903-2B564C8A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8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19100" y="1409700"/>
          <a:ext xmlns:a="http://schemas.openxmlformats.org/drawingml/2006/main" cx="6191250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cfdfec96331477e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8A6816-04DC-48C5-8699-C6CA7C669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466850"/>
            <a:ext cx="4286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62EF8B-AB82-4D35-AAFD-B011CC5A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63830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</a:defRPr>
            </a:pPr>
            <a:r>
              <a:rPr sz="3150" b="1">
                <a:solidFill>
                  <a:srgbClr val="3D8DFF"/>
                </a:solidFill>
              </a:rPr>
              <a:t>98.4%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F91A6A-956D-4B62-96FA-EB77EDC8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335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fixed-set macro F1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AF54C9-42DB-48A9-867F-DDE1457F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52750"/>
            <a:ext cx="4286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17416A-0C43-4F2D-80CC-BEB8CC23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12420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</a:defRPr>
            </a:pPr>
            <a:r>
              <a:rPr sz="3150" b="1">
                <a:solidFill>
                  <a:srgbClr val="3D8DFF"/>
                </a:solidFill>
              </a:rPr>
              <a:t>97.9%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2CB1DC-C412-4348-91CF-173D9971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194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novel-text macro F1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E501EC-9F16-46BE-9E14-9A97DD47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38650"/>
            <a:ext cx="4286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1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64B965-1FD2-4019-98EB-37CAD706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1010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6532F"/>
                </a:solidFill>
              </a:defRPr>
            </a:pPr>
            <a:r>
              <a:rPr sz="3150" b="1">
                <a:solidFill>
                  <a:srgbClr val="D6532F"/>
                </a:solidFill>
              </a:rPr>
              <a:t>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400290-157E-457C-8D8F-53523C66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053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unsupported authorization claims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4BC77B-CA7A-4A6C-9A78-8CE740DC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5310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The final 3.8 MB model trains in under one minute.</a:t>
            </a:r>
          </a:p>
        </p:txBody>
      </p:sp>
    </p:spTree>
    <p:extLst>
      <p:ext uri="{BB962C8B-B14F-4D97-AF65-F5344CB8AC3E}">
        <p14:creationId xmlns:p14="http://schemas.microsoft.com/office/powerpoint/2010/main" val="20242250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D60D6427-115B-4344-B2A2-C6C450CC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The remaining risk is label validity, not model capacity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AFACF2-54C9-4459-B4CF-127D6E71A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0FDB19-7502-427C-B062-63F8BEAA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FIXED 4K ERRORS BY TRUE LABEL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178DF-486A-4B40-8D17-1062CE4D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00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high_fit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954410-458C-4BFC-98D4-4033B651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19300"/>
            <a:ext cx="17716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64A0D7-FE65-467E-A211-B67E01DC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002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29336A-6622-4068-9101-36502642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43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medium_fit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BE6F80-4593-44FD-A7FC-513195F4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62250"/>
            <a:ext cx="76771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71DB63-CF55-4524-8C62-7F629493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432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3F8AE9-7ED8-41BD-937F-0227A1F9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86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low_fit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DFD881-4833-4C2D-A20F-B711E493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505200"/>
            <a:ext cx="47244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B64816-F235-4D0D-B09C-8F9D5B41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861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B4240E-F4C7-4B3F-8BB1-FBE6CD3C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29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unclear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4AB4E6-2117-476D-90A0-EBFA288D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48150"/>
            <a:ext cx="242125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53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A2B1C9-4CB5-48E0-B174-94D51B77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2291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41</a:t>
            </a:r>
          </a:p>
        </p:txBody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6819900" y="1524000"/>
            <a:ext cx="457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48D03C-7228-42F1-A606-869223B3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75260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DEPLOYMENT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AC9FFA-0A0C-4DD9-8740-1E18B38E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62200"/>
            <a:ext cx="4286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Treat 0.984 as weak-label agreement, not advisor accuracy.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55074B-B665-4112-8C68-566FE5E7B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981450"/>
            <a:ext cx="4476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D67"/>
                </a:solidFill>
              </a:defRPr>
            </a:pPr>
            <a:r>
              <a:rPr sz="1725" b="0">
                <a:solidFill>
                  <a:srgbClr val="565D67"/>
                </a:solidFill>
              </a:rPr>
              <a:t>Operational validation:</a:t>
            </a:r>
          </a:p>
          <a:p xmlns:a="http://schemas.openxmlformats.org/drawingml/2006/main">
            <a:pPr algn="l">
              <a:defRPr sz="1725" b="0">
                <a:solidFill>
                  <a:srgbClr val="565D67"/>
                </a:solidFill>
              </a:defRPr>
            </a:pPr>
            <a:r>
              <a:rPr sz="1725" b="0">
                <a:solidFill>
                  <a:srgbClr val="565D67"/>
                </a:solidFill>
              </a:rPr>
              <a:t>91.6% selective coverage</a:t>
            </a:r>
          </a:p>
          <a:p xmlns:a="http://schemas.openxmlformats.org/drawingml/2006/main">
            <a:pPr algn="l">
              <a:defRPr sz="1725" b="0">
                <a:solidFill>
                  <a:srgbClr val="565D67"/>
                </a:solidFill>
              </a:defRPr>
            </a:pPr>
            <a:r>
              <a:rPr sz="1725" b="0">
                <a:solidFill>
                  <a:srgbClr val="565D67"/>
                </a:solidFill>
              </a:rPr>
              <a:t>99.47% retained accuracy</a:t>
            </a:r>
          </a:p>
          <a:p xmlns:a="http://schemas.openxmlformats.org/drawingml/2006/main">
            <a:pPr algn="l">
              <a:defRPr sz="1725" b="0">
                <a:solidFill>
                  <a:srgbClr val="565D67"/>
                </a:solidFill>
              </a:defRPr>
            </a:pPr>
            <a:r>
              <a:rPr sz="1725" b="0">
                <a:solidFill>
                  <a:srgbClr val="565D67"/>
                </a:solidFill>
              </a:rPr>
              <a:t>36 search results, 0 violations</a:t>
            </a:r>
          </a:p>
        </p:txBody>
      </p:sp>
    </p:spTree>
    <p:extLst>
      <p:ext uri="{BB962C8B-B14F-4D97-AF65-F5344CB8AC3E}">
        <p14:creationId xmlns:p14="http://schemas.microsoft.com/office/powerpoint/2010/main" val="9489700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C5564-739B-41BB-9B0D-BEBF7B46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D67"/>
                </a:solidFill>
              </a:defRPr>
            </a:pPr>
            <a:r>
              <a:rPr sz="1800" b="0">
                <a:solidFill>
                  <a:srgbClr val="565D67"/>
                </a:solidFill>
              </a:rPr>
              <a:t>DELIVERED VALIDATION PACKAGE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64B6EC-F5BF-4E10-AD47-71FE4BC47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1111"/>
                </a:solidFill>
              </a:defRPr>
            </a:pPr>
            <a:r>
              <a:rPr sz="4650" b="1">
                <a:solidFill>
                  <a:srgbClr val="111111"/>
                </a:solidFill>
              </a:rPr>
              <a:t>The system and its human-review package are complete</a:t>
            </a:r>
          </a:p>
        </p:txBody>
      </p:sp>
      <p:cxnSp>
        <p:nvCxnSpPr>
          <p:cNvPr id="12" name=""/>
          <p:cNvCxnSpPr/>
          <p:nvPr/>
        </p:nvCxnSpPr>
        <p:spPr>
          <a:xfrm xmlns:a="http://schemas.openxmlformats.org/drawingml/2006/main">
            <a:off x="400050" y="39433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D8DFF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54C779-D39F-494B-81D3-DF38B3D9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Delivered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1D12CA-BE6F-49E4-ACE3-E5CB071F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19650"/>
            <a:ext cx="4191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Trained classifier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Calibrated review policy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Hard-constraint search audit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Batch CSV workflow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Reproducible tests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151C94-ADF8-45F7-AFF8-45F9D9CF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686300"/>
            <a:ext cx="190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DF3588-959C-4C20-AEAD-9F8AD89A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624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6532F"/>
                </a:solidFill>
              </a:defRPr>
            </a:pPr>
            <a:r>
              <a:rPr sz="1575" b="1">
                <a:solidFill>
                  <a:srgbClr val="D6532F"/>
                </a:solidFill>
              </a:rPr>
              <a:t>PREPARED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13B615-A61F-459D-968C-E6DFD34D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57750"/>
            <a:ext cx="5143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1,000-row advisor annotation queue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230 unique authorization candidates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430-row candidate/control benchmark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B2BC92-819B-4C4D-B2CD-AC598B6A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150682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2026-08-17T16:19:47.3990000Z</dcterms:created>
  <dcterms:modified xsi:type="dcterms:W3CDTF">2026-08-17T16:19:47.4000000Z</dcterms:modified>
</coreProperties>
</file>