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slides/charts/chart1.xml" ContentType="application/vnd.openxmlformats-officedocument.drawingml.chart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2fc2eb4621db4a2e" /><Relationship Type="http://schemas.openxmlformats.org/officeDocument/2006/relationships/extended-properties" Target="/docProps/app.xml" Id="R854ffee9dfdf4d54" /><Relationship Type="http://schemas.openxmlformats.org/officeDocument/2006/relationships/officeDocument" Target="/ppt/presentation.xml" Id="R51b7bb798841474c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402ffd6e6f63443b"/>
  </p:sldMasterIdLst>
  <p:notesMasterIdLst>
    <p:notesMasterId xmlns:r="http://schemas.openxmlformats.org/officeDocument/2006/relationships" r:id="R0f9399f608c54cbd"/>
  </p:notesMasterIdLst>
  <p:sldIdLst>
    <p:sldId xmlns:r="http://schemas.openxmlformats.org/officeDocument/2006/relationships" id="256" r:id="R380b4148d19c4e9f"/>
    <p:sldId xmlns:r="http://schemas.openxmlformats.org/officeDocument/2006/relationships" id="257" r:id="R773516ebac8a429a"/>
    <p:sldId xmlns:r="http://schemas.openxmlformats.org/officeDocument/2006/relationships" id="258" r:id="R55820e7ed6fa481e"/>
    <p:sldId xmlns:r="http://schemas.openxmlformats.org/officeDocument/2006/relationships" id="259" r:id="Rab13876238e3422a"/>
    <p:sldId xmlns:r="http://schemas.openxmlformats.org/officeDocument/2006/relationships" id="260" r:id="R2cb2c9beee22498b"/>
    <p:sldId xmlns:r="http://schemas.openxmlformats.org/officeDocument/2006/relationships" id="261" r:id="Rd9461ae9844c41b0"/>
    <p:sldId xmlns:r="http://schemas.openxmlformats.org/officeDocument/2006/relationships" id="262" r:id="R796a0fe303954684"/>
    <p:sldId xmlns:r="http://schemas.openxmlformats.org/officeDocument/2006/relationships" id="263" r:id="R6ba7d43c66a84489"/>
    <p:sldId xmlns:r="http://schemas.openxmlformats.org/officeDocument/2006/relationships" id="264" r:id="Ra3d3647fc3db4000"/>
    <p:sldId xmlns:r="http://schemas.openxmlformats.org/officeDocument/2006/relationships" id="265" r:id="R9402ffe3f7fe4134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0914fc9dd6034c4f" /><Relationship Type="http://schemas.openxmlformats.org/officeDocument/2006/relationships/slideMaster" Target="/ppt/slideMasters/slideMaster1.xml" Id="R402ffd6e6f63443b" /><Relationship Type="http://schemas.openxmlformats.org/officeDocument/2006/relationships/notesMaster" Target="/ppt/notesMasters/notesMaster1.xml" Id="R0f9399f608c54cbd" /><Relationship Type="http://schemas.openxmlformats.org/officeDocument/2006/relationships/presProps" Target="/ppt/presProps.xml" Id="R1d65950fd2fd4a96" /><Relationship Type="http://schemas.openxmlformats.org/officeDocument/2006/relationships/tableStyles" Target="/ppt/tableStyles.xml" Id="R9cb3a184420a4611" /><Relationship Type="http://schemas.openxmlformats.org/officeDocument/2006/relationships/slide" Target="/ppt/slides/slide1.xml" Id="R380b4148d19c4e9f" /><Relationship Type="http://schemas.openxmlformats.org/officeDocument/2006/relationships/slide" Target="/ppt/slides/slide2.xml" Id="R773516ebac8a429a" /><Relationship Type="http://schemas.openxmlformats.org/officeDocument/2006/relationships/slide" Target="/ppt/slides/slide3.xml" Id="R55820e7ed6fa481e" /><Relationship Type="http://schemas.openxmlformats.org/officeDocument/2006/relationships/slide" Target="/ppt/slides/slide4.xml" Id="Rab13876238e3422a" /><Relationship Type="http://schemas.openxmlformats.org/officeDocument/2006/relationships/slide" Target="/ppt/slides/slide5.xml" Id="R2cb2c9beee22498b" /><Relationship Type="http://schemas.openxmlformats.org/officeDocument/2006/relationships/slide" Target="/ppt/slides/slide6.xml" Id="Rd9461ae9844c41b0" /><Relationship Type="http://schemas.openxmlformats.org/officeDocument/2006/relationships/slide" Target="/ppt/slides/slide7.xml" Id="R796a0fe303954684" /><Relationship Type="http://schemas.openxmlformats.org/officeDocument/2006/relationships/slide" Target="/ppt/slides/slide8.xml" Id="R6ba7d43c66a84489" /><Relationship Type="http://schemas.openxmlformats.org/officeDocument/2006/relationships/slide" Target="/ppt/slides/slide9.xml" Id="Ra3d3647fc3db4000" /><Relationship Type="http://schemas.openxmlformats.org/officeDocument/2006/relationships/slide" Target="/ppt/slides/slide10.xml" Id="R9402ffe3f7fe4134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72630dfa8461499c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60ed467e71e24153" /><Relationship Type="http://schemas.openxmlformats.org/officeDocument/2006/relationships/notesMaster" Target="/ppt/notesMasters/notesMaster1.xml" Id="Rdf870f774762449d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0e94d566db2d4517" /><Relationship Type="http://schemas.openxmlformats.org/officeDocument/2006/relationships/notesMaster" Target="/ppt/notesMasters/notesMaster1.xml" Id="R004710c018a24c63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443794f220dd4d84" /><Relationship Type="http://schemas.openxmlformats.org/officeDocument/2006/relationships/notesMaster" Target="/ppt/notesMasters/notesMaster1.xml" Id="R7c54915042984087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2f6c306614ef4e6f" /><Relationship Type="http://schemas.openxmlformats.org/officeDocument/2006/relationships/notesMaster" Target="/ppt/notesMasters/notesMaster1.xml" Id="R1c59836b319a40ab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f0b138dac6734e7d" /><Relationship Type="http://schemas.openxmlformats.org/officeDocument/2006/relationships/notesMaster" Target="/ppt/notesMasters/notesMaster1.xml" Id="R8a31c6492a414e17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6b6e9a0e560d452a" /><Relationship Type="http://schemas.openxmlformats.org/officeDocument/2006/relationships/notesMaster" Target="/ppt/notesMasters/notesMaster1.xml" Id="R30967d1a25474949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a484551a0989495b" /><Relationship Type="http://schemas.openxmlformats.org/officeDocument/2006/relationships/notesMaster" Target="/ppt/notesMasters/notesMaster1.xml" Id="R86da16707cc146ac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2273274656b04798" /><Relationship Type="http://schemas.openxmlformats.org/officeDocument/2006/relationships/notesMaster" Target="/ppt/notesMasters/notesMaster1.xml" Id="Rcaafd3b64e5040e8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0a718f347e2d4c5f" /><Relationship Type="http://schemas.openxmlformats.org/officeDocument/2006/relationships/notesMaster" Target="/ppt/notesMasters/notesMaster1.xml" Id="R20b3e8b0b2f2463e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fc714cb4244b45d4" /><Relationship Type="http://schemas.openxmlformats.org/officeDocument/2006/relationships/notesMaster" Target="/ppt/notesMasters/notesMaster1.xml" Id="R922b7608317b4f8d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Open with the business decision: the product helps an advisor prioritize postings, while final forwarding and authorization review stay human.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Local project README.md</a:t>
            </a:r>
          </a:p>
          <a:p xmlns:a="http://schemas.openxmlformats.org/drawingml/2006/main">
            <a:r>
              <a:t>- docs/problem_statement.md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Explain the three advisor actions. Emphasize that the system supports triage rather than making immigration or hiring decisions.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docs/problem_statement.md</a:t>
            </a:r>
          </a:p>
          <a:p xmlns:a="http://schemas.openxmlformats.org/drawingml/2006/main">
            <a:r>
              <a:t>- docs/governance_risk_appendix.md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public role-fit corpus is already large. We completed a full-source authorization scan and packaged the evidence candidates for advisor review.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data_jobs_msba_project_sample_100k_metadata.json</a:t>
            </a:r>
          </a:p>
          <a:p xmlns:a="http://schemas.openxmlformats.org/drawingml/2006/main">
            <a:r>
              <a:t>- models/job_fit_tfidf_svc_metrics.json</a:t>
            </a:r>
          </a:p>
          <a:p xmlns:a="http://schemas.openxmlformats.org/drawingml/2006/main">
            <a:r>
              <a:t>- outputs/authorization_evidence_audit.json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M3 established that adaptation helps. M4 then tested a wider model and data choice and found that a lightweight linear model trained on the full split is both stronger and easier to ship.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outputs/milestone2_baseline_results.json</a:t>
            </a:r>
          </a:p>
          <a:p xmlns:a="http://schemas.openxmlformats.org/drawingml/2006/main">
            <a:r>
              <a:t>- outputs/milestone3_adaptation_results.json</a:t>
            </a:r>
          </a:p>
          <a:p xmlns:a="http://schemas.openxmlformats.org/drawingml/2006/main">
            <a:r>
              <a:t>- outputs/final_model_comparison.json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Walk left to right. The mode router prevents a search sentence from being misclassified as a posting. Verifiable search constraints are enforced before ranking. The policy layer uses class-specific calibrated margins, then handles missing fields and authorization independently from role fit.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docs/architecture.md</a:t>
            </a:r>
          </a:p>
          <a:p xmlns:a="http://schemas.openxmlformats.org/drawingml/2006/main">
            <a:r>
              <a:t>- msba_job_matcher/core.py</a:t>
            </a:r>
          </a:p>
          <a:p xmlns:a="http://schemas.openxmlformats.org/drawingml/2006/main">
            <a:r>
              <a:t>- models/review_policy.json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Explain that this is retrieval, not posting classification. The result list is filtered and reranked by explicit query constraints, then each retrieved posting receives a model label.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outputs/final_casebook_outputs.json - entry_level_analytics_search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Contrast the four saved runs. The key case is a high-fit analyst role that explicitly says No OPT/CPT. The policy layer forces Hold, proving that authorization cannot be hidden by a strong fit score.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outputs/final_casebook_outputs.json</a:t>
            </a:r>
          </a:p>
          <a:p xmlns:a="http://schemas.openxmlformats.org/drawingml/2006/main">
            <a:r>
              <a:t>- docs/governance_risk_appendix.md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final model uses all available training labels and outperforms the 2,000-row LoRA experiment. The lesson is not that linear models always win; it is that data utilization and reproducibility matter for this structured weak-label task.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outputs/milestone2_baseline_results.json</a:t>
            </a:r>
          </a:p>
          <a:p xmlns:a="http://schemas.openxmlformats.org/drawingml/2006/main">
            <a:r>
              <a:t>- outputs/milestone3_adaptation_results.json</a:t>
            </a:r>
          </a:p>
          <a:p xmlns:a="http://schemas.openxmlformats.org/drawingml/2006/main">
            <a:r>
              <a:t>- outputs/final_evaluation_results.json</a:t>
            </a:r>
          </a:p>
          <a:p xmlns:a="http://schemas.openxmlformats.org/drawingml/2006/main">
            <a:r>
              <a:t>- models/job_fit_tfidf_svc_metrics.json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model makes 65 errors on the fixed weak-label set, so the production policy is calibrated on one 10,000-row half and audited on another. It retains 91.63 percent coverage at 99.47 percent weak-label accuracy. A separate six-query audit records zero hard-constraint violations across 36 search results.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outputs/final_evaluation_results.json</a:t>
            </a:r>
          </a:p>
          <a:p xmlns:a="http://schemas.openxmlformats.org/drawingml/2006/main">
            <a:r>
              <a:t>- models/review_policy.json</a:t>
            </a:r>
          </a:p>
          <a:p xmlns:a="http://schemas.openxmlformats.org/drawingml/2006/main">
            <a:r>
              <a:t>- outputs/search_constraint_audit.json</a:t>
            </a:r>
          </a:p>
          <a:p xmlns:a="http://schemas.openxmlformats.org/drawingml/2006/main">
            <a:r>
              <a:t>- outputs/temporal_validation_results.json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Close with what is complete: the trained system, calibrated uncertainty policy, hard-constraint search audit, batch workflow, time-based test, full-source authorization audit, and human-review package. The blank advisor fields are an honest deployment boundary, not a missing model output.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README.md</a:t>
            </a:r>
          </a:p>
          <a:p xmlns:a="http://schemas.openxmlformats.org/drawingml/2006/main">
            <a:r>
              <a:t>- docs/evaluation_summary.md</a:t>
            </a:r>
          </a:p>
          <a:p xmlns:a="http://schemas.openxmlformats.org/drawingml/2006/main">
            <a:r>
              <a:t>- docs/governance_risk_appendix.md</a:t>
            </a:r>
          </a:p>
          <a:p xmlns:a="http://schemas.openxmlformats.org/drawingml/2006/main">
            <a:r>
              <a:t>- models/review_policy.json</a:t>
            </a:r>
          </a:p>
          <a:p xmlns:a="http://schemas.openxmlformats.org/drawingml/2006/main">
            <a:r>
              <a:t>- outputs/search_constraint_audit.json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51bb0ec2cf340f3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be960c109d4d4d7b" /><Relationship Type="http://schemas.openxmlformats.org/officeDocument/2006/relationships/slideLayout" Target="/ppt/slideLayouts/slideLayout1.xml" Id="Rfaa8e09e0e7245d2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faa8e09e0e7245d2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39aa151874f4263" /><Relationship Type="http://schemas.openxmlformats.org/officeDocument/2006/relationships/notesSlide" Target="/ppt/notesSlides/notesSlide1.xml" Id="Rc28345f50a734877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1ad338561fb4c18" /><Relationship Type="http://schemas.openxmlformats.org/officeDocument/2006/relationships/notesSlide" Target="/ppt/notesSlides/notesSlide2.xml" Id="R3f58231f7d3e4229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b2303ab80f74a42" /><Relationship Type="http://schemas.openxmlformats.org/officeDocument/2006/relationships/notesSlide" Target="/ppt/notesSlides/notesSlide3.xml" Id="R4e3a0aa04c44446f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6e57dbf806a4cb7" /><Relationship Type="http://schemas.openxmlformats.org/officeDocument/2006/relationships/notesSlide" Target="/ppt/notesSlides/notesSlide4.xml" Id="R939b8058b8a24f21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c6bd1a5cf044c93" /><Relationship Type="http://schemas.openxmlformats.org/officeDocument/2006/relationships/notesSlide" Target="/ppt/notesSlides/notesSlide5.xml" Id="Re74967db914844ec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2f59e96eef44952" /><Relationship Type="http://schemas.openxmlformats.org/officeDocument/2006/relationships/notesSlide" Target="/ppt/notesSlides/notesSlide6.xml" Id="R27590f8738b64d5c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3912134631e4fdb" /><Relationship Type="http://schemas.openxmlformats.org/officeDocument/2006/relationships/notesSlide" Target="/ppt/notesSlides/notesSlide7.xml" Id="R1e6b11b91a704f25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08f2369c4a7408e" /><Relationship Type="http://schemas.openxmlformats.org/officeDocument/2006/relationships/chart" Target="/ppt/slides/charts/chart1.xml" Id="R0d58690ec5f84273" /><Relationship Type="http://schemas.openxmlformats.org/officeDocument/2006/relationships/notesSlide" Target="/ppt/notesSlides/notesSlide8.xml" Id="Radeccf304a6d4510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e11ece694974aa9" /><Relationship Type="http://schemas.openxmlformats.org/officeDocument/2006/relationships/notesSlide" Target="/ppt/notesSlides/notesSlide9.xml" Id="R6ebe0b15b38f4870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56e00f6f8b24bd6" /><Relationship Type="http://schemas.openxmlformats.org/officeDocument/2006/relationships/notesSlide" Target="/ppt/notesSlides/notesSlide10.xml" Id="Rc0988f84d4a248bf" /></Relationships>
</file>

<file path=ppt/slides/charts/chart1.xml><?xml version="1.0" encoding="utf-8"?>
<c:chartSpace xmlns:c="http://schemas.openxmlformats.org/drawingml/2006/chart">
  <c:lang val="en-US"/>
  <c:chart>
    <c:plotArea>
      <c:barChart>
        <c:barDir val="col"/>
        <c:grouping val="clustered"/>
        <c:varyColors val="0"/>
        <c:ser>
          <c:idx val="0"/>
          <c:order val="0"/>
          <c:tx>
            <c:v>Accuracy</c:v>
          </c:tx>
          <c:spPr>
            <a:solidFill xmlns:a="http://schemas.openxmlformats.org/drawingml/2006/main">
              <a:srgbClr val="3D8DFF"/>
            </a:solidFill>
          </c:spPr>
          <c:cat>
            <c:strLit>
              <c:ptCount val="3"/>
              <c:pt idx="0">
                <c:v>M2 baseline</c:v>
              </c:pt>
              <c:pt idx="1">
                <c:v>M3 PEFT LoRA</c:v>
              </c:pt>
              <c:pt idx="2">
                <c:v>Final classifier</c:v>
              </c:pt>
            </c:strLit>
          </c:cat>
          <c:val>
            <c:numLit>
              <c:formatCode>General</c:formatCode>
              <c:ptCount val="3"/>
              <c:pt idx="0">
                <c:v>79.3</c:v>
              </c:pt>
              <c:pt idx="1">
                <c:v>87.5</c:v>
              </c:pt>
              <c:pt idx="2">
                <c:v>98.4</c:v>
              </c:pt>
            </c:numLit>
          </c:val>
        </c:ser>
        <c:ser>
          <c:idx val="1"/>
          <c:order val="1"/>
          <c:tx>
            <c:v>Macro F1</c:v>
          </c:tx>
          <c:spPr>
            <a:solidFill xmlns:a="http://schemas.openxmlformats.org/drawingml/2006/main">
              <a:srgbClr val="D6532F"/>
            </a:solidFill>
          </c:spPr>
          <c:cat>
            <c:strLit>
              <c:ptCount val="3"/>
              <c:pt idx="0">
                <c:v>M2 baseline</c:v>
              </c:pt>
              <c:pt idx="1">
                <c:v>M3 PEFT LoRA</c:v>
              </c:pt>
              <c:pt idx="2">
                <c:v>Final classifier</c:v>
              </c:pt>
            </c:strLit>
          </c:cat>
          <c:val>
            <c:numLit>
              <c:formatCode>General</c:formatCode>
              <c:ptCount val="3"/>
              <c:pt idx="0">
                <c:v>78.5</c:v>
              </c:pt>
              <c:pt idx="1">
                <c:v>87.3</c:v>
              </c:pt>
              <c:pt idx="2">
                <c:v>98.4</c:v>
              </c:pt>
            </c:numLit>
          </c:val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9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B8BCC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l"/>
        <c:majorGridlines>
          <c:spPr>
            <a:ln xmlns:a="http://schemas.openxmlformats.org/drawingml/2006/main" w="9525">
              <a:solidFill>
                <a:srgbClr val="EDEDED"/>
              </a:solidFill>
              <a:prstDash val="solid"/>
            </a:ln>
          </c:spPr>
        </c:majorGridlines>
        <c:numFmt formatCode="General"/>
        <c:majorTickMark val="none"/>
        <c:minorTickMark val="none"/>
        <c:spPr>
          <a:ln xmlns:a="http://schemas.openxmlformats.org/drawingml/2006/main" w="0">
            <a:solidFill>
              <a:srgbClr val="FFFFFF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</a:p>
        </c:txPr>
        <c:crossAx val="48650112"/>
        <c:crossBetween val="between"/>
        <c:majorUnit val="20"/>
      </c:valAx>
      <c:spPr>
        <a:noFill xmlns:a="http://schemas.openxmlformats.org/drawingml/2006/main"/>
        <a:ln xmlns:a="http://schemas.openxmlformats.org/drawingml/2006/main" w="0">
          <a:solidFill>
            <a:srgbClr val="FFFFFF"/>
          </a:solidFill>
          <a:prstDash val="solid"/>
        </a:ln>
      </c:spPr>
    </c:plotArea>
    <c:legend>
      <c:legendPos val="b"/>
      <c:overlay val="0"/>
    </c:legend>
    <c:plotVisOnly val="1"/>
  </c:chart>
  <c:spPr>
    <a:solidFill xmlns:a="http://schemas.openxmlformats.org/drawingml/2006/main">
      <a:srgbClr val="FFFFFF"/>
    </a:solidFill>
    <a:ln xmlns:a="http://schemas.openxmlformats.org/drawingml/2006/main" w="0">
      <a:solidFill>
        <a:srgbClr val="FFFFFF"/>
      </a:solidFill>
      <a:prstDash val="solid"/>
    </a:ln>
  </c:spPr>
</c:chartSpace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74AF767-063B-4F71-A935-4BE24E3675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81000"/>
            <a:ext cx="4762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565D67"/>
                </a:solidFill>
              </a:defRPr>
            </a:pPr>
            <a:r>
              <a:rPr sz="1800" b="0">
                <a:solidFill>
                  <a:srgbClr val="565D67"/>
                </a:solidFill>
              </a:rPr>
              <a:t>ISBA 2411 | FINAL TEAM PROJECT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E31CCCD-59CD-4867-8DC9-AE039A075C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752600"/>
            <a:ext cx="95250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b"/>
          <a:lstStyle xmlns:a="http://schemas.openxmlformats.org/drawingml/2006/main"/>
          <a:p xmlns:a="http://schemas.openxmlformats.org/drawingml/2006/main">
            <a:pPr algn="l">
              <a:defRPr sz="5400" b="1">
                <a:solidFill>
                  <a:srgbClr val="111111"/>
                </a:solidFill>
              </a:defRPr>
            </a:pPr>
            <a:r>
              <a:rPr sz="5400" b="1">
                <a:solidFill>
                  <a:srgbClr val="111111"/>
                </a:solidFill>
              </a:rPr>
              <a:t>MSBA Job Matching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B9DBE47-225E-4FDE-84A1-DF97314EFF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895600"/>
            <a:ext cx="78105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700" b="0">
                <a:solidFill>
                  <a:srgbClr val="111111"/>
                </a:solidFill>
              </a:defRPr>
            </a:pPr>
            <a:r>
              <a:rPr sz="2700" b="0">
                <a:solidFill>
                  <a:srgbClr val="111111"/>
                </a:solidFill>
              </a:rPr>
              <a:t>Grounded NLP decision support for career advisors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44360CE-0AEF-488B-90BD-58AF82E129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857750"/>
            <a:ext cx="8096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950" b="0">
                <a:solidFill>
                  <a:srgbClr val="565D67"/>
                </a:solidFill>
              </a:defRPr>
            </a:pPr>
            <a:r>
              <a:rPr sz="1950" b="0">
                <a:solidFill>
                  <a:srgbClr val="565D67"/>
                </a:solidFill>
              </a:rPr>
              <a:t>Real postings -&gt; retrieved evidence -&gt; role-fit triage -&gt; human review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D50F8FD-B3B6-40FA-9489-B27778E7CF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772150"/>
            <a:ext cx="4000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3D8DFF"/>
                </a:solidFill>
              </a:defRPr>
            </a:pPr>
            <a:r>
              <a:rPr sz="1650" b="0">
                <a:solidFill>
                  <a:srgbClr val="3D8DFF"/>
                </a:solidFill>
              </a:rPr>
              <a:t>Yitong Wang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6E20067-4C4D-4A79-B153-F4B7F78C91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20450" y="6267450"/>
            <a:ext cx="57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1200" b="0">
                <a:solidFill>
                  <a:srgbClr val="565D67"/>
                </a:solidFill>
              </a:defRPr>
            </a:pPr>
            <a:r>
              <a:rPr sz="1200" b="0">
                <a:solidFill>
                  <a:srgbClr val="565D67"/>
                </a:solidFill>
              </a:rPr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1119737524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slide-2-title">
            <a:extLst xmlns:a="http://schemas.openxmlformats.org/drawingml/2006/main">
              <a:ext uri="{FF2B5EF4-FFF2-40B4-BE49-F238E27FC236}">
                <a16:creationId xmlns:a16="http://schemas.microsoft.com/office/drawing/2014/main" id="{4741AE42-0A67-41AB-BDA7-12014DEB43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23850"/>
            <a:ext cx="11096625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3600" b="1">
                <a:solidFill>
                  <a:srgbClr val="111111"/>
                </a:solidFill>
              </a:defRPr>
            </a:pPr>
            <a:r>
              <a:rPr sz="3600" b="1">
                <a:solidFill>
                  <a:srgbClr val="111111"/>
                </a:solidFill>
              </a:rPr>
              <a:t>The advisor must separate fit, uncertainty, and risk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5F25582-9784-464B-A4D8-4B9E32B31F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1028700"/>
            <a:ext cx="10668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565D67"/>
                </a:solidFill>
              </a:defRPr>
            </a:pPr>
            <a:r>
              <a:rPr sz="1650" b="0">
                <a:solidFill>
                  <a:srgbClr val="565D67"/>
                </a:solidFill>
              </a:rPr>
              <a:t>A useful system improves a specific decision: forward, hold, or investigate.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C8EAFC3-90B0-4932-AE5F-C258D3E4B9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20450" y="6267450"/>
            <a:ext cx="57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1200" b="0">
                <a:solidFill>
                  <a:srgbClr val="565D67"/>
                </a:solidFill>
              </a:defRPr>
            </a:pPr>
            <a:r>
              <a:rPr sz="1200" b="0">
                <a:solidFill>
                  <a:srgbClr val="565D67"/>
                </a:solidFill>
              </a:rPr>
              <a:t>2</a:t>
            </a:r>
          </a:p>
        </p:txBody>
      </p:sp>
      <p:cxnSp>
        <p:nvCxnSpPr>
          <p:cNvPr id="17" name=""/>
          <p:cNvCxnSpPr/>
          <p:nvPr/>
        </p:nvCxnSpPr>
        <p:spPr>
          <a:xfrm xmlns:a="http://schemas.openxmlformats.org/drawingml/2006/main">
            <a:off x="419100" y="2724150"/>
            <a:ext cx="3333750" cy="0"/>
          </a:xfrm>
          <a:prstGeom xmlns:a="http://schemas.openxmlformats.org/drawingml/2006/main" prst="straightConnector1">
            <a:avLst/>
          </a:prstGeom>
          <a:ln xmlns:a="http://schemas.openxmlformats.org/drawingml/2006/main" w="38100">
            <a:solidFill>
              <a:srgbClr val="3D8DFF"/>
            </a:solidFill>
            <a:prstDash val="solid"/>
          </a:ln>
        </p:spPr>
      </p:cxn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1CEAE46-D66D-4E35-814C-716E4583D1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3009900"/>
            <a:ext cx="3333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3D8DFF"/>
                </a:solidFill>
              </a:defRPr>
            </a:pPr>
            <a:r>
              <a:rPr sz="2100" b="1">
                <a:solidFill>
                  <a:srgbClr val="3D8DFF"/>
                </a:solidFill>
              </a:rPr>
              <a:t>FORWARD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7FE9136-5BE8-41F4-9E5D-3752DAA319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3676650"/>
            <a:ext cx="3333750" cy="1333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111111"/>
                </a:solidFill>
              </a:defRPr>
            </a:pPr>
            <a:r>
              <a:rPr sz="1875" b="0">
                <a:solidFill>
                  <a:srgbClr val="111111"/>
                </a:solidFill>
              </a:rPr>
              <a:t>Strong entry-level analytics fit supported by title, skills, and location evidence.</a:t>
            </a:r>
          </a:p>
        </p:txBody>
      </p:sp>
      <p:cxnSp>
        <p:nvCxnSpPr>
          <p:cNvPr id="20" name=""/>
          <p:cNvCxnSpPr/>
          <p:nvPr/>
        </p:nvCxnSpPr>
        <p:spPr>
          <a:xfrm xmlns:a="http://schemas.openxmlformats.org/drawingml/2006/main">
            <a:off x="4276725" y="2724150"/>
            <a:ext cx="3333750" cy="0"/>
          </a:xfrm>
          <a:prstGeom xmlns:a="http://schemas.openxmlformats.org/drawingml/2006/main" prst="straightConnector1">
            <a:avLst/>
          </a:prstGeom>
          <a:ln xmlns:a="http://schemas.openxmlformats.org/drawingml/2006/main" w="38100">
            <a:solidFill>
              <a:srgbClr val="3D8DFF"/>
            </a:solidFill>
            <a:prstDash val="solid"/>
          </a:ln>
        </p:spPr>
      </p:cxn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8EC720A-6232-4A46-9216-1E331DD6B1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76725" y="3009900"/>
            <a:ext cx="3333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3D8DFF"/>
                </a:solidFill>
              </a:defRPr>
            </a:pPr>
            <a:r>
              <a:rPr sz="2100" b="1">
                <a:solidFill>
                  <a:srgbClr val="3D8DFF"/>
                </a:solidFill>
              </a:rPr>
              <a:t>HOLD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0AE9DD5-FA98-4194-B6FE-F71CD9930F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76725" y="3676650"/>
            <a:ext cx="3333750" cy="1333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111111"/>
                </a:solidFill>
              </a:defRPr>
            </a:pPr>
            <a:r>
              <a:rPr sz="1875" b="0">
                <a:solidFill>
                  <a:srgbClr val="111111"/>
                </a:solidFill>
              </a:rPr>
              <a:t>Senior, engineering-heavy, or clearly misaligned roles require a conservative screen.</a:t>
            </a:r>
          </a:p>
        </p:txBody>
      </p:sp>
      <p:cxnSp>
        <p:nvCxnSpPr>
          <p:cNvPr id="23" name=""/>
          <p:cNvCxnSpPr/>
          <p:nvPr/>
        </p:nvCxnSpPr>
        <p:spPr>
          <a:xfrm xmlns:a="http://schemas.openxmlformats.org/drawingml/2006/main">
            <a:off x="8134350" y="2724150"/>
            <a:ext cx="3333750" cy="0"/>
          </a:xfrm>
          <a:prstGeom xmlns:a="http://schemas.openxmlformats.org/drawingml/2006/main" prst="straightConnector1">
            <a:avLst/>
          </a:prstGeom>
          <a:ln xmlns:a="http://schemas.openxmlformats.org/drawingml/2006/main" w="38100">
            <a:solidFill>
              <a:srgbClr val="D6532F"/>
            </a:solidFill>
            <a:prstDash val="solid"/>
          </a:ln>
        </p:spPr>
      </p:cxn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A045AA5-A0BF-4D7D-9C78-724A151CE7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4350" y="3009900"/>
            <a:ext cx="3333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D6532F"/>
                </a:solidFill>
              </a:defRPr>
            </a:pPr>
            <a:r>
              <a:rPr sz="2100" b="1">
                <a:solidFill>
                  <a:srgbClr val="D6532F"/>
                </a:solidFill>
              </a:rPr>
              <a:t>INVESTIGATE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5E63425-3D2A-4D1E-97F4-860CCCECCD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4350" y="3676650"/>
            <a:ext cx="3333750" cy="1333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111111"/>
                </a:solidFill>
              </a:defRPr>
            </a:pPr>
            <a:r>
              <a:rPr sz="1875" b="0">
                <a:solidFill>
                  <a:srgbClr val="111111"/>
                </a:solidFill>
              </a:rPr>
              <a:t>Incomplete fields or missing authorization language require human follow-up.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547E27F-12D7-46C9-A11F-0E4902CEC4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5619750"/>
            <a:ext cx="10287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11111"/>
                </a:solidFill>
              </a:defRPr>
            </a:pPr>
            <a:r>
              <a:rPr sz="1875" b="1">
                <a:solidFill>
                  <a:srgbClr val="111111"/>
                </a:solidFill>
              </a:rPr>
              <a:t>Role fit and work authorization are related in workflow, but they are not the same prediction task.</a:t>
            </a:r>
          </a:p>
        </p:txBody>
      </p:sp>
    </p:spTree>
    <p:extLst>
      <p:ext uri="{BB962C8B-B14F-4D97-AF65-F5344CB8AC3E}">
        <p14:creationId xmlns:p14="http://schemas.microsoft.com/office/powerpoint/2010/main" val="1208413093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slide-3-title">
            <a:extLst xmlns:a="http://schemas.openxmlformats.org/drawingml/2006/main">
              <a:ext uri="{FF2B5EF4-FFF2-40B4-BE49-F238E27FC236}">
                <a16:creationId xmlns:a16="http://schemas.microsoft.com/office/drawing/2014/main" id="{CCE866CE-4589-4261-B144-6099931049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23850"/>
            <a:ext cx="11096625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3600" b="1">
                <a:solidFill>
                  <a:srgbClr val="111111"/>
                </a:solidFill>
              </a:defRPr>
            </a:pPr>
            <a:r>
              <a:rPr sz="3600" b="1">
                <a:solidFill>
                  <a:srgbClr val="111111"/>
                </a:solidFill>
              </a:rPr>
              <a:t>Label quality, not data volume, is the bottleneck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8FB4678-CA49-4711-AD68-D95BB5C334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1028700"/>
            <a:ext cx="10668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565D67"/>
                </a:solidFill>
              </a:defRPr>
            </a:pPr>
            <a:r>
              <a:rPr sz="1650" b="0">
                <a:solidFill>
                  <a:srgbClr val="565D67"/>
                </a:solidFill>
              </a:rPr>
              <a:t>The final model uses the full training split and audits all 785,741 source rows.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C3C0B28-EED5-43B0-8257-35441463DC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20450" y="6267450"/>
            <a:ext cx="57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1200" b="0">
                <a:solidFill>
                  <a:srgbClr val="565D67"/>
                </a:solidFill>
              </a:defRPr>
            </a:pPr>
            <a:r>
              <a:rPr sz="1200" b="0">
                <a:solidFill>
                  <a:srgbClr val="565D67"/>
                </a:solidFill>
              </a:rPr>
              <a:t>3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0E12257-3B91-49FC-B51C-DD0BE058B0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2933700"/>
            <a:ext cx="2571750" cy="2476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BFD2D71-7C04-45CA-8B8F-4BB0C6A509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95650"/>
            <a:ext cx="2047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b"/>
          <a:lstStyle xmlns:a="http://schemas.openxmlformats.org/drawingml/2006/main"/>
          <a:p xmlns:a="http://schemas.openxmlformats.org/drawingml/2006/main">
            <a:pPr algn="l">
              <a:defRPr sz="4350" b="1">
                <a:solidFill>
                  <a:srgbClr val="3D8DFF"/>
                </a:solidFill>
              </a:defRPr>
            </a:pPr>
            <a:r>
              <a:rPr sz="4350" b="1">
                <a:solidFill>
                  <a:srgbClr val="3D8DFF"/>
                </a:solidFill>
              </a:rPr>
              <a:t>785,741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67E91C6-C334-4158-980A-3FAB320BF8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05300"/>
            <a:ext cx="2047875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11111"/>
                </a:solidFill>
              </a:defRPr>
            </a:pPr>
            <a:r>
              <a:rPr sz="1650" b="0">
                <a:solidFill>
                  <a:srgbClr val="111111"/>
                </a:solidFill>
              </a:rPr>
              <a:t>original public job records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8EA9361-C9A3-4363-B521-93AE93B968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6600" y="2933700"/>
            <a:ext cx="2571750" cy="2476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1D1EFEE-911E-4047-B6A1-22946A9494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43300" y="3295650"/>
            <a:ext cx="2047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b"/>
          <a:lstStyle xmlns:a="http://schemas.openxmlformats.org/drawingml/2006/main"/>
          <a:p xmlns:a="http://schemas.openxmlformats.org/drawingml/2006/main">
            <a:pPr algn="l">
              <a:defRPr sz="4350" b="1">
                <a:solidFill>
                  <a:srgbClr val="3D8DFF"/>
                </a:solidFill>
              </a:defRPr>
            </a:pPr>
            <a:r>
              <a:rPr sz="4350" b="1">
                <a:solidFill>
                  <a:srgbClr val="3D8DFF"/>
                </a:solidFill>
              </a:rPr>
              <a:t>100,000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C317857-5520-4EA3-8034-30E610F4D0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43300" y="4305300"/>
            <a:ext cx="2047875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11111"/>
                </a:solidFill>
              </a:defRPr>
            </a:pPr>
            <a:r>
              <a:rPr sz="1650" b="0">
                <a:solidFill>
                  <a:srgbClr val="111111"/>
                </a:solidFill>
              </a:rPr>
              <a:t>stratified project sample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63C4A48-43A8-4B48-BEBE-9E4225DE6E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2933700"/>
            <a:ext cx="2571750" cy="2476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6558D96-D4AF-4038-998E-90AD7E6DAB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3295650"/>
            <a:ext cx="2047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b"/>
          <a:lstStyle xmlns:a="http://schemas.openxmlformats.org/drawingml/2006/main"/>
          <a:p xmlns:a="http://schemas.openxmlformats.org/drawingml/2006/main">
            <a:pPr algn="l">
              <a:defRPr sz="4350" b="1">
                <a:solidFill>
                  <a:srgbClr val="D6532F"/>
                </a:solidFill>
              </a:defRPr>
            </a:pPr>
            <a:r>
              <a:rPr sz="4350" b="1">
                <a:solidFill>
                  <a:srgbClr val="D6532F"/>
                </a:solidFill>
              </a:rPr>
              <a:t>77,135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0A3472C-6DCA-4BFA-99AA-507B2A2431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4305300"/>
            <a:ext cx="2047875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11111"/>
                </a:solidFill>
              </a:defRPr>
            </a:pPr>
            <a:r>
              <a:rPr sz="1650" b="0">
                <a:solidFill>
                  <a:srgbClr val="111111"/>
                </a:solidFill>
              </a:rPr>
              <a:t>deduplicated training rows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5C51943-6B6E-4CBA-8BFE-A34502806F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91600" y="2933700"/>
            <a:ext cx="2571750" cy="2476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91608A6-6867-4DCE-900B-802E414000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8300" y="3295650"/>
            <a:ext cx="2047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b"/>
          <a:lstStyle xmlns:a="http://schemas.openxmlformats.org/drawingml/2006/main"/>
          <a:p xmlns:a="http://schemas.openxmlformats.org/drawingml/2006/main">
            <a:pPr algn="l">
              <a:defRPr sz="4350" b="1">
                <a:solidFill>
                  <a:srgbClr val="D6532F"/>
                </a:solidFill>
              </a:defRPr>
            </a:pPr>
            <a:r>
              <a:rPr sz="4350" b="1">
                <a:solidFill>
                  <a:srgbClr val="D6532F"/>
                </a:solidFill>
              </a:rPr>
              <a:t>230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B54C5E4-3907-4AE8-AEF9-7D498F45A8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8300" y="4305300"/>
            <a:ext cx="2047875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11111"/>
                </a:solidFill>
              </a:defRPr>
            </a:pPr>
            <a:r>
              <a:rPr sz="1650" b="0">
                <a:solidFill>
                  <a:srgbClr val="111111"/>
                </a:solidFill>
              </a:rPr>
              <a:t>unique authorization candidates</a:t>
            </a:r>
          </a:p>
        </p:txBody>
      </p:sp>
    </p:spTree>
    <p:extLst>
      <p:ext uri="{BB962C8B-B14F-4D97-AF65-F5344CB8AC3E}">
        <p14:creationId xmlns:p14="http://schemas.microsoft.com/office/powerpoint/2010/main" val="356563007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slide-4-title">
            <a:extLst xmlns:a="http://schemas.openxmlformats.org/drawingml/2006/main">
              <a:ext uri="{FF2B5EF4-FFF2-40B4-BE49-F238E27FC236}">
                <a16:creationId xmlns:a16="http://schemas.microsoft.com/office/drawing/2014/main" id="{1414264C-70E0-4614-9495-0D4F252571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23850"/>
            <a:ext cx="11096625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3600" b="1">
                <a:solidFill>
                  <a:srgbClr val="111111"/>
                </a:solidFill>
              </a:defRPr>
            </a:pPr>
            <a:r>
              <a:rPr sz="3600" b="1">
                <a:solidFill>
                  <a:srgbClr val="111111"/>
                </a:solidFill>
              </a:rPr>
              <a:t>Each milestone changed the final technical decision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2DA86AE-92D8-40FF-A9AA-D8BD45E414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20450" y="6267450"/>
            <a:ext cx="57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1200" b="0">
                <a:solidFill>
                  <a:srgbClr val="565D67"/>
                </a:solidFill>
              </a:defRPr>
            </a:pPr>
            <a:r>
              <a:rPr sz="1200" b="0">
                <a:solidFill>
                  <a:srgbClr val="565D67"/>
                </a:solidFill>
              </a:rPr>
              <a:t>4</a:t>
            </a:r>
          </a:p>
        </p:txBody>
      </p:sp>
      <p:cxnSp>
        <p:nvCxnSpPr>
          <p:cNvPr id="22" name=""/>
          <p:cNvCxnSpPr/>
          <p:nvPr/>
        </p:nvCxnSpPr>
        <p:spPr>
          <a:xfrm xmlns:a="http://schemas.openxmlformats.org/drawingml/2006/main">
            <a:off x="800100" y="3238500"/>
            <a:ext cx="101917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111111"/>
            </a:solidFill>
            <a:prstDash val="solid"/>
          </a:ln>
        </p:spPr>
      </p:cxn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A807DEC-2D59-4144-B0CC-7633F2B2BF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143250"/>
            <a:ext cx="190500" cy="1905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0323FF3-C5A8-47E9-8D1A-67FBA08073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571750"/>
            <a:ext cx="1047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565D67"/>
                </a:solidFill>
              </a:defRPr>
            </a:pPr>
            <a:r>
              <a:rPr sz="1800" b="1">
                <a:solidFill>
                  <a:srgbClr val="565D67"/>
                </a:solidFill>
              </a:rPr>
              <a:t>M2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E928A23-1146-4CD9-9A5F-AFE5F08584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695700"/>
            <a:ext cx="2095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3D8DFF"/>
                </a:solidFill>
              </a:defRPr>
            </a:pPr>
            <a:r>
              <a:rPr sz="2250" b="1">
                <a:solidFill>
                  <a:srgbClr val="3D8DFF"/>
                </a:solidFill>
              </a:rPr>
              <a:t>Represent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31C7143-FCAB-4149-8B85-021D1BEEF1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248150"/>
            <a:ext cx="2143125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11111"/>
                </a:solidFill>
              </a:defRPr>
            </a:pPr>
            <a:r>
              <a:rPr sz="1650" b="0">
                <a:solidFill>
                  <a:srgbClr val="111111"/>
                </a:solidFill>
              </a:rPr>
              <a:t>TF-IDF + MiniLM</a:t>
            </a:r>
          </a:p>
          <a:p xmlns:a="http://schemas.openxmlformats.org/drawingml/2006/main">
            <a:pPr algn="l">
              <a:defRPr sz="1650" b="0">
                <a:solidFill>
                  <a:srgbClr val="111111"/>
                </a:solidFill>
              </a:defRPr>
            </a:pPr>
            <a:r>
              <a:rPr sz="1650" b="0">
                <a:solidFill>
                  <a:srgbClr val="111111"/>
                </a:solidFill>
              </a:rPr>
              <a:t>20k validation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451DD46-F9AD-428C-9856-BF9FAAB268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14725" y="3143250"/>
            <a:ext cx="190500" cy="1905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A13A7E5-FE99-4251-9DE2-FA159AD549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14725" y="2571750"/>
            <a:ext cx="1047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565D67"/>
                </a:solidFill>
              </a:defRPr>
            </a:pPr>
            <a:r>
              <a:rPr sz="1800" b="1">
                <a:solidFill>
                  <a:srgbClr val="565D67"/>
                </a:solidFill>
              </a:rPr>
              <a:t>M3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696DEA4-4EEE-401D-B622-BEC56221FB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14725" y="3695700"/>
            <a:ext cx="2095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3D8DFF"/>
                </a:solidFill>
              </a:defRPr>
            </a:pPr>
            <a:r>
              <a:rPr sz="2250" b="1">
                <a:solidFill>
                  <a:srgbClr val="3D8DFF"/>
                </a:solidFill>
              </a:rPr>
              <a:t>Adapt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7B23702-34B2-475E-A85D-5F080B9EFA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14725" y="4248150"/>
            <a:ext cx="2143125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11111"/>
                </a:solidFill>
              </a:defRPr>
            </a:pPr>
            <a:r>
              <a:rPr sz="1650" b="0">
                <a:solidFill>
                  <a:srgbClr val="111111"/>
                </a:solidFill>
              </a:rPr>
              <a:t>Zero-shot + few-shot +</a:t>
            </a:r>
          </a:p>
          <a:p xmlns:a="http://schemas.openxmlformats.org/drawingml/2006/main">
            <a:pPr algn="l">
              <a:defRPr sz="1650" b="0">
                <a:solidFill>
                  <a:srgbClr val="111111"/>
                </a:solidFill>
              </a:defRPr>
            </a:pPr>
            <a:r>
              <a:rPr sz="1650" b="0">
                <a:solidFill>
                  <a:srgbClr val="111111"/>
                </a:solidFill>
              </a:rPr>
              <a:t>true PEFT LoRA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89671B3-3A4C-40E8-8662-601D936434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3143250"/>
            <a:ext cx="190500" cy="1905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8ED9FE2-C2F2-4642-A2F4-69DA876FA2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2571750"/>
            <a:ext cx="1047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565D67"/>
                </a:solidFill>
              </a:defRPr>
            </a:pPr>
            <a:r>
              <a:rPr sz="1800" b="1">
                <a:solidFill>
                  <a:srgbClr val="565D67"/>
                </a:solidFill>
              </a:rPr>
              <a:t>M4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CF17563-B155-46DC-BF17-2101995F35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3695700"/>
            <a:ext cx="2095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3D8DFF"/>
                </a:solidFill>
              </a:defRPr>
            </a:pPr>
            <a:r>
              <a:rPr sz="2250" b="1">
                <a:solidFill>
                  <a:srgbClr val="3D8DFF"/>
                </a:solidFill>
              </a:rPr>
              <a:t>Integrate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7B59350-7012-42C0-A67A-89EAA1B932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4248150"/>
            <a:ext cx="2143125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11111"/>
                </a:solidFill>
              </a:defRPr>
            </a:pPr>
            <a:r>
              <a:rPr sz="1650" b="0">
                <a:solidFill>
                  <a:srgbClr val="111111"/>
                </a:solidFill>
              </a:rPr>
              <a:t>80k-trained classifier +</a:t>
            </a:r>
          </a:p>
          <a:p xmlns:a="http://schemas.openxmlformats.org/drawingml/2006/main">
            <a:pPr algn="l">
              <a:defRPr sz="1650" b="0">
                <a:solidFill>
                  <a:srgbClr val="111111"/>
                </a:solidFill>
              </a:defRPr>
            </a:pPr>
            <a:r>
              <a:rPr sz="1650" b="0">
                <a:solidFill>
                  <a:srgbClr val="111111"/>
                </a:solidFill>
              </a:rPr>
              <a:t>retrieval + policy gates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463D61B-23B2-462B-A329-9B1C62B01D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43975" y="3143250"/>
            <a:ext cx="190500" cy="1905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6532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0A50900-2ED4-4346-892D-B5A3C01257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43975" y="2571750"/>
            <a:ext cx="1047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565D67"/>
                </a:solidFill>
              </a:defRPr>
            </a:pPr>
            <a:r>
              <a:rPr sz="1800" b="1">
                <a:solidFill>
                  <a:srgbClr val="565D67"/>
                </a:solidFill>
              </a:rPr>
              <a:t>M5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41D1A86-3329-49F2-BF26-B678D71AEF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43975" y="3695700"/>
            <a:ext cx="2095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D6532F"/>
                </a:solidFill>
              </a:defRPr>
            </a:pPr>
            <a:r>
              <a:rPr sz="2250" b="1">
                <a:solidFill>
                  <a:srgbClr val="D6532F"/>
                </a:solidFill>
              </a:rPr>
              <a:t>Validate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1A5177E-985B-48AA-B2B1-CD4BAF4C3A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43975" y="4248150"/>
            <a:ext cx="2143125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11111"/>
                </a:solidFill>
              </a:defRPr>
            </a:pPr>
            <a:r>
              <a:rPr sz="1650" b="0">
                <a:solidFill>
                  <a:srgbClr val="111111"/>
                </a:solidFill>
              </a:rPr>
              <a:t>Leakage audit, tests,</a:t>
            </a:r>
          </a:p>
          <a:p xmlns:a="http://schemas.openxmlformats.org/drawingml/2006/main">
            <a:pPr algn="l">
              <a:defRPr sz="1650" b="0">
                <a:solidFill>
                  <a:srgbClr val="111111"/>
                </a:solidFill>
              </a:defRPr>
            </a:pPr>
            <a:r>
              <a:rPr sz="1650" b="0">
                <a:solidFill>
                  <a:srgbClr val="111111"/>
                </a:solidFill>
              </a:rPr>
              <a:t>demo, and governance</a:t>
            </a:r>
          </a:p>
        </p:txBody>
      </p:sp>
    </p:spTree>
    <p:extLst>
      <p:ext uri="{BB962C8B-B14F-4D97-AF65-F5344CB8AC3E}">
        <p14:creationId xmlns:p14="http://schemas.microsoft.com/office/powerpoint/2010/main" val="1084145723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9" name="slide-5-title">
            <a:extLst xmlns:a="http://schemas.openxmlformats.org/drawingml/2006/main">
              <a:ext uri="{FF2B5EF4-FFF2-40B4-BE49-F238E27FC236}">
                <a16:creationId xmlns:a16="http://schemas.microsoft.com/office/drawing/2014/main" id="{0E7CAD0B-1042-4EFF-B17A-A08E4212E0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23850"/>
            <a:ext cx="11096625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3600" b="1">
                <a:solidFill>
                  <a:srgbClr val="111111"/>
                </a:solidFill>
              </a:defRPr>
            </a:pPr>
            <a:r>
              <a:rPr sz="3600" b="1">
                <a:solidFill>
                  <a:srgbClr val="111111"/>
                </a:solidFill>
              </a:rPr>
              <a:t>Two input modes prevent a subtle but costly task error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B7B9AE4-164C-40FE-9D23-102BDC4FBF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1028700"/>
            <a:ext cx="10668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565D67"/>
                </a:solidFill>
              </a:defRPr>
            </a:pPr>
            <a:r>
              <a:rPr sz="1650" b="0">
                <a:solidFill>
                  <a:srgbClr val="565D67"/>
                </a:solidFill>
              </a:rPr>
              <a:t>Search requests retrieve candidates; only job postings receive a role-fit label.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F7171A7-9C9B-4004-BE60-B9765F4DCF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20450" y="6267450"/>
            <a:ext cx="57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1200" b="0">
                <a:solidFill>
                  <a:srgbClr val="565D67"/>
                </a:solidFill>
              </a:defRPr>
            </a:pPr>
            <a:r>
              <a:rPr sz="1200" b="0">
                <a:solidFill>
                  <a:srgbClr val="565D67"/>
                </a:solidFill>
              </a:rPr>
              <a:t>5</a:t>
            </a:r>
          </a:p>
        </p:txBody>
      </p:sp>
      <p:cxnSp>
        <p:nvCxnSpPr>
          <p:cNvPr id="32" name=""/>
          <p:cNvCxnSpPr/>
          <p:nvPr/>
        </p:nvCxnSpPr>
        <p:spPr>
          <a:xfrm xmlns:a="http://schemas.openxmlformats.org/drawingml/2006/main">
            <a:off x="2209800" y="3352800"/>
            <a:ext cx="51435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B8BCC4"/>
            </a:solidFill>
            <a:prstDash val="solid"/>
          </a:ln>
        </p:spPr>
      </p:cxnSp>
      <p:cxnSp>
        <p:nvCxnSpPr>
          <p:cNvPr id="33" name=""/>
          <p:cNvCxnSpPr/>
          <p:nvPr/>
        </p:nvCxnSpPr>
        <p:spPr>
          <a:xfrm xmlns:a="http://schemas.openxmlformats.org/drawingml/2006/main">
            <a:off x="4514850" y="3352800"/>
            <a:ext cx="51435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B8BCC4"/>
            </a:solidFill>
            <a:prstDash val="solid"/>
          </a:ln>
        </p:spPr>
      </p:cxnSp>
      <p:cxnSp>
        <p:nvCxnSpPr>
          <p:cNvPr id="34" name=""/>
          <p:cNvCxnSpPr/>
          <p:nvPr/>
        </p:nvCxnSpPr>
        <p:spPr>
          <a:xfrm xmlns:a="http://schemas.openxmlformats.org/drawingml/2006/main">
            <a:off x="6819900" y="3352800"/>
            <a:ext cx="51435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B8BCC4"/>
            </a:solidFill>
            <a:prstDash val="solid"/>
          </a:ln>
        </p:spPr>
      </p:cxnSp>
      <p:cxnSp>
        <p:nvCxnSpPr>
          <p:cNvPr id="35" name=""/>
          <p:cNvCxnSpPr/>
          <p:nvPr/>
        </p:nvCxnSpPr>
        <p:spPr>
          <a:xfrm xmlns:a="http://schemas.openxmlformats.org/drawingml/2006/main">
            <a:off x="9124950" y="3352800"/>
            <a:ext cx="51435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B8BCC4"/>
            </a:solidFill>
            <a:prstDash val="solid"/>
          </a:ln>
        </p:spPr>
      </p:cxn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9FEF848-A7FE-4D22-A90C-9E3F179A44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2495550"/>
            <a:ext cx="1790700" cy="2190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6B9225D-40EB-4C96-877C-13D960DF9C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24150"/>
            <a:ext cx="381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3D8DFF"/>
                </a:solidFill>
              </a:defRPr>
            </a:pPr>
            <a:r>
              <a:rPr sz="1950" b="1">
                <a:solidFill>
                  <a:srgbClr val="3D8DFF"/>
                </a:solidFill>
              </a:rPr>
              <a:t>1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7D38451-0085-4C45-9034-24B2A17791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57550"/>
            <a:ext cx="1428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11111"/>
                </a:solidFill>
              </a:defRPr>
            </a:pPr>
            <a:r>
              <a:rPr sz="1800" b="1">
                <a:solidFill>
                  <a:srgbClr val="111111"/>
                </a:solidFill>
              </a:rPr>
              <a:t>ROUTE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F32D99B-1AA3-45DD-A76C-8A6F8C48E4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48100"/>
            <a:ext cx="14097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65D67"/>
                </a:solidFill>
              </a:defRPr>
            </a:pPr>
            <a:r>
              <a:rPr sz="1500" b="0">
                <a:solidFill>
                  <a:srgbClr val="565D67"/>
                </a:solidFill>
              </a:rPr>
              <a:t>Search request or job posting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2AD8AE2-2C89-4B03-9C3D-0DADF3C9EA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2495550"/>
            <a:ext cx="1790700" cy="2190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7A57042-9DAB-4892-A5B0-7365729920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14650" y="2724150"/>
            <a:ext cx="381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3D8DFF"/>
                </a:solidFill>
              </a:defRPr>
            </a:pPr>
            <a:r>
              <a:rPr sz="1950" b="1">
                <a:solidFill>
                  <a:srgbClr val="3D8DFF"/>
                </a:solidFill>
              </a:rPr>
              <a:t>2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152E822-FB97-4BAC-87DC-74281E79FB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14650" y="3257550"/>
            <a:ext cx="1428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11111"/>
                </a:solidFill>
              </a:defRPr>
            </a:pPr>
            <a:r>
              <a:rPr sz="1800" b="1">
                <a:solidFill>
                  <a:srgbClr val="111111"/>
                </a:solidFill>
              </a:rPr>
              <a:t>RETRIEVE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3EB9102-D04E-4E33-ACFE-33B078C8F8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14650" y="3848100"/>
            <a:ext cx="14097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65D67"/>
                </a:solidFill>
              </a:defRPr>
            </a:pPr>
            <a:r>
              <a:rPr sz="1500" b="0">
                <a:solidFill>
                  <a:srgbClr val="565D67"/>
                </a:solidFill>
              </a:rPr>
              <a:t>80k index + hard constraints + dedupe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F47D09D-A6B9-4CC6-8FA3-63D7E7363B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0" y="2495550"/>
            <a:ext cx="1790700" cy="2190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9282EAF-2A98-4189-A297-5764CE75ED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9700" y="2724150"/>
            <a:ext cx="381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3D8DFF"/>
                </a:solidFill>
              </a:defRPr>
            </a:pPr>
            <a:r>
              <a:rPr sz="1950" b="1">
                <a:solidFill>
                  <a:srgbClr val="3D8DFF"/>
                </a:solidFill>
              </a:rPr>
              <a:t>3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60797A8-8030-418D-9E48-7C8B2A75FC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9700" y="3257550"/>
            <a:ext cx="1428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11111"/>
                </a:solidFill>
              </a:defRPr>
            </a:pPr>
            <a:r>
              <a:rPr sz="1800" b="1">
                <a:solidFill>
                  <a:srgbClr val="111111"/>
                </a:solidFill>
              </a:rPr>
              <a:t>CLASSIFY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215C2EA-5E7A-48D7-AE5E-3CCCCE08D3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9700" y="3848100"/>
            <a:ext cx="14097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65D67"/>
                </a:solidFill>
              </a:defRPr>
            </a:pPr>
            <a:r>
              <a:rPr sz="1500" b="0">
                <a:solidFill>
                  <a:srgbClr val="565D67"/>
                </a:solidFill>
              </a:rPr>
              <a:t>77,135-row TF-IDF SVM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10D3509-1C39-4976-BFF2-F3857F6AC4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2495550"/>
            <a:ext cx="1790700" cy="2190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2CD859F-DFDF-4951-AD74-D296242323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2724150"/>
            <a:ext cx="381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3D8DFF"/>
                </a:solidFill>
              </a:defRPr>
            </a:pPr>
            <a:r>
              <a:rPr sz="1950" b="1">
                <a:solidFill>
                  <a:srgbClr val="3D8DFF"/>
                </a:solidFill>
              </a:rPr>
              <a:t>4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F69F4FF-1254-4365-9533-1F4E8E4F3E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3257550"/>
            <a:ext cx="1428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11111"/>
                </a:solidFill>
              </a:defRPr>
            </a:pPr>
            <a:r>
              <a:rPr sz="1800" b="1">
                <a:solidFill>
                  <a:srgbClr val="111111"/>
                </a:solidFill>
              </a:rPr>
              <a:t>GOVERN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54A4A6A-3343-40C5-B2C3-7D77B2455E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3848100"/>
            <a:ext cx="14097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65D67"/>
                </a:solidFill>
              </a:defRPr>
            </a:pPr>
            <a:r>
              <a:rPr sz="1500" b="0">
                <a:solidFill>
                  <a:srgbClr val="565D67"/>
                </a:solidFill>
              </a:rPr>
              <a:t>Calibrated margin + policy gates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B0ACDE2-0F15-4B35-9EF3-D4F47DC77C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39300" y="2495550"/>
            <a:ext cx="1790700" cy="2190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F1F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FC306F1-EB8F-46E5-ABC3-F568CF120C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9800" y="2724150"/>
            <a:ext cx="381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D6532F"/>
                </a:solidFill>
              </a:defRPr>
            </a:pPr>
            <a:r>
              <a:rPr sz="1950" b="1">
                <a:solidFill>
                  <a:srgbClr val="D6532F"/>
                </a:solidFill>
              </a:rPr>
              <a:t>5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DF43B47F-7392-47C2-A63D-ADF8A7A3D8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9800" y="3257550"/>
            <a:ext cx="1428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11111"/>
                </a:solidFill>
              </a:defRPr>
            </a:pPr>
            <a:r>
              <a:rPr sz="1800" b="1">
                <a:solidFill>
                  <a:srgbClr val="111111"/>
                </a:solidFill>
              </a:rPr>
              <a:t>REVIEW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BE12BE6F-1F00-4D0E-BD87-A87D4781F8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9800" y="3848100"/>
            <a:ext cx="14097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65D67"/>
                </a:solidFill>
              </a:defRPr>
            </a:pPr>
            <a:r>
              <a:rPr sz="1500" b="0">
                <a:solidFill>
                  <a:srgbClr val="565D67"/>
                </a:solidFill>
              </a:rPr>
              <a:t>Cited evidence and final action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812BE27C-3CE0-4001-B8B7-5D7C2A4323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5391150"/>
            <a:ext cx="10477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111111"/>
                </a:solidFill>
              </a:defRPr>
            </a:pPr>
            <a:r>
              <a:rPr sz="2175" b="1">
                <a:solidFill>
                  <a:srgbClr val="111111"/>
                </a:solidFill>
              </a:rPr>
              <a:t>A high role-fit score can never override an explicit authorization restriction.</a:t>
            </a:r>
          </a:p>
        </p:txBody>
      </p:sp>
    </p:spTree>
    <p:extLst>
      <p:ext uri="{BB962C8B-B14F-4D97-AF65-F5344CB8AC3E}">
        <p14:creationId xmlns:p14="http://schemas.microsoft.com/office/powerpoint/2010/main" val="1906280775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8" name="slide-6-title">
            <a:extLst xmlns:a="http://schemas.openxmlformats.org/drawingml/2006/main">
              <a:ext uri="{FF2B5EF4-FFF2-40B4-BE49-F238E27FC236}">
                <a16:creationId xmlns:a16="http://schemas.microsoft.com/office/drawing/2014/main" id="{D036A537-6073-4938-81EF-0782972C2C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23850"/>
            <a:ext cx="11096625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3600" b="1">
                <a:solidFill>
                  <a:srgbClr val="111111"/>
                </a:solidFill>
              </a:defRPr>
            </a:pPr>
            <a:r>
              <a:rPr sz="3600" b="1">
                <a:solidFill>
                  <a:srgbClr val="111111"/>
                </a:solidFill>
              </a:rPr>
              <a:t>Search mode returns constrained, inspectable candidates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6190F7B-35E1-4DAC-94AB-B488B4983D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1028700"/>
            <a:ext cx="10668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565D67"/>
                </a:solidFill>
              </a:defRPr>
            </a:pPr>
            <a:r>
              <a:rPr sz="1650" b="0">
                <a:solidFill>
                  <a:srgbClr val="565D67"/>
                </a:solidFill>
              </a:rPr>
              <a:t>The top five results satisfy the requested US constraint; the search sentence is not misclassified.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75AE41D-C05E-4D0A-B303-C3B203E6BB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20450" y="6267450"/>
            <a:ext cx="57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1200" b="0">
                <a:solidFill>
                  <a:srgbClr val="565D67"/>
                </a:solidFill>
              </a:defRPr>
            </a:pPr>
            <a:r>
              <a:rPr sz="1200" b="0">
                <a:solidFill>
                  <a:srgbClr val="565D67"/>
                </a:solidFill>
              </a:rPr>
              <a:t>6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63B290B-62C1-44A7-BD0E-AF61188F2F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1581150"/>
            <a:ext cx="1238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3D8DFF"/>
                </a:solidFill>
              </a:defRPr>
            </a:pPr>
            <a:r>
              <a:rPr sz="1650" b="1">
                <a:solidFill>
                  <a:srgbClr val="3D8DFF"/>
                </a:solidFill>
              </a:rPr>
              <a:t>INPUT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83AFDC1-3CFF-4EC8-8218-C5C77AB26E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1150" y="1524000"/>
            <a:ext cx="9906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11111"/>
                </a:solidFill>
              </a:defRPr>
            </a:pPr>
            <a:r>
              <a:rPr sz="1575" b="0">
                <a:solidFill>
                  <a:srgbClr val="111111"/>
                </a:solidFill>
              </a:rPr>
              <a:t>Find entry-level US data analyst, business analyst, or BI roles with SQL, Python, Excel, Tableau, or Power BI. Remote roles are acceptable.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D81CCE7-1163-4A45-988C-9A1A8E6810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2343150"/>
            <a:ext cx="666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D960700-8316-45FB-8296-C3CA012B6B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2466975"/>
            <a:ext cx="5524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</a:defRPr>
            </a:pPr>
            <a:r>
              <a:rPr sz="1050" b="1">
                <a:solidFill>
                  <a:srgbClr val="111111"/>
                </a:solidFill>
              </a:rPr>
              <a:t>RANK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61C7273-AA94-4EDC-A283-801D6F7E1D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2343150"/>
            <a:ext cx="36195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4BE14D7-163B-4AE3-92CE-AC136AC0E6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466975"/>
            <a:ext cx="3505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11111"/>
                </a:solidFill>
              </a:defRPr>
            </a:pPr>
            <a:r>
              <a:rPr sz="1200" b="1">
                <a:solidFill>
                  <a:srgbClr val="111111"/>
                </a:solidFill>
              </a:rPr>
              <a:t>POSTING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CF04495-B083-4F60-B2E4-138AB09455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2343150"/>
            <a:ext cx="3714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A6F5546-F901-42F1-AD56-62037E9C63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2466975"/>
            <a:ext cx="36004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11111"/>
                </a:solidFill>
              </a:defRPr>
            </a:pPr>
            <a:r>
              <a:rPr sz="1200" b="1">
                <a:solidFill>
                  <a:srgbClr val="111111"/>
                </a:solidFill>
              </a:rPr>
              <a:t>COMPANY / LOCATION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DFBFE80-A04A-4194-8C4D-B3E2CC71F7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2343150"/>
            <a:ext cx="1428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7BB205F-9800-448B-AAF4-2FB3A14F1D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2466975"/>
            <a:ext cx="13144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11111"/>
                </a:solidFill>
              </a:defRPr>
            </a:pPr>
            <a:r>
              <a:rPr sz="1200" b="1">
                <a:solidFill>
                  <a:srgbClr val="111111"/>
                </a:solidFill>
              </a:rPr>
              <a:t>FIT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195EB8D-DEA7-4CEB-B278-B98E1C8EEB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8850" y="2343150"/>
            <a:ext cx="9525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EADA886-EC48-4289-9083-D267582830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2466975"/>
            <a:ext cx="838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11111"/>
                </a:solidFill>
              </a:defRPr>
            </a:pPr>
            <a:r>
              <a:rPr sz="1200" b="1">
                <a:solidFill>
                  <a:srgbClr val="111111"/>
                </a:solidFill>
              </a:rPr>
              <a:t>SCORE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C48CCFF-8689-4EF6-9E67-33F37F0CAF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2800350"/>
            <a:ext cx="66675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5B20C16-401A-4905-AC55-D249B124D8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914650"/>
            <a:ext cx="5143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11111"/>
                </a:solidFill>
              </a:defRPr>
            </a:pPr>
            <a:r>
              <a:rPr sz="1350" b="0">
                <a:solidFill>
                  <a:srgbClr val="111111"/>
                </a:solidFill>
              </a:rPr>
              <a:t>1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17C9EA2-AD84-42E1-9B87-3A4FEB80A0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2800350"/>
            <a:ext cx="36195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CDBA6A1-449E-4647-87E1-0951BD6371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2914650"/>
            <a:ext cx="34671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11111"/>
                </a:solidFill>
              </a:defRPr>
            </a:pPr>
            <a:r>
              <a:rPr sz="1425" b="0">
                <a:solidFill>
                  <a:srgbClr val="111111"/>
                </a:solidFill>
              </a:rPr>
              <a:t>Data Analyst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044FCC7-AB8C-4A95-A25E-27C0617B11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2800350"/>
            <a:ext cx="371475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ED7D418-1C2E-4112-A2D9-AE1BB709EA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2914650"/>
            <a:ext cx="35623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11111"/>
                </a:solidFill>
              </a:defRPr>
            </a:pPr>
            <a:r>
              <a:rPr sz="1425" b="0">
                <a:solidFill>
                  <a:srgbClr val="111111"/>
                </a:solidFill>
              </a:rPr>
              <a:t>HireMatch</a:t>
            </a:r>
          </a:p>
          <a:p xmlns:a="http://schemas.openxmlformats.org/drawingml/2006/main">
            <a:pPr algn="l">
              <a:defRPr sz="1425" b="0">
                <a:solidFill>
                  <a:srgbClr val="111111"/>
                </a:solidFill>
              </a:defRPr>
            </a:pPr>
            <a:r>
              <a:rPr sz="1425" b="0">
                <a:solidFill>
                  <a:srgbClr val="111111"/>
                </a:solidFill>
              </a:rPr>
              <a:t>Anywhere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FA5A2AD-CEA3-493A-9C7C-770A2B4AD7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2800350"/>
            <a:ext cx="142875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B090A9C-69BB-4352-8B4C-CC733BBEDA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2914650"/>
            <a:ext cx="12763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3D8DFF"/>
                </a:solidFill>
              </a:defRPr>
            </a:pPr>
            <a:r>
              <a:rPr sz="1425" b="1">
                <a:solidFill>
                  <a:srgbClr val="3D8DFF"/>
                </a:solidFill>
              </a:rPr>
              <a:t>high_fit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360D9564-4CE5-46F2-845D-EDEB10A8DA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8850" y="2800350"/>
            <a:ext cx="9525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D7AA156-8A9D-454D-94BC-689D50EE37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5050" y="2914650"/>
            <a:ext cx="8001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11111"/>
                </a:solidFill>
              </a:defRPr>
            </a:pPr>
            <a:r>
              <a:rPr sz="1350" b="0">
                <a:solidFill>
                  <a:srgbClr val="111111"/>
                </a:solidFill>
              </a:rPr>
              <a:t>9.854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47911271-5802-45FA-9DF5-9D30D7511D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3524250"/>
            <a:ext cx="66675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F066C9F9-728E-4278-B583-FF8094F4FB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3638550"/>
            <a:ext cx="5143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11111"/>
                </a:solidFill>
              </a:defRPr>
            </a:pPr>
            <a:r>
              <a:rPr sz="1350" b="0">
                <a:solidFill>
                  <a:srgbClr val="111111"/>
                </a:solidFill>
              </a:rPr>
              <a:t>2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236706F6-3611-48E2-90A2-E25B57FAAA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3524250"/>
            <a:ext cx="36195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35157B6F-B413-4692-9884-60DE1070E4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3638550"/>
            <a:ext cx="34671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11111"/>
                </a:solidFill>
              </a:defRPr>
            </a:pPr>
            <a:r>
              <a:rPr sz="1425" b="0">
                <a:solidFill>
                  <a:srgbClr val="111111"/>
                </a:solidFill>
              </a:rPr>
              <a:t>Data Analyst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64BF332F-7EAD-441F-832B-F2EE9EF4E8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3524250"/>
            <a:ext cx="371475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FA875233-A378-45EC-AB61-C7FE0596AF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3638550"/>
            <a:ext cx="35623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11111"/>
                </a:solidFill>
              </a:defRPr>
            </a:pPr>
            <a:r>
              <a:rPr sz="1425" b="0">
                <a:solidFill>
                  <a:srgbClr val="111111"/>
                </a:solidFill>
              </a:rPr>
              <a:t>HMP Global</a:t>
            </a:r>
          </a:p>
          <a:p xmlns:a="http://schemas.openxmlformats.org/drawingml/2006/main">
            <a:pPr algn="l">
              <a:defRPr sz="1425" b="0">
                <a:solidFill>
                  <a:srgbClr val="111111"/>
                </a:solidFill>
              </a:defRPr>
            </a:pPr>
            <a:r>
              <a:rPr sz="1425" b="0">
                <a:solidFill>
                  <a:srgbClr val="111111"/>
                </a:solidFill>
              </a:rPr>
              <a:t>Anywhere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1BB3BA71-1682-4D18-BE43-53482F2954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3524250"/>
            <a:ext cx="142875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61C1FF3A-91F9-48A0-8D95-2595C25275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3638550"/>
            <a:ext cx="12763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3D8DFF"/>
                </a:solidFill>
              </a:defRPr>
            </a:pPr>
            <a:r>
              <a:rPr sz="1425" b="1">
                <a:solidFill>
                  <a:srgbClr val="3D8DFF"/>
                </a:solidFill>
              </a:rPr>
              <a:t>high_fit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766DB01C-5B19-4459-8685-ECA2AEE159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8850" y="3524250"/>
            <a:ext cx="9525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C8A3DA40-F78F-420E-90AB-BA35D6C0F7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5050" y="3638550"/>
            <a:ext cx="8001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11111"/>
                </a:solidFill>
              </a:defRPr>
            </a:pPr>
            <a:r>
              <a:rPr sz="1350" b="0">
                <a:solidFill>
                  <a:srgbClr val="111111"/>
                </a:solidFill>
              </a:rPr>
              <a:t>8.555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812ED0DE-346B-4E7F-A8F6-10BF13CC5C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4248150"/>
            <a:ext cx="66675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0AAF58EB-CBC2-4482-A277-5D43370681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4362450"/>
            <a:ext cx="5143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11111"/>
                </a:solidFill>
              </a:defRPr>
            </a:pPr>
            <a:r>
              <a:rPr sz="1350" b="0">
                <a:solidFill>
                  <a:srgbClr val="111111"/>
                </a:solidFill>
              </a:rPr>
              <a:t>3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2350C528-7074-4D3C-8AFD-5A9110D5D3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4248150"/>
            <a:ext cx="36195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17A3DE03-90C5-4298-9180-5F83ED97F5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4362450"/>
            <a:ext cx="34671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11111"/>
                </a:solidFill>
              </a:defRPr>
            </a:pPr>
            <a:r>
              <a:rPr sz="1425" b="0">
                <a:solidFill>
                  <a:srgbClr val="111111"/>
                </a:solidFill>
              </a:rPr>
              <a:t>Data Analyst (US REMOTE)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4FE910EE-CA46-4411-A2AB-7C11C73DD2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4248150"/>
            <a:ext cx="371475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B57D77DB-CABB-4D24-BE22-65FDF9ED7D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4362450"/>
            <a:ext cx="35623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11111"/>
                </a:solidFill>
              </a:defRPr>
            </a:pPr>
            <a:r>
              <a:rPr sz="1425" b="0">
                <a:solidFill>
                  <a:srgbClr val="111111"/>
                </a:solidFill>
              </a:rPr>
              <a:t>LeanTaaS</a:t>
            </a:r>
          </a:p>
          <a:p xmlns:a="http://schemas.openxmlformats.org/drawingml/2006/main">
            <a:pPr algn="l">
              <a:defRPr sz="1425" b="0">
                <a:solidFill>
                  <a:srgbClr val="111111"/>
                </a:solidFill>
              </a:defRPr>
            </a:pPr>
            <a:r>
              <a:rPr sz="1425" b="0">
                <a:solidFill>
                  <a:srgbClr val="111111"/>
                </a:solidFill>
              </a:rPr>
              <a:t>Anywhere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6C11B5ED-45E6-478F-A677-89092317EC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4248150"/>
            <a:ext cx="142875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577A6619-D398-4786-A54D-D930873DF1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4362450"/>
            <a:ext cx="12763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3D8DFF"/>
                </a:solidFill>
              </a:defRPr>
            </a:pPr>
            <a:r>
              <a:rPr sz="1425" b="1">
                <a:solidFill>
                  <a:srgbClr val="3D8DFF"/>
                </a:solidFill>
              </a:rPr>
              <a:t>high_fit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29A2C49B-B0DF-4862-94BC-5D3FAA0F73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8850" y="4248150"/>
            <a:ext cx="9525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CF4D4667-AEF4-4E10-B2B8-D3661C74FA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5050" y="4362450"/>
            <a:ext cx="8001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11111"/>
                </a:solidFill>
              </a:defRPr>
            </a:pPr>
            <a:r>
              <a:rPr sz="1350" b="0">
                <a:solidFill>
                  <a:srgbClr val="111111"/>
                </a:solidFill>
              </a:rPr>
              <a:t>8.458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0C100B31-3D8B-4C27-A604-04ACCA975C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5219700"/>
            <a:ext cx="10287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11111"/>
                </a:solidFill>
              </a:defRPr>
            </a:pPr>
            <a:r>
              <a:rPr sz="1875" b="1">
                <a:solidFill>
                  <a:srgbClr val="111111"/>
                </a:solidFill>
              </a:rPr>
              <a:t>Review six retrieved postings; the top five satisfy the US constraint.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60DE570F-94AD-4586-82A1-448B12AB30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5734050"/>
            <a:ext cx="10287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D6532F"/>
                </a:solidFill>
              </a:defRPr>
            </a:pPr>
            <a:r>
              <a:rPr sz="1500" b="0">
                <a:solidFill>
                  <a:srgbClr val="D6532F"/>
                </a:solidFill>
              </a:rPr>
              <a:t>Authorization: verify separately unless explicit source text is present.</a:t>
            </a:r>
          </a:p>
        </p:txBody>
      </p:sp>
    </p:spTree>
    <p:extLst>
      <p:ext uri="{BB962C8B-B14F-4D97-AF65-F5344CB8AC3E}">
        <p14:creationId xmlns:p14="http://schemas.microsoft.com/office/powerpoint/2010/main" val="1987706254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slide-7-title">
            <a:extLst xmlns:a="http://schemas.openxmlformats.org/drawingml/2006/main">
              <a:ext uri="{FF2B5EF4-FFF2-40B4-BE49-F238E27FC236}">
                <a16:creationId xmlns:a16="http://schemas.microsoft.com/office/drawing/2014/main" id="{B3E839F6-608F-46CC-84F7-8CF9849D6B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23850"/>
            <a:ext cx="11096625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3600" b="1">
                <a:solidFill>
                  <a:srgbClr val="111111"/>
                </a:solidFill>
              </a:defRPr>
            </a:pPr>
            <a:r>
              <a:rPr sz="3600" b="1">
                <a:solidFill>
                  <a:srgbClr val="111111"/>
                </a:solidFill>
              </a:rPr>
              <a:t>Edge cases change the action, not the safety boundary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20A38DA-AD94-425B-A94E-5653231994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20450" y="6267450"/>
            <a:ext cx="57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1200" b="0">
                <a:solidFill>
                  <a:srgbClr val="565D67"/>
                </a:solidFill>
              </a:defRPr>
            </a:pPr>
            <a:r>
              <a:rPr sz="1200" b="0">
                <a:solidFill>
                  <a:srgbClr val="565D67"/>
                </a:solidFill>
              </a:rPr>
              <a:t>7</a:t>
            </a:r>
          </a:p>
        </p:txBody>
      </p:sp>
      <p:cxnSp>
        <p:nvCxnSpPr>
          <p:cNvPr id="21" name=""/>
          <p:cNvCxnSpPr/>
          <p:nvPr/>
        </p:nvCxnSpPr>
        <p:spPr>
          <a:xfrm xmlns:a="http://schemas.openxmlformats.org/drawingml/2006/main">
            <a:off x="419100" y="1790700"/>
            <a:ext cx="5143500" cy="0"/>
          </a:xfrm>
          <a:prstGeom xmlns:a="http://schemas.openxmlformats.org/drawingml/2006/main" prst="straightConnector1">
            <a:avLst/>
          </a:prstGeom>
          <a:ln xmlns:a="http://schemas.openxmlformats.org/drawingml/2006/main" w="38100">
            <a:solidFill>
              <a:srgbClr val="3D8DFF"/>
            </a:solidFill>
            <a:prstDash val="solid"/>
          </a:ln>
        </p:spPr>
      </p:cxn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6C7CC2B-93F4-4DF7-AE5A-E8C1FF11FB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2019300"/>
            <a:ext cx="5143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565D67"/>
                </a:solidFill>
              </a:defRPr>
            </a:pPr>
            <a:r>
              <a:rPr sz="1650" b="1">
                <a:solidFill>
                  <a:srgbClr val="565D67"/>
                </a:solidFill>
              </a:rPr>
              <a:t>ENTRY LEVEL ANALYTICS SEARCH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0933025-B9DF-4876-AE56-4708B0F5A4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2514600"/>
            <a:ext cx="1809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3D8DFF"/>
                </a:solidFill>
              </a:defRPr>
            </a:pPr>
            <a:r>
              <a:rPr sz="2325" b="1">
                <a:solidFill>
                  <a:srgbClr val="3D8DFF"/>
                </a:solidFill>
              </a:rPr>
              <a:t>search results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29CA1B6-E3CE-489A-B5A2-44F7E0999D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28850" y="2438400"/>
            <a:ext cx="3333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11111"/>
                </a:solidFill>
              </a:defRPr>
            </a:pPr>
            <a:r>
              <a:rPr sz="1650" b="0">
                <a:solidFill>
                  <a:srgbClr val="111111"/>
                </a:solidFill>
              </a:rPr>
              <a:t>Find US analytics opportunities for advisor review</a:t>
            </a:r>
          </a:p>
        </p:txBody>
      </p:sp>
      <p:cxnSp>
        <p:nvCxnSpPr>
          <p:cNvPr id="25" name=""/>
          <p:cNvCxnSpPr/>
          <p:nvPr/>
        </p:nvCxnSpPr>
        <p:spPr>
          <a:xfrm xmlns:a="http://schemas.openxmlformats.org/drawingml/2006/main">
            <a:off x="6248400" y="1790700"/>
            <a:ext cx="5143500" cy="0"/>
          </a:xfrm>
          <a:prstGeom xmlns:a="http://schemas.openxmlformats.org/drawingml/2006/main" prst="straightConnector1">
            <a:avLst/>
          </a:prstGeom>
          <a:ln xmlns:a="http://schemas.openxmlformats.org/drawingml/2006/main" w="38100">
            <a:solidFill>
              <a:srgbClr val="3D8DFF"/>
            </a:solidFill>
            <a:prstDash val="solid"/>
          </a:ln>
        </p:spPr>
      </p:cxn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93B3206-BBDF-4DAE-A1B1-02F7A4FB47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2019300"/>
            <a:ext cx="5143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565D67"/>
                </a:solidFill>
              </a:defRPr>
            </a:pPr>
            <a:r>
              <a:rPr sz="1650" b="1">
                <a:solidFill>
                  <a:srgbClr val="565D67"/>
                </a:solidFill>
              </a:rPr>
              <a:t>SENIOR ENGINEERING POSTING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25A3BD3-5B3F-44D9-9118-1950E2ACEC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2514600"/>
            <a:ext cx="1809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3D8DFF"/>
                </a:solidFill>
              </a:defRPr>
            </a:pPr>
            <a:r>
              <a:rPr sz="2325" b="1">
                <a:solidFill>
                  <a:srgbClr val="3D8DFF"/>
                </a:solidFill>
              </a:rPr>
              <a:t>low_fit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F0BB7E1-2E13-4FB9-AFE3-AC669B56B6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2438400"/>
            <a:ext cx="3333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11111"/>
                </a:solidFill>
              </a:defRPr>
            </a:pPr>
            <a:r>
              <a:rPr sz="1650" b="0">
                <a:solidFill>
                  <a:srgbClr val="111111"/>
                </a:solidFill>
              </a:rPr>
              <a:t>Hold a role that is too senior and engineering-heavy</a:t>
            </a:r>
          </a:p>
        </p:txBody>
      </p:sp>
      <p:cxnSp>
        <p:nvCxnSpPr>
          <p:cNvPr id="29" name=""/>
          <p:cNvCxnSpPr/>
          <p:nvPr/>
        </p:nvCxnSpPr>
        <p:spPr>
          <a:xfrm xmlns:a="http://schemas.openxmlformats.org/drawingml/2006/main">
            <a:off x="419100" y="3943350"/>
            <a:ext cx="5143500" cy="0"/>
          </a:xfrm>
          <a:prstGeom xmlns:a="http://schemas.openxmlformats.org/drawingml/2006/main" prst="straightConnector1">
            <a:avLst/>
          </a:prstGeom>
          <a:ln xmlns:a="http://schemas.openxmlformats.org/drawingml/2006/main" w="38100">
            <a:solidFill>
              <a:srgbClr val="D6532F"/>
            </a:solidFill>
            <a:prstDash val="solid"/>
          </a:ln>
        </p:spPr>
      </p:cxn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4882666-417C-486E-BB5D-6249C6F58C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4171950"/>
            <a:ext cx="5143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565D67"/>
                </a:solidFill>
              </a:defRPr>
            </a:pPr>
            <a:r>
              <a:rPr sz="1650" b="1">
                <a:solidFill>
                  <a:srgbClr val="565D67"/>
                </a:solidFill>
              </a:rPr>
              <a:t>AUTHORIZATION RESTRICTION POSTING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92F06C7-67A6-438D-87C3-E303A6E5D3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4667250"/>
            <a:ext cx="1809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D6532F"/>
                </a:solidFill>
              </a:defRPr>
            </a:pPr>
            <a:r>
              <a:rPr sz="2325" b="1">
                <a:solidFill>
                  <a:srgbClr val="D6532F"/>
                </a:solidFill>
              </a:rPr>
              <a:t>high_fit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BF329B4-DF55-4AAC-8343-2858082F67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28850" y="4591050"/>
            <a:ext cx="3333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11111"/>
                </a:solidFill>
              </a:defRPr>
            </a:pPr>
            <a:r>
              <a:rPr sz="1650" b="0">
                <a:solidFill>
                  <a:srgbClr val="111111"/>
                </a:solidFill>
              </a:rPr>
              <a:t>High role fit, but No OPT/CPT forces Hold</a:t>
            </a:r>
          </a:p>
        </p:txBody>
      </p:sp>
      <p:cxnSp>
        <p:nvCxnSpPr>
          <p:cNvPr id="33" name=""/>
          <p:cNvCxnSpPr/>
          <p:nvPr/>
        </p:nvCxnSpPr>
        <p:spPr>
          <a:xfrm xmlns:a="http://schemas.openxmlformats.org/drawingml/2006/main">
            <a:off x="6248400" y="3943350"/>
            <a:ext cx="5143500" cy="0"/>
          </a:xfrm>
          <a:prstGeom xmlns:a="http://schemas.openxmlformats.org/drawingml/2006/main" prst="straightConnector1">
            <a:avLst/>
          </a:prstGeom>
          <a:ln xmlns:a="http://schemas.openxmlformats.org/drawingml/2006/main" w="38100">
            <a:solidFill>
              <a:srgbClr val="3D8DFF"/>
            </a:solidFill>
            <a:prstDash val="solid"/>
          </a:ln>
        </p:spPr>
      </p:cxn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0AA8FB5-202F-4F25-8C0F-0B84B879E7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4171950"/>
            <a:ext cx="5143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565D67"/>
                </a:solidFill>
              </a:defRPr>
            </a:pPr>
            <a:r>
              <a:rPr sz="1650" b="1">
                <a:solidFill>
                  <a:srgbClr val="565D67"/>
                </a:solidFill>
              </a:rPr>
              <a:t>THIN METADATA POSTING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CB8A475-40F1-49E9-9DB2-9D2775DD57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4667250"/>
            <a:ext cx="1809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3D8DFF"/>
                </a:solidFill>
              </a:defRPr>
            </a:pPr>
            <a:r>
              <a:rPr sz="2325" b="1">
                <a:solidFill>
                  <a:srgbClr val="3D8DFF"/>
                </a:solidFill>
              </a:rPr>
              <a:t>unclear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5ECE6FB-D1FD-413E-98BD-5C2D383634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4591050"/>
            <a:ext cx="3333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11111"/>
                </a:solidFill>
              </a:defRPr>
            </a:pPr>
            <a:r>
              <a:rPr sz="1650" b="0">
                <a:solidFill>
                  <a:srgbClr val="111111"/>
                </a:solidFill>
              </a:rPr>
              <a:t>Missing fields override medium_fit to unclear</a:t>
            </a:r>
          </a:p>
        </p:txBody>
      </p:sp>
    </p:spTree>
    <p:extLst>
      <p:ext uri="{BB962C8B-B14F-4D97-AF65-F5344CB8AC3E}">
        <p14:creationId xmlns:p14="http://schemas.microsoft.com/office/powerpoint/2010/main" val="954316157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slide-8-title">
            <a:extLst xmlns:a="http://schemas.openxmlformats.org/drawingml/2006/main">
              <a:ext uri="{FF2B5EF4-FFF2-40B4-BE49-F238E27FC236}">
                <a16:creationId xmlns:a16="http://schemas.microsoft.com/office/drawing/2014/main" id="{A5470B4D-091E-411A-AA4F-BD8003C874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23850"/>
            <a:ext cx="11096625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3600" b="1">
                <a:solidFill>
                  <a:srgbClr val="111111"/>
                </a:solidFill>
              </a:defRPr>
            </a:pPr>
            <a:r>
              <a:rPr sz="3600" b="1">
                <a:solidFill>
                  <a:srgbClr val="111111"/>
                </a:solidFill>
              </a:rPr>
              <a:t>Using all training data beats extra model complexity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0AE6280-9389-4B21-BAB8-AEE2041757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20450" y="6267450"/>
            <a:ext cx="57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1200" b="0">
                <a:solidFill>
                  <a:srgbClr val="565D67"/>
                </a:solidFill>
              </a:defRPr>
            </a:pPr>
            <a:r>
              <a:rPr sz="1200" b="0">
                <a:solidFill>
                  <a:srgbClr val="565D67"/>
                </a:solidFill>
              </a:rPr>
              <a:t>8</a:t>
            </a:r>
          </a:p>
        </p:txBody>
      </p:sp>
      <p:graphicFrame>
        <p:nvGraphicFramePr>
          <p:cNvPr id="16" name="Chart"/>
          <p:cNvGraphicFramePr/>
          <p:nvPr/>
        </p:nvGraphicFramePr>
        <p:xfrm>
          <a:off xmlns:a="http://schemas.openxmlformats.org/drawingml/2006/main" x="419100" y="1409700"/>
          <a:ext xmlns:a="http://schemas.openxmlformats.org/drawingml/2006/main" cx="6191250" cy="45720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0d58690ec5f84273"/>
          </a:graphicData>
        </a:graphic>
      </p:graphicFrame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1B1DBA8-2FA4-4771-A594-3D0219E3C1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1466850"/>
            <a:ext cx="4286250" cy="1181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D0AADE9-214C-43BB-BFFB-5B54A16E56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0450" y="1638300"/>
            <a:ext cx="14287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3D8DFF"/>
                </a:solidFill>
              </a:defRPr>
            </a:pPr>
            <a:r>
              <a:rPr sz="3150" b="1">
                <a:solidFill>
                  <a:srgbClr val="3D8DFF"/>
                </a:solidFill>
              </a:rPr>
              <a:t>98.4%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89807DC-B5B7-4629-8183-A28556CC27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1733550"/>
            <a:ext cx="2190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11111"/>
                </a:solidFill>
              </a:defRPr>
            </a:pPr>
            <a:r>
              <a:rPr sz="1650" b="0">
                <a:solidFill>
                  <a:srgbClr val="111111"/>
                </a:solidFill>
              </a:rPr>
              <a:t>fixed-set macro F1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1C60EF5-BFF6-4296-97B3-BA2A086450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2952750"/>
            <a:ext cx="4286250" cy="1181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131AD0D-E9E5-4FA2-99D9-4E68C52DF0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0450" y="3124200"/>
            <a:ext cx="14287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3D8DFF"/>
                </a:solidFill>
              </a:defRPr>
            </a:pPr>
            <a:r>
              <a:rPr sz="3150" b="1">
                <a:solidFill>
                  <a:srgbClr val="3D8DFF"/>
                </a:solidFill>
              </a:rPr>
              <a:t>97.9%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571ED4E-F983-49F2-84C9-34995004E6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3219450"/>
            <a:ext cx="2190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11111"/>
                </a:solidFill>
              </a:defRPr>
            </a:pPr>
            <a:r>
              <a:rPr sz="1650" b="0">
                <a:solidFill>
                  <a:srgbClr val="111111"/>
                </a:solidFill>
              </a:rPr>
              <a:t>novel-text macro F1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77865E5-8FB7-4A03-A811-4134E16DE9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4438650"/>
            <a:ext cx="4286250" cy="1181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F1F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82D1294-9906-4DAE-A692-B430E5685B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0450" y="4610100"/>
            <a:ext cx="14287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D6532F"/>
                </a:solidFill>
              </a:defRPr>
            </a:pPr>
            <a:r>
              <a:rPr sz="3150" b="1">
                <a:solidFill>
                  <a:srgbClr val="D6532F"/>
                </a:solidFill>
              </a:rPr>
              <a:t>0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1BD0A56-F759-4672-9578-41E3D167EB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4705350"/>
            <a:ext cx="2190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11111"/>
                </a:solidFill>
              </a:defRPr>
            </a:pPr>
            <a:r>
              <a:rPr sz="1650" b="0">
                <a:solidFill>
                  <a:srgbClr val="111111"/>
                </a:solidFill>
              </a:rPr>
              <a:t>unsupported authorization claims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E057E6E-6539-4C5B-99F6-C4BF174B34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5753100"/>
            <a:ext cx="4095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11111"/>
                </a:solidFill>
              </a:defRPr>
            </a:pPr>
            <a:r>
              <a:rPr sz="1500" b="1">
                <a:solidFill>
                  <a:srgbClr val="111111"/>
                </a:solidFill>
              </a:rPr>
              <a:t>The final 3.8 MB model trains in under one minute.</a:t>
            </a:r>
          </a:p>
        </p:txBody>
      </p:sp>
    </p:spTree>
    <p:extLst>
      <p:ext uri="{BB962C8B-B14F-4D97-AF65-F5344CB8AC3E}">
        <p14:creationId xmlns:p14="http://schemas.microsoft.com/office/powerpoint/2010/main" val="96942998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slide-9-title">
            <a:extLst xmlns:a="http://schemas.openxmlformats.org/drawingml/2006/main">
              <a:ext uri="{FF2B5EF4-FFF2-40B4-BE49-F238E27FC236}">
                <a16:creationId xmlns:a16="http://schemas.microsoft.com/office/drawing/2014/main" id="{F2B95DE6-D7F0-40C1-A8B9-A94705E9DF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23850"/>
            <a:ext cx="11096625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3600" b="1">
                <a:solidFill>
                  <a:srgbClr val="111111"/>
                </a:solidFill>
              </a:defRPr>
            </a:pPr>
            <a:r>
              <a:rPr sz="3600" b="1">
                <a:solidFill>
                  <a:srgbClr val="111111"/>
                </a:solidFill>
              </a:rPr>
              <a:t>The remaining risk is label validity, not model capacity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CA13D8A-F0C7-4209-B4D2-221A67BEF8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20450" y="6267450"/>
            <a:ext cx="57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1200" b="0">
                <a:solidFill>
                  <a:srgbClr val="565D67"/>
                </a:solidFill>
              </a:defRPr>
            </a:pPr>
            <a:r>
              <a:rPr sz="1200" b="0">
                <a:solidFill>
                  <a:srgbClr val="565D67"/>
                </a:solidFill>
              </a:rPr>
              <a:t>9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4D27BE1-056E-49E4-AE47-7F360756E8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1524000"/>
            <a:ext cx="4953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3D8DFF"/>
                </a:solidFill>
              </a:defRPr>
            </a:pPr>
            <a:r>
              <a:rPr sz="1650" b="1">
                <a:solidFill>
                  <a:srgbClr val="3D8DFF"/>
                </a:solidFill>
              </a:rPr>
              <a:t>FIXED 4K ERRORS BY TRUE LABEL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9E5A349-696F-4177-A3D3-52E994E173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2000250"/>
            <a:ext cx="2476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11111"/>
                </a:solidFill>
              </a:defRPr>
            </a:pPr>
            <a:r>
              <a:rPr sz="1650" b="0">
                <a:solidFill>
                  <a:srgbClr val="111111"/>
                </a:solidFill>
              </a:rPr>
              <a:t>high_fit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00F4043-8773-4A48-9ACD-215D1F0B4A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2019300"/>
            <a:ext cx="177165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6243F9B-DE88-4E38-BEEE-7A14F5C23E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2000250"/>
            <a:ext cx="762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1650" b="1">
                <a:solidFill>
                  <a:srgbClr val="111111"/>
                </a:solidFill>
              </a:defRPr>
            </a:pPr>
            <a:r>
              <a:rPr sz="1650" b="1">
                <a:solidFill>
                  <a:srgbClr val="111111"/>
                </a:solidFill>
              </a:rPr>
              <a:t>3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1CB641B-D60F-4CCF-8688-9B8F741F41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2743200"/>
            <a:ext cx="2476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11111"/>
                </a:solidFill>
              </a:defRPr>
            </a:pPr>
            <a:r>
              <a:rPr sz="1650" b="0">
                <a:solidFill>
                  <a:srgbClr val="111111"/>
                </a:solidFill>
              </a:rPr>
              <a:t>medium_fit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9376139-67B7-428B-8FA1-B8B59789DC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2762250"/>
            <a:ext cx="767715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05D4D3C-0A7C-4D34-BF1B-E27541A9BC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2743200"/>
            <a:ext cx="762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1650" b="1">
                <a:solidFill>
                  <a:srgbClr val="111111"/>
                </a:solidFill>
              </a:defRPr>
            </a:pPr>
            <a:r>
              <a:rPr sz="1650" b="1">
                <a:solidFill>
                  <a:srgbClr val="111111"/>
                </a:solidFill>
              </a:rPr>
              <a:t>13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74025D3-AD8C-4E53-AEC0-32FF76722A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3486150"/>
            <a:ext cx="2476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11111"/>
                </a:solidFill>
              </a:defRPr>
            </a:pPr>
            <a:r>
              <a:rPr sz="1650" b="0">
                <a:solidFill>
                  <a:srgbClr val="111111"/>
                </a:solidFill>
              </a:rPr>
              <a:t>low_fit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848C4C7-12F4-4ECE-8CC1-C5D4A1F8B6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3505200"/>
            <a:ext cx="47244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FF50882-40AC-4CEF-8D3A-18038102C3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3486150"/>
            <a:ext cx="762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1650" b="1">
                <a:solidFill>
                  <a:srgbClr val="111111"/>
                </a:solidFill>
              </a:defRPr>
            </a:pPr>
            <a:r>
              <a:rPr sz="1650" b="1">
                <a:solidFill>
                  <a:srgbClr val="111111"/>
                </a:solidFill>
              </a:rPr>
              <a:t>8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D862D25-6DFE-412C-A953-AE68EB593A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4229100"/>
            <a:ext cx="2476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11111"/>
                </a:solidFill>
              </a:defRPr>
            </a:pPr>
            <a:r>
              <a:rPr sz="1650" b="0">
                <a:solidFill>
                  <a:srgbClr val="111111"/>
                </a:solidFill>
              </a:rPr>
              <a:t>unclear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0DFAFC1-11AB-479F-83BD-76BC9F6661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4248150"/>
            <a:ext cx="2421255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532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F2DDB3F-DD67-4C44-B06A-4423669996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4229100"/>
            <a:ext cx="762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1650" b="1">
                <a:solidFill>
                  <a:srgbClr val="111111"/>
                </a:solidFill>
              </a:defRPr>
            </a:pPr>
            <a:r>
              <a:rPr sz="1650" b="1">
                <a:solidFill>
                  <a:srgbClr val="111111"/>
                </a:solidFill>
              </a:rPr>
              <a:t>41</a:t>
            </a:r>
          </a:p>
        </p:txBody>
      </p:sp>
      <p:cxnSp>
        <p:nvCxnSpPr>
          <p:cNvPr id="35" name=""/>
          <p:cNvCxnSpPr/>
          <p:nvPr/>
        </p:nvCxnSpPr>
        <p:spPr>
          <a:xfrm xmlns:a="http://schemas.openxmlformats.org/drawingml/2006/main">
            <a:off x="6819900" y="1524000"/>
            <a:ext cx="45720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B8BCC4"/>
            </a:solidFill>
            <a:prstDash val="solid"/>
          </a:ln>
        </p:spPr>
      </p:cxn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21061CC-3869-4566-9927-138B8B085F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1752600"/>
            <a:ext cx="4191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3D8DFF"/>
                </a:solidFill>
              </a:defRPr>
            </a:pPr>
            <a:r>
              <a:rPr sz="1650" b="1">
                <a:solidFill>
                  <a:srgbClr val="3D8DFF"/>
                </a:solidFill>
              </a:rPr>
              <a:t>DEPLOYMENT RULE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9A2D58F-E15A-4BE9-B6A3-43D27D84B6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2362200"/>
            <a:ext cx="428625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11111"/>
                </a:solidFill>
              </a:defRPr>
            </a:pPr>
            <a:r>
              <a:rPr sz="2250" b="1">
                <a:solidFill>
                  <a:srgbClr val="111111"/>
                </a:solidFill>
              </a:rPr>
              <a:t>Treat 0.984 as weak-label agreement, not advisor accuracy.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D451731-84AD-4A5D-B367-3BE29239EF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3981450"/>
            <a:ext cx="4476750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565D67"/>
                </a:solidFill>
              </a:defRPr>
            </a:pPr>
            <a:r>
              <a:rPr sz="1725" b="0">
                <a:solidFill>
                  <a:srgbClr val="565D67"/>
                </a:solidFill>
              </a:rPr>
              <a:t>Operational validation:</a:t>
            </a:r>
          </a:p>
          <a:p xmlns:a="http://schemas.openxmlformats.org/drawingml/2006/main">
            <a:pPr algn="l">
              <a:defRPr sz="1725" b="0">
                <a:solidFill>
                  <a:srgbClr val="565D67"/>
                </a:solidFill>
              </a:defRPr>
            </a:pPr>
            <a:r>
              <a:rPr sz="1725" b="0">
                <a:solidFill>
                  <a:srgbClr val="565D67"/>
                </a:solidFill>
              </a:rPr>
              <a:t>91.6% selective coverage</a:t>
            </a:r>
          </a:p>
          <a:p xmlns:a="http://schemas.openxmlformats.org/drawingml/2006/main">
            <a:pPr algn="l">
              <a:defRPr sz="1725" b="0">
                <a:solidFill>
                  <a:srgbClr val="565D67"/>
                </a:solidFill>
              </a:defRPr>
            </a:pPr>
            <a:r>
              <a:rPr sz="1725" b="0">
                <a:solidFill>
                  <a:srgbClr val="565D67"/>
                </a:solidFill>
              </a:rPr>
              <a:t>99.47% retained accuracy</a:t>
            </a:r>
          </a:p>
          <a:p xmlns:a="http://schemas.openxmlformats.org/drawingml/2006/main">
            <a:pPr algn="l">
              <a:defRPr sz="1725" b="0">
                <a:solidFill>
                  <a:srgbClr val="565D67"/>
                </a:solidFill>
              </a:defRPr>
            </a:pPr>
            <a:r>
              <a:rPr sz="1725" b="0">
                <a:solidFill>
                  <a:srgbClr val="565D67"/>
                </a:solidFill>
              </a:rPr>
              <a:t>36 search results, 0 violations</a:t>
            </a:r>
          </a:p>
        </p:txBody>
      </p:sp>
    </p:spTree>
    <p:extLst>
      <p:ext uri="{BB962C8B-B14F-4D97-AF65-F5344CB8AC3E}">
        <p14:creationId xmlns:p14="http://schemas.microsoft.com/office/powerpoint/2010/main" val="1364811736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59C3466-F714-43B2-858A-5DDE1AC221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81000"/>
            <a:ext cx="4953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565D67"/>
                </a:solidFill>
              </a:defRPr>
            </a:pPr>
            <a:r>
              <a:rPr sz="1800" b="0">
                <a:solidFill>
                  <a:srgbClr val="565D67"/>
                </a:solidFill>
              </a:rPr>
              <a:t>DELIVERED VALIDATION PACKAGE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91AE283-7315-47A8-ABF9-7768EE82D8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619250"/>
            <a:ext cx="10477500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b"/>
          <a:lstStyle xmlns:a="http://schemas.openxmlformats.org/drawingml/2006/main"/>
          <a:p xmlns:a="http://schemas.openxmlformats.org/drawingml/2006/main">
            <a:pPr algn="l">
              <a:defRPr sz="4650" b="1">
                <a:solidFill>
                  <a:srgbClr val="111111"/>
                </a:solidFill>
              </a:defRPr>
            </a:pPr>
            <a:r>
              <a:rPr sz="4650" b="1">
                <a:solidFill>
                  <a:srgbClr val="111111"/>
                </a:solidFill>
              </a:rPr>
              <a:t>The system and its human-review package are complete</a:t>
            </a:r>
          </a:p>
        </p:txBody>
      </p:sp>
      <p:cxnSp>
        <p:nvCxnSpPr>
          <p:cNvPr id="12" name=""/>
          <p:cNvCxnSpPr/>
          <p:nvPr/>
        </p:nvCxnSpPr>
        <p:spPr>
          <a:xfrm xmlns:a="http://schemas.openxmlformats.org/drawingml/2006/main">
            <a:off x="400050" y="3943350"/>
            <a:ext cx="3333750" cy="0"/>
          </a:xfrm>
          <a:prstGeom xmlns:a="http://schemas.openxmlformats.org/drawingml/2006/main" prst="straightConnector1">
            <a:avLst/>
          </a:prstGeom>
          <a:ln xmlns:a="http://schemas.openxmlformats.org/drawingml/2006/main" w="47625">
            <a:solidFill>
              <a:srgbClr val="3D8DFF"/>
            </a:solidFill>
            <a:prstDash val="solid"/>
          </a:ln>
        </p:spPr>
      </p:cxn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4BEECE4-97ED-495A-A8DB-ACAB4E6F57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305300"/>
            <a:ext cx="2381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3D8DFF"/>
                </a:solidFill>
              </a:defRPr>
            </a:pPr>
            <a:r>
              <a:rPr sz="2025" b="1">
                <a:solidFill>
                  <a:srgbClr val="3D8DFF"/>
                </a:solidFill>
              </a:rPr>
              <a:t>Delivered now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B8019CD-B837-43CF-8729-BF0FF31A28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819650"/>
            <a:ext cx="4191000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11111"/>
                </a:solidFill>
              </a:defRPr>
            </a:pPr>
            <a:r>
              <a:rPr sz="1575" b="0">
                <a:solidFill>
                  <a:srgbClr val="111111"/>
                </a:solidFill>
              </a:rPr>
              <a:t>Trained classifier</a:t>
            </a:r>
          </a:p>
          <a:p xmlns:a="http://schemas.openxmlformats.org/drawingml/2006/main">
            <a:pPr algn="l">
              <a:defRPr sz="1575" b="0">
                <a:solidFill>
                  <a:srgbClr val="111111"/>
                </a:solidFill>
              </a:defRPr>
            </a:pPr>
            <a:r>
              <a:rPr sz="1575" b="0">
                <a:solidFill>
                  <a:srgbClr val="111111"/>
                </a:solidFill>
              </a:rPr>
              <a:t>Calibrated review policy</a:t>
            </a:r>
          </a:p>
          <a:p xmlns:a="http://schemas.openxmlformats.org/drawingml/2006/main">
            <a:pPr algn="l">
              <a:defRPr sz="1575" b="0">
                <a:solidFill>
                  <a:srgbClr val="111111"/>
                </a:solidFill>
              </a:defRPr>
            </a:pPr>
            <a:r>
              <a:rPr sz="1575" b="0">
                <a:solidFill>
                  <a:srgbClr val="111111"/>
                </a:solidFill>
              </a:rPr>
              <a:t>Hard-constraint search audit</a:t>
            </a:r>
          </a:p>
          <a:p xmlns:a="http://schemas.openxmlformats.org/drawingml/2006/main">
            <a:pPr algn="l">
              <a:defRPr sz="1575" b="0">
                <a:solidFill>
                  <a:srgbClr val="111111"/>
                </a:solidFill>
              </a:defRPr>
            </a:pPr>
            <a:r>
              <a:rPr sz="1575" b="0">
                <a:solidFill>
                  <a:srgbClr val="111111"/>
                </a:solidFill>
              </a:rPr>
              <a:t>Batch CSV workflow</a:t>
            </a:r>
          </a:p>
          <a:p xmlns:a="http://schemas.openxmlformats.org/drawingml/2006/main">
            <a:pPr algn="l">
              <a:defRPr sz="1575" b="0">
                <a:solidFill>
                  <a:srgbClr val="111111"/>
                </a:solidFill>
              </a:defRPr>
            </a:pPr>
            <a:r>
              <a:rPr sz="1575" b="0">
                <a:solidFill>
                  <a:srgbClr val="111111"/>
                </a:solidFill>
              </a:rPr>
              <a:t>Reproducible tests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0075C76-1116-45FA-A308-E2EED87185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4686300"/>
            <a:ext cx="19050" cy="1333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833EE7B-2A86-4D1A-923E-86460689C1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4362450"/>
            <a:ext cx="4000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D6532F"/>
                </a:solidFill>
              </a:defRPr>
            </a:pPr>
            <a:r>
              <a:rPr sz="1575" b="1">
                <a:solidFill>
                  <a:srgbClr val="D6532F"/>
                </a:solidFill>
              </a:rPr>
              <a:t>PREPARED EVIDENCE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4C76866-EA9A-4742-8741-2166DE9F02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4857750"/>
            <a:ext cx="514350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11111"/>
                </a:solidFill>
              </a:defRPr>
            </a:pPr>
            <a:r>
              <a:rPr sz="1875" b="1">
                <a:solidFill>
                  <a:srgbClr val="111111"/>
                </a:solidFill>
              </a:rPr>
              <a:t>1,000-row advisor annotation queue</a:t>
            </a:r>
          </a:p>
          <a:p xmlns:a="http://schemas.openxmlformats.org/drawingml/2006/main">
            <a:pPr algn="l">
              <a:defRPr sz="1875" b="1">
                <a:solidFill>
                  <a:srgbClr val="111111"/>
                </a:solidFill>
              </a:defRPr>
            </a:pPr>
            <a:r>
              <a:rPr sz="1875" b="1">
                <a:solidFill>
                  <a:srgbClr val="111111"/>
                </a:solidFill>
              </a:rPr>
              <a:t>230 unique authorization candidates</a:t>
            </a:r>
          </a:p>
          <a:p xmlns:a="http://schemas.openxmlformats.org/drawingml/2006/main">
            <a:pPr algn="l">
              <a:defRPr sz="1875" b="1">
                <a:solidFill>
                  <a:srgbClr val="111111"/>
                </a:solidFill>
              </a:defRPr>
            </a:pPr>
            <a:r>
              <a:rPr sz="1875" b="1">
                <a:solidFill>
                  <a:srgbClr val="111111"/>
                </a:solidFill>
              </a:rPr>
              <a:t>430-row candidate/control benchmark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22C8EF5-F1E5-48A9-B636-7BFB55271F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20450" y="6267450"/>
            <a:ext cx="57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1200" b="0">
                <a:solidFill>
                  <a:srgbClr val="565D67"/>
                </a:solidFill>
              </a:defRPr>
            </a:pPr>
            <a:r>
              <a:rPr sz="1200" b="0">
                <a:solidFill>
                  <a:srgbClr val="565D67"/>
                </a:solidFill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1184406307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2026-08-10T03:07:15.3220000Z</dcterms:created>
  <dcterms:modified xsi:type="dcterms:W3CDTF">2026-08-10T03:07:15.3220000Z</dcterms:modified>
</coreProperties>
</file>