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2be6a84a454364" /><Relationship Type="http://schemas.openxmlformats.org/officeDocument/2006/relationships/extended-properties" Target="/docProps/app.xml" Id="R762eebf8c33047b5" /><Relationship Type="http://schemas.openxmlformats.org/officeDocument/2006/relationships/officeDocument" Target="/ppt/presentation.xml" Id="R5b861dfc26bd48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93ab04091e410d"/>
  </p:sldMasterIdLst>
  <p:notesMasterIdLst>
    <p:notesMasterId xmlns:r="http://schemas.openxmlformats.org/officeDocument/2006/relationships" r:id="R15427dc7e84b4386"/>
  </p:notesMasterIdLst>
  <p:sldIdLst>
    <p:sldId xmlns:r="http://schemas.openxmlformats.org/officeDocument/2006/relationships" id="256" r:id="R99cf22650f734db4"/>
    <p:sldId xmlns:r="http://schemas.openxmlformats.org/officeDocument/2006/relationships" id="257" r:id="R5e7be8b6ec294505"/>
    <p:sldId xmlns:r="http://schemas.openxmlformats.org/officeDocument/2006/relationships" id="258" r:id="Re7d419a0ffc345b2"/>
    <p:sldId xmlns:r="http://schemas.openxmlformats.org/officeDocument/2006/relationships" id="259" r:id="Rf9d429426d2a41af"/>
    <p:sldId xmlns:r="http://schemas.openxmlformats.org/officeDocument/2006/relationships" id="260" r:id="Rb33e4a0da1ea4f15"/>
    <p:sldId xmlns:r="http://schemas.openxmlformats.org/officeDocument/2006/relationships" id="261" r:id="Rc8a2b168ef544902"/>
    <p:sldId xmlns:r="http://schemas.openxmlformats.org/officeDocument/2006/relationships" id="262" r:id="R22c6ee4185c6470e"/>
    <p:sldId xmlns:r="http://schemas.openxmlformats.org/officeDocument/2006/relationships" id="263" r:id="R7d7fdf77567944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41fc754258403f" /><Relationship Type="http://schemas.openxmlformats.org/officeDocument/2006/relationships/slideMaster" Target="/ppt/slideMasters/slideMaster1.xml" Id="Rf293ab04091e410d" /><Relationship Type="http://schemas.openxmlformats.org/officeDocument/2006/relationships/notesMaster" Target="/ppt/notesMasters/notesMaster1.xml" Id="R15427dc7e84b4386" /><Relationship Type="http://schemas.openxmlformats.org/officeDocument/2006/relationships/presProps" Target="/ppt/presProps.xml" Id="Ra9f639e3c6554543" /><Relationship Type="http://schemas.openxmlformats.org/officeDocument/2006/relationships/tableStyles" Target="/ppt/tableStyles.xml" Id="R6fa0df7a330348dc" /><Relationship Type="http://schemas.openxmlformats.org/officeDocument/2006/relationships/slide" Target="/ppt/slides/slide1.xml" Id="R99cf22650f734db4" /><Relationship Type="http://schemas.openxmlformats.org/officeDocument/2006/relationships/slide" Target="/ppt/slides/slide2.xml" Id="R5e7be8b6ec294505" /><Relationship Type="http://schemas.openxmlformats.org/officeDocument/2006/relationships/slide" Target="/ppt/slides/slide3.xml" Id="Re7d419a0ffc345b2" /><Relationship Type="http://schemas.openxmlformats.org/officeDocument/2006/relationships/slide" Target="/ppt/slides/slide4.xml" Id="Rf9d429426d2a41af" /><Relationship Type="http://schemas.openxmlformats.org/officeDocument/2006/relationships/slide" Target="/ppt/slides/slide5.xml" Id="Rb33e4a0da1ea4f15" /><Relationship Type="http://schemas.openxmlformats.org/officeDocument/2006/relationships/slide" Target="/ppt/slides/slide6.xml" Id="Rc8a2b168ef544902" /><Relationship Type="http://schemas.openxmlformats.org/officeDocument/2006/relationships/slide" Target="/ppt/slides/slide7.xml" Id="R22c6ee4185c6470e" /><Relationship Type="http://schemas.openxmlformats.org/officeDocument/2006/relationships/slide" Target="/ppt/slides/slide8.xml" Id="R7d7fdf77567944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5189e7769144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6d50f05ebf4abe" /><Relationship Type="http://schemas.openxmlformats.org/officeDocument/2006/relationships/notesMaster" Target="/ppt/notesMasters/notesMaster1.xml" Id="R5251dd32d01742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9eec6c112842fb" /><Relationship Type="http://schemas.openxmlformats.org/officeDocument/2006/relationships/notesMaster" Target="/ppt/notesMasters/notesMaster1.xml" Id="Re833dba356d345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badf5aa7d1476a" /><Relationship Type="http://schemas.openxmlformats.org/officeDocument/2006/relationships/notesMaster" Target="/ppt/notesMasters/notesMaster1.xml" Id="Ra158af101f0a47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d032a952be4956" /><Relationship Type="http://schemas.openxmlformats.org/officeDocument/2006/relationships/notesMaster" Target="/ppt/notesMasters/notesMaster1.xml" Id="R768d963522f14d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35fda2471d48cb" /><Relationship Type="http://schemas.openxmlformats.org/officeDocument/2006/relationships/notesMaster" Target="/ppt/notesMasters/notesMaster1.xml" Id="R48f1a1d10c9742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69df9b93fb4daf" /><Relationship Type="http://schemas.openxmlformats.org/officeDocument/2006/relationships/notesMaster" Target="/ppt/notesMasters/notesMaster1.xml" Id="R4bb6402f87b948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9587d124c14c58" /><Relationship Type="http://schemas.openxmlformats.org/officeDocument/2006/relationships/notesMaster" Target="/ppt/notesMasters/notesMaster1.xml" Id="Rb9df69793c8449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fd7515cf9a45cc" /><Relationship Type="http://schemas.openxmlformats.org/officeDocument/2006/relationships/notesMaster" Target="/ppt/notesMasters/notesMaster1.xml" Id="R1b7e9add66f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the business problem: advisors need fast, grounded triage for job opportunities, especially for international students.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value is workflow support, not replacing the advisor.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architecture in one minute. The important point is that RAG here is evidence retrieval plus a deterministic output template.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carries the demo story. The actual demo video shows the CLI run and the edge case.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candid: the final system is not purely optimized for classification. Its production value is evidence plus risk control.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video includes this edge case. This is where the project shows risk awareness.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the technical work back to business value: speed, evidence, and escalation.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clear next step and a conservative deployment recommendation.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f18797da54a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252db27c6e4113" /><Relationship Type="http://schemas.openxmlformats.org/officeDocument/2006/relationships/slideLayout" Target="/ppt/slideLayouts/slideLayout1.xml" Id="R2727a46989db49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27a46989db49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d17a2f3834cac" /><Relationship Type="http://schemas.openxmlformats.org/officeDocument/2006/relationships/notesSlide" Target="/ppt/notesSlides/notesSlide1.xml" Id="R1c61e3d056f840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2d87da9744fe8" /><Relationship Type="http://schemas.openxmlformats.org/officeDocument/2006/relationships/notesSlide" Target="/ppt/notesSlides/notesSlide2.xml" Id="R7b6fb1a4994f43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9acb153174e75" /><Relationship Type="http://schemas.openxmlformats.org/officeDocument/2006/relationships/notesSlide" Target="/ppt/notesSlides/notesSlide3.xml" Id="R40336afc14cf43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03399d8284f34" /><Relationship Type="http://schemas.openxmlformats.org/officeDocument/2006/relationships/notesSlide" Target="/ppt/notesSlides/notesSlide4.xml" Id="R0e116d6be9f441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72b8921874329" /><Relationship Type="http://schemas.openxmlformats.org/officeDocument/2006/relationships/chart" Target="/ppt/slides/charts/chart1.xml" Id="R51803bc9c2614c63" /><Relationship Type="http://schemas.openxmlformats.org/officeDocument/2006/relationships/notesSlide" Target="/ppt/notesSlides/notesSlide5.xml" Id="R73f1967a374943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a40c283a7444c" /><Relationship Type="http://schemas.openxmlformats.org/officeDocument/2006/relationships/notesSlide" Target="/ppt/notesSlides/notesSlide6.xml" Id="R52fe261f389c41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16326e3b34960" /><Relationship Type="http://schemas.openxmlformats.org/officeDocument/2006/relationships/notesSlide" Target="/ppt/notesSlides/notesSlide7.xml" Id="Rca0a5b014d9040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d473a73ce41da" /><Relationship Type="http://schemas.openxmlformats.org/officeDocument/2006/relationships/notesSlide" Target="/ppt/notesSlides/notesSlide8.xml" Id="Rac6623b1b1b041d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235A8C"/>
            </a:solidFill>
          </c:spPr>
          <c:cat>
            <c:strLit>
              <c:ptCount val="3"/>
              <c:pt idx="0">
                <c:v>M2 TF-IDF</c:v>
              </c:pt>
              <c:pt idx="1">
                <c:v>M3 PEFT LoRA</c:v>
              </c:pt>
              <c:pt idx="2">
                <c:v>Final system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80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TF-IDF</c:v>
              </c:pt>
              <c:pt idx="1">
                <c:v>M3 PEFT LoRA</c:v>
              </c:pt>
              <c:pt idx="2">
                <c:v>Final system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80.1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ADDE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3F6F0-626A-46BE-BFF3-882BEAED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45B66"/>
                </a:solidFill>
              </a:defRPr>
            </a:pPr>
            <a:r>
              <a:rPr sz="1800" b="1">
                <a:solidFill>
                  <a:srgbClr val="545B66"/>
                </a:solidFill>
              </a:rPr>
              <a:t>MSBA Job Matching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554D4-F0B0-4D7F-A27B-183BD24E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8096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75" b="0">
                <a:solidFill>
                  <a:srgbClr val="111111"/>
                </a:solidFill>
              </a:defRPr>
            </a:pPr>
            <a:r>
              <a:rPr sz="3975" b="0">
                <a:solidFill>
                  <a:srgbClr val="111111"/>
                </a:solidFill>
              </a:rPr>
              <a:t>A grounded NLP system for advisor job-screening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1D501-B714-4FB2-BBA9-4BD6D4F3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6235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45B66"/>
                </a:solidFill>
              </a:defRPr>
            </a:pPr>
            <a:r>
              <a:rPr sz="1875" b="0">
                <a:solidFill>
                  <a:srgbClr val="545B66"/>
                </a:solidFill>
              </a:rPr>
              <a:t>Real postings -&gt; retrieved evidence -&gt; role-fit recommendation -&gt; human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A2B78-0487-4396-8222-408F162A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667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8E215-D2B2-4CF3-9779-BF8197AB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145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Final deliverable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C03774-1598-469A-AFD5-A70E5934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431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Runs end-to-end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Uses real data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Reports metrics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Flags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B2B91-D2DD-4227-A373-437874CB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45B66"/>
                </a:solidFill>
              </a:defRPr>
            </a:pPr>
            <a:r>
              <a:rPr sz="1350" b="0">
                <a:solidFill>
                  <a:srgbClr val="545B66"/>
                </a:solidFill>
              </a:rPr>
              <a:t>Yitong Wang | ISBA 2411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A87A3-1813-4B06-BF43-09C613A1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471722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5EDAC6-39B0-41D3-9694-F83A8849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advisor decision is the business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15C75-1DE2-43B5-99D4-C14D77AC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D9F46-C3D2-4E7B-ACF5-B1CBED81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45B66"/>
                </a:solidFill>
              </a:defRPr>
            </a:pPr>
            <a:r>
              <a:rPr sz="2175" b="0">
                <a:solidFill>
                  <a:srgbClr val="545B66"/>
                </a:solidFill>
              </a:rPr>
              <a:t>Career advisors need to decide which postings to forward, hold, or investigate.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3F57D-694F-4AAA-BFAA-028973CC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476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7524D6-6462-4C5F-B9C6-81C35CB3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201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235A8C"/>
                </a:solidFill>
              </a:defRPr>
            </a:pPr>
            <a:r>
              <a:rPr sz="3225" b="0">
                <a:solidFill>
                  <a:srgbClr val="235A8C"/>
                </a:solidFill>
              </a:rPr>
              <a:t>100k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48421-A17B-46CA-93C8-81350F86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004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B66"/>
                </a:solidFill>
              </a:defRPr>
            </a:pPr>
            <a:r>
              <a:rPr sz="1275" b="0">
                <a:solidFill>
                  <a:srgbClr val="545B66"/>
                </a:solidFill>
              </a:rPr>
              <a:t>real project postings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42705-6F68-407D-856D-DD344C07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67000"/>
            <a:ext cx="2476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86B59-0B56-41FD-9D7E-ACE0B252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933700"/>
            <a:ext cx="201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235A8C"/>
                </a:solidFill>
              </a:defRPr>
            </a:pPr>
            <a:r>
              <a:rPr sz="3225" b="0">
                <a:solidFill>
                  <a:srgbClr val="235A8C"/>
                </a:solidFill>
              </a:rPr>
              <a:t>80k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66318-4F7A-4661-95A6-E36FB722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004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B66"/>
                </a:solidFill>
              </a:defRPr>
            </a:pPr>
            <a:r>
              <a:rPr sz="1275" b="0">
                <a:solidFill>
                  <a:srgbClr val="545B66"/>
                </a:solidFill>
              </a:rPr>
              <a:t>retrieval corpus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0B8DC-EBB6-460C-9191-ECCD10F9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15BA33-D6A9-4D85-9E79-33FDA2C6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33700"/>
            <a:ext cx="201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235A8C"/>
                </a:solidFill>
              </a:defRPr>
            </a:pPr>
            <a:r>
              <a:rPr sz="3225" b="0">
                <a:solidFill>
                  <a:srgbClr val="235A8C"/>
                </a:solidFill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D215F-0ABF-49B4-B9F4-2909E3E2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004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B66"/>
                </a:solidFill>
              </a:defRPr>
            </a:pPr>
            <a:r>
              <a:rPr sz="1275" b="0">
                <a:solidFill>
                  <a:srgbClr val="545B66"/>
                </a:solidFill>
              </a:rPr>
              <a:t>triage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78B365-439B-4A43-B751-E66D29B8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The system is useful only if it gives evidence, not just a label.</a:t>
            </a:r>
          </a:p>
        </p:txBody>
      </p:sp>
    </p:spTree>
    <p:extLst>
      <p:ext uri="{BB962C8B-B14F-4D97-AF65-F5344CB8AC3E}">
        <p14:creationId xmlns:p14="http://schemas.microsoft.com/office/powerpoint/2010/main" val="8999280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2B840-AE80-4E1A-AA9C-39104F64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system uses retrieval to keep recommendations grounded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C86F9-C887-4C9A-A465-3976FA01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8A188-5D17-498B-9CED-ADD9C406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2669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60E7B-02D9-4439-88D7-69025EA2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235A8C"/>
                </a:solidFill>
              </a:defRPr>
            </a:pPr>
            <a:r>
              <a:rPr sz="2250" b="0">
                <a:solidFill>
                  <a:srgbClr val="235A8C"/>
                </a:solidFill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6D6C0-40A4-4F0D-B9DC-C5AA6F79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Advisor query or raw posting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771998-B2EF-42C6-9784-120B0F18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62150"/>
            <a:ext cx="22669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2BA0F-E0B8-49EC-A212-FA47A5A9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669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235A8C"/>
                </a:solidFill>
              </a:defRPr>
            </a:pPr>
            <a:r>
              <a:rPr sz="2250" b="0">
                <a:solidFill>
                  <a:srgbClr val="235A8C"/>
                </a:solidFill>
              </a:rPr>
              <a:t>Retrieve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5989C-E8EF-4881-BBDA-C0015946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527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Similar real postings from 80k train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35DA0-54F1-4B76-B69C-51EF2579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62150"/>
            <a:ext cx="22669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2ADB2-72EB-420F-8325-20C431A8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669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235A8C"/>
                </a:solidFill>
              </a:defRPr>
            </a:pPr>
            <a:r>
              <a:rPr sz="2250" b="0">
                <a:solidFill>
                  <a:srgbClr val="235A8C"/>
                </a:solidFill>
              </a:rPr>
              <a:t>Decide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E7AC3-7651-4756-9FC4-E9A0357B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Transparent MSBA role-fit rubric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6E3E1-5B72-4BBF-9CDA-74C5A496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62150"/>
            <a:ext cx="22669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653A9-F77D-49BD-8F3C-FB6E55B0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D6532F"/>
                </a:solidFill>
              </a:defRPr>
            </a:pPr>
            <a:r>
              <a:rPr sz="2250" b="0">
                <a:solidFill>
                  <a:srgbClr val="D6532F"/>
                </a:solidFill>
              </a:rPr>
              <a:t>Generate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268C7-3962-490E-AE3F-21B94A31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527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Recommendation with cited fields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0CD0E8-A2CC-4D60-B78A-51FE163B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952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</a:defRPr>
            </a:pPr>
            <a:r>
              <a:rPr sz="2250" b="0">
                <a:solidFill>
                  <a:srgbClr val="111111"/>
                </a:solidFill>
              </a:rPr>
              <a:t>Generation is constrained: it can cite retrieved fields and must flag missing authorization evidence.</a:t>
            </a:r>
          </a:p>
        </p:txBody>
      </p:sp>
    </p:spTree>
    <p:extLst>
      <p:ext uri="{BB962C8B-B14F-4D97-AF65-F5344CB8AC3E}">
        <p14:creationId xmlns:p14="http://schemas.microsoft.com/office/powerpoint/2010/main" val="2145742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941B1-7340-494E-8B27-95157027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live run returns a recommendation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F64A42-7225-4CE4-9351-830AA9C9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AE256-3BA5-4E43-B89B-21346C49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28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3B9B14-08FF-4D55-A029-7FB0093F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Input query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A5C6C-C84A-44B2-995C-46BFB82C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581150"/>
            <a:ext cx="771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Find entry-level US analytics or business analyst opportunities for MSBA international students with SQL, Python, Excel, Tableau, or Power BI skills.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E90F5-3EB3-4A49-B0AC-7FAE338F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0287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A2179-BA56-4F18-B10A-A3E0201F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F7F6E-2E8C-4E1B-AC82-7EA38899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Review retrieved postings first; they match analytics role-fit signals.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F3AEF-722D-48C2-A0BE-CE0DBA8F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290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45B66"/>
                </a:solidFill>
              </a:defRPr>
            </a:pPr>
            <a:r>
              <a:rPr sz="1650" b="0">
                <a:solidFill>
                  <a:srgbClr val="545B66"/>
                </a:solidFill>
              </a:rPr>
              <a:t>Evidence includes title, company, location, skills, and label. Authorization evidence remains a required human-review item.</a:t>
            </a:r>
          </a:p>
        </p:txBody>
      </p:sp>
    </p:spTree>
    <p:extLst>
      <p:ext uri="{BB962C8B-B14F-4D97-AF65-F5344CB8AC3E}">
        <p14:creationId xmlns:p14="http://schemas.microsoft.com/office/powerpoint/2010/main" val="1591420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7A9E5-6205-46B2-A489-D7DF087A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final system slightly improves the baseline and adds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C48C3-AAFB-46A9-BCA3-0749F056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5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857250" y="1600200"/>
          <a:ext xmlns:a="http://schemas.openxmlformats.org/drawingml/2006/main" cx="7239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803bc9c2614c6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68D189-5256-4933-A39A-BC8B88E2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66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Final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FCBAC-2115-4999-9F50-756AFB6A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81250"/>
            <a:ext cx="2286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35A8C"/>
                </a:solidFill>
              </a:defRPr>
            </a:pPr>
            <a:r>
              <a:rPr sz="2175" b="0">
                <a:solidFill>
                  <a:srgbClr val="235A8C"/>
                </a:solidFill>
              </a:rPr>
              <a:t>80.0% accuracy</a:t>
            </a:r>
          </a:p>
          <a:p xmlns:a="http://schemas.openxmlformats.org/drawingml/2006/main">
            <a:pPr algn="l">
              <a:defRPr sz="2175" b="0">
                <a:solidFill>
                  <a:srgbClr val="235A8C"/>
                </a:solidFill>
              </a:defRPr>
            </a:pPr>
            <a:r>
              <a:rPr sz="2175" b="0">
                <a:solidFill>
                  <a:srgbClr val="235A8C"/>
                </a:solidFill>
              </a:rPr>
              <a:t>80.1% macro F1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04DB1-DDEC-4FA1-BD79-64602032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338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45B66"/>
                </a:solidFill>
              </a:defRPr>
            </a:pPr>
            <a:r>
              <a:rPr sz="1575" b="0">
                <a:solidFill>
                  <a:srgbClr val="545B66"/>
                </a:solidFill>
              </a:rPr>
              <a:t>The system adds grounded evidence and a refusal to infer work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13781306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BE217-60B9-4E7B-A6CC-87BDC7A2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edge case is authorization, not analytics fit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A941F-2CE1-44E0-AF97-C39ED9B4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DA046-B1BE-45A8-A1F2-D7F379A1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4762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592E5-095C-4ECC-87FD-EBB3DA92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43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D6532F"/>
                </a:solidFill>
              </a:defRPr>
            </a:pPr>
            <a:r>
              <a:rPr sz="2100" b="0">
                <a:solidFill>
                  <a:srgbClr val="D6532F"/>
                </a:solidFill>
              </a:rPr>
              <a:t>Edge 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798EC-4E45-4317-8D55-D5980571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3619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A student asks whether an employer definitely sponsors OPT or H-1B, but the posting has no authorization 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76199-66CB-4FE9-A01F-E2D54ACA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00200"/>
            <a:ext cx="4762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C7CB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4D9B5-F0DF-4CDA-8AB1-9D340E91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35A8C"/>
                </a:solidFill>
              </a:defRPr>
            </a:pPr>
            <a:r>
              <a:rPr sz="2100" b="0">
                <a:solidFill>
                  <a:srgbClr val="235A8C"/>
                </a:solidFill>
              </a:rPr>
              <a:t>System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FD05B3-6692-40A7-9D45-D3569513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67000"/>
            <a:ext cx="3619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Do not infer eligibility. Show retrieved evidence and route authorization to advisor review.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7B5A0-C0CF-493D-81B2-4B660E15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This is the key governance guardrail for international-student use.</a:t>
            </a:r>
          </a:p>
        </p:txBody>
      </p:sp>
    </p:spTree>
    <p:extLst>
      <p:ext uri="{BB962C8B-B14F-4D97-AF65-F5344CB8AC3E}">
        <p14:creationId xmlns:p14="http://schemas.microsoft.com/office/powerpoint/2010/main" val="1173881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8D5D4-2EC8-4EC1-98E1-948D35F7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business case is faster screening with safer escalation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2248D-4BBC-4D56-9915-4081DDD0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854E0-FC13-49FF-A007-170DA9B6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235A8C"/>
                </a:solidFill>
              </a:defRPr>
            </a:pPr>
            <a:r>
              <a:rPr sz="2250" b="0">
                <a:solidFill>
                  <a:srgbClr val="235A8C"/>
                </a:solidFill>
              </a:rPr>
              <a:t>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45190-F0BB-4453-BD27-74471958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5621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Reduce first-pass review by surfacing likely matches and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4CD6B-2C30-43F4-B32C-979E2525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D6532F"/>
                </a:solidFill>
              </a:defRPr>
            </a:pPr>
            <a:r>
              <a:rPr sz="2250" b="0">
                <a:solidFill>
                  <a:srgbClr val="D6532F"/>
                </a:solidFill>
              </a:rPr>
              <a:t>Quality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D05AB-C448-49B9-84C6-203D4433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765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Separate role-fit recommendation from authorization uncertainty.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0A325-A7CC-4A00-8BEE-18DB0634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235A8C"/>
                </a:solidFill>
              </a:defRPr>
            </a:pPr>
            <a:r>
              <a:rPr sz="2250" b="0">
                <a:solidFill>
                  <a:srgbClr val="235A8C"/>
                </a:solidFill>
              </a:rPr>
              <a:t>Governance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C5F93-DDD1-4DF0-92F1-C8F55627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910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</a:defRPr>
            </a:pPr>
            <a:r>
              <a:rPr sz="2025" b="0">
                <a:solidFill>
                  <a:srgbClr val="111111"/>
                </a:solidFill>
              </a:rPr>
              <a:t>Keep the advisor in the loop for missing evidence and edge cases.</a:t>
            </a:r>
          </a:p>
        </p:txBody>
      </p:sp>
    </p:spTree>
    <p:extLst>
      <p:ext uri="{BB962C8B-B14F-4D97-AF65-F5344CB8AC3E}">
        <p14:creationId xmlns:p14="http://schemas.microsoft.com/office/powerpoint/2010/main" val="3762585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EE818-8237-44B1-9AEB-1E498FFF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00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0">
                <a:solidFill>
                  <a:srgbClr val="111111"/>
                </a:solidFill>
              </a:defRPr>
            </a:pPr>
            <a:r>
              <a:rPr sz="3000" b="0">
                <a:solidFill>
                  <a:srgbClr val="111111"/>
                </a:solidFill>
              </a:rPr>
              <a:t>The next step is better labels and real authorization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5C2B1-510E-4749-A363-E6A197EC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48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45B66"/>
                </a:solidFill>
              </a:defRPr>
            </a:pPr>
            <a:r>
              <a:rPr sz="1125" b="0">
                <a:solidFill>
                  <a:srgbClr val="545B66"/>
                </a:solidFill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4DA6A-D606-48F5-BA6E-F21BDD43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235A8C"/>
                </a:solidFill>
              </a:defRPr>
            </a:pPr>
            <a:r>
              <a:rPr sz="2175" b="0">
                <a:solidFill>
                  <a:srgbClr val="235A8C"/>
                </a:solidFill>
              </a:rPr>
              <a:t>Recommendation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9C16D-DDF8-4864-A667-3144DE5D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Pilot with de-identified Career Center postings and collect advisor corrections.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01B10-5718-4730-AD59-CBFC35AE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D6532F"/>
                </a:solidFill>
              </a:defRPr>
            </a:pPr>
            <a:r>
              <a:rPr sz="2175" b="0">
                <a:solidFill>
                  <a:srgbClr val="D6532F"/>
                </a:solidFill>
              </a:rPr>
              <a:t>What to measure next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BD51C-DD6E-40A3-91DA-57653A2A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866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11111"/>
                </a:solidFill>
              </a:defRPr>
            </a:pPr>
            <a:r>
              <a:rPr sz="2325" b="0">
                <a:solidFill>
                  <a:srgbClr val="111111"/>
                </a:solidFill>
              </a:rPr>
              <a:t>High-fit precision, authorization extraction accuracy, and human-review workload reduction.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FED23-5470-4E32-9F98-05D3F139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45B66"/>
                </a:solidFill>
              </a:defRPr>
            </a:pPr>
            <a:r>
              <a:rPr sz="2100" b="0">
                <a:solidFill>
                  <a:srgbClr val="545B66"/>
                </a:solidFill>
              </a:rPr>
              <a:t>The system is ready as a decision-support prototype, not an automated gatekeeper.</a:t>
            </a:r>
          </a:p>
        </p:txBody>
      </p:sp>
    </p:spTree>
    <p:extLst>
      <p:ext uri="{BB962C8B-B14F-4D97-AF65-F5344CB8AC3E}">
        <p14:creationId xmlns:p14="http://schemas.microsoft.com/office/powerpoint/2010/main" val="4177012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2026-07-26T10:43:20.2900000Z</dcterms:created>
  <dcterms:modified xsi:type="dcterms:W3CDTF">2026-07-26T10:43:20.2900000Z</dcterms:modified>
</coreProperties>
</file>