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000d31769142c5" /><Relationship Type="http://schemas.openxmlformats.org/officeDocument/2006/relationships/extended-properties" Target="/docProps/app.xml" Id="Rf24c3dbf53d649bd" /><Relationship Type="http://schemas.openxmlformats.org/officeDocument/2006/relationships/officeDocument" Target="/ppt/presentation.xml" Id="R28dcacbe7f1348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61e62c61564d39"/>
  </p:sldMasterIdLst>
  <p:notesMasterIdLst>
    <p:notesMasterId xmlns:r="http://schemas.openxmlformats.org/officeDocument/2006/relationships" r:id="Re664bdd73ffb4b31"/>
  </p:notesMasterIdLst>
  <p:sldIdLst>
    <p:sldId xmlns:r="http://schemas.openxmlformats.org/officeDocument/2006/relationships" id="256" r:id="Rb6114862d5944e23"/>
    <p:sldId xmlns:r="http://schemas.openxmlformats.org/officeDocument/2006/relationships" id="257" r:id="R7f150b21d2884d5e"/>
    <p:sldId xmlns:r="http://schemas.openxmlformats.org/officeDocument/2006/relationships" id="258" r:id="R77a35891b6bd4e9d"/>
    <p:sldId xmlns:r="http://schemas.openxmlformats.org/officeDocument/2006/relationships" id="259" r:id="R49461acf4ab147d2"/>
    <p:sldId xmlns:r="http://schemas.openxmlformats.org/officeDocument/2006/relationships" id="260" r:id="R2421cd19f2b44bd4"/>
    <p:sldId xmlns:r="http://schemas.openxmlformats.org/officeDocument/2006/relationships" id="261" r:id="R627376258dfa47c8"/>
    <p:sldId xmlns:r="http://schemas.openxmlformats.org/officeDocument/2006/relationships" id="262" r:id="R7dd13f82bb01436a"/>
    <p:sldId xmlns:r="http://schemas.openxmlformats.org/officeDocument/2006/relationships" id="263" r:id="R3e9ef5d3a1534e6c"/>
    <p:sldId xmlns:r="http://schemas.openxmlformats.org/officeDocument/2006/relationships" id="264" r:id="Rcbae63be145a480f"/>
    <p:sldId xmlns:r="http://schemas.openxmlformats.org/officeDocument/2006/relationships" id="265" r:id="R7cf0c34635164b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7170764a6c41f1" /><Relationship Type="http://schemas.openxmlformats.org/officeDocument/2006/relationships/slideMaster" Target="/ppt/slideMasters/slideMaster1.xml" Id="Rfe61e62c61564d39" /><Relationship Type="http://schemas.openxmlformats.org/officeDocument/2006/relationships/notesMaster" Target="/ppt/notesMasters/notesMaster1.xml" Id="Re664bdd73ffb4b31" /><Relationship Type="http://schemas.openxmlformats.org/officeDocument/2006/relationships/presProps" Target="/ppt/presProps.xml" Id="R0e41b5255db84432" /><Relationship Type="http://schemas.openxmlformats.org/officeDocument/2006/relationships/tableStyles" Target="/ppt/tableStyles.xml" Id="R3cbad5b3ee3445d4" /><Relationship Type="http://schemas.openxmlformats.org/officeDocument/2006/relationships/slide" Target="/ppt/slides/slide1.xml" Id="Rb6114862d5944e23" /><Relationship Type="http://schemas.openxmlformats.org/officeDocument/2006/relationships/slide" Target="/ppt/slides/slide2.xml" Id="R7f150b21d2884d5e" /><Relationship Type="http://schemas.openxmlformats.org/officeDocument/2006/relationships/slide" Target="/ppt/slides/slide3.xml" Id="R77a35891b6bd4e9d" /><Relationship Type="http://schemas.openxmlformats.org/officeDocument/2006/relationships/slide" Target="/ppt/slides/slide4.xml" Id="R49461acf4ab147d2" /><Relationship Type="http://schemas.openxmlformats.org/officeDocument/2006/relationships/slide" Target="/ppt/slides/slide5.xml" Id="R2421cd19f2b44bd4" /><Relationship Type="http://schemas.openxmlformats.org/officeDocument/2006/relationships/slide" Target="/ppt/slides/slide6.xml" Id="R627376258dfa47c8" /><Relationship Type="http://schemas.openxmlformats.org/officeDocument/2006/relationships/slide" Target="/ppt/slides/slide7.xml" Id="R7dd13f82bb01436a" /><Relationship Type="http://schemas.openxmlformats.org/officeDocument/2006/relationships/slide" Target="/ppt/slides/slide8.xml" Id="R3e9ef5d3a1534e6c" /><Relationship Type="http://schemas.openxmlformats.org/officeDocument/2006/relationships/slide" Target="/ppt/slides/slide9.xml" Id="Rcbae63be145a480f" /><Relationship Type="http://schemas.openxmlformats.org/officeDocument/2006/relationships/slide" Target="/ppt/slides/slide10.xml" Id="R7cf0c34635164b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5864eb070247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7b02861d854d3a" /><Relationship Type="http://schemas.openxmlformats.org/officeDocument/2006/relationships/notesMaster" Target="/ppt/notesMasters/notesMaster1.xml" Id="Raad86632928e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c02c3374745bd" /><Relationship Type="http://schemas.openxmlformats.org/officeDocument/2006/relationships/notesMaster" Target="/ppt/notesMasters/notesMaster1.xml" Id="Rb8a21e84f993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ac0b6b7cad404e" /><Relationship Type="http://schemas.openxmlformats.org/officeDocument/2006/relationships/notesMaster" Target="/ppt/notesMasters/notesMaster1.xml" Id="R42a593ad42224f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73ccd813484383" /><Relationship Type="http://schemas.openxmlformats.org/officeDocument/2006/relationships/notesMaster" Target="/ppt/notesMasters/notesMaster1.xml" Id="R6671a2bde88845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f594b183474353" /><Relationship Type="http://schemas.openxmlformats.org/officeDocument/2006/relationships/notesMaster" Target="/ppt/notesMasters/notesMaster1.xml" Id="Rc3fcaddd8e5844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bea5e05f4f4025" /><Relationship Type="http://schemas.openxmlformats.org/officeDocument/2006/relationships/notesMaster" Target="/ppt/notesMasters/notesMaster1.xml" Id="R1141daa9cfd44e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18d43abe24bc1" /><Relationship Type="http://schemas.openxmlformats.org/officeDocument/2006/relationships/notesMaster" Target="/ppt/notesMasters/notesMaster1.xml" Id="R070e9b85fb5c4e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44d797ab284248" /><Relationship Type="http://schemas.openxmlformats.org/officeDocument/2006/relationships/notesMaster" Target="/ppt/notesMasters/notesMaster1.xml" Id="Ra47d35f6143a44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fb41557daf4a1e" /><Relationship Type="http://schemas.openxmlformats.org/officeDocument/2006/relationships/notesMaster" Target="/ppt/notesMasters/notesMaster1.xml" Id="R3881c909491145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0238f216ed445b" /><Relationship Type="http://schemas.openxmlformats.org/officeDocument/2006/relationships/notesMaster" Target="/ppt/notesMasters/notesMaster1.xml" Id="R70cc50e1f001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decision: the product helps an advisor prioritize postings, while final forwarding and authorization review stay human.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README.md</a:t>
            </a:r>
          </a:p>
          <a:p xmlns:a="http://schemas.openxmlformats.org/drawingml/2006/main">
            <a:r>
              <a:t>- docs/problem_statement.md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advisor actions. Emphasize that the system supports triage rather than making immigration or hiring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docs/problem_statement.md</a:t>
            </a:r>
          </a:p>
          <a:p xmlns:a="http://schemas.openxmlformats.org/drawingml/2006/main">
            <a:r>
              <a:t>- docs/governance_risk_appendix.md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original source, the 100,000-row stratified sample, and the 80/20 split. State clearly that labels are rule-derived weak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data_jobs_msba_project_sample_100k_metadata.json</a:t>
            </a:r>
          </a:p>
          <a:p xmlns:a="http://schemas.openxmlformats.org/drawingml/2006/main">
            <a:r>
              <a:t>- outputs/milestone2_baseline_results.json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the final system is the accumulation of measured representation, adaptation, retrieval, and product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outputs/milestone2_baseline_results.json</a:t>
            </a:r>
          </a:p>
          <a:p xmlns:a="http://schemas.openxmlformats.org/drawingml/2006/main">
            <a:r>
              <a:t>- outputs/milestone3_adaptation_results.json</a:t>
            </a:r>
          </a:p>
          <a:p xmlns:a="http://schemas.openxmlformats.org/drawingml/2006/main">
            <a:r>
              <a:t>- outputs/milestone4_prototype_results.json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architecture uses lexical retrieval for speed and transparency, then a deterministic response template to preserve grounding.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msba_job_matcher/core.py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one real run. Point to the title, company, location, label, and retrieval score. The advisor can inspect why each posting was surfaced.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outputs/final_casebook_outputs.json - entry_level_analytics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the four saved runs. The authorization case found a posting title that explicitly says No OPT/CPT; the system surfaces that phrase but still requires verification.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outputs/final_casebook_outputs.json</a:t>
            </a:r>
          </a:p>
          <a:p xmlns:a="http://schemas.openxmlformats.org/drawingml/2006/main">
            <a:r>
              <a:t>- docs/governance_risk_appendix.md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candid about the tradeoff. LoRA is the strongest pure classifier. The final prototype is selected because it adds retrieval evidence, a reproducible interface, and governance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outputs/milestone2_baseline_results.json</a:t>
            </a:r>
          </a:p>
          <a:p xmlns:a="http://schemas.openxmlformats.org/drawingml/2006/main">
            <a:r>
              <a:t>- outputs/milestone3_adaptation_results.json</a:t>
            </a:r>
          </a:p>
          <a:p xmlns:a="http://schemas.openxmlformats.org/drawingml/2006/main">
            <a:r>
              <a:t>- outputs/final_evaluation_results.json</a:t>
            </a:r>
          </a:p>
          <a:p xmlns:a="http://schemas.openxmlformats.org/drawingml/2006/main">
            <a:r>
              <a:t>- outputs/milestone4_prototype_results.json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confusion matrix into product policy. Conservative errors can hide viable opportunities, so ambiguous labels must remain reviewable.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outputs/milestone4_prototype_results.json</a:t>
            </a:r>
          </a:p>
          <a:p xmlns:a="http://schemas.openxmlformats.org/drawingml/2006/main">
            <a:r>
              <a:t>- docs/governance_risk_appendix.md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business recommendation: a limited, measured pilot. The next proof point is workflow value with human-reviewed data, not a larger model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docs/evaluation_summary.md</a:t>
            </a:r>
          </a:p>
          <a:p xmlns:a="http://schemas.openxmlformats.org/drawingml/2006/main">
            <a:r>
              <a:t>- docs/governance_risk_appendix.md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7b2e72d0843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b14aa5c5e4709" /><Relationship Type="http://schemas.openxmlformats.org/officeDocument/2006/relationships/slideLayout" Target="/ppt/slideLayouts/slideLayout1.xml" Id="Rb03a4af74e8b4b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a4af74e8b4b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058cc8ce34e19" /><Relationship Type="http://schemas.openxmlformats.org/officeDocument/2006/relationships/notesSlide" Target="/ppt/notesSlides/notesSlide1.xml" Id="R37c37a33747544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47cef92294ea4" /><Relationship Type="http://schemas.openxmlformats.org/officeDocument/2006/relationships/notesSlide" Target="/ppt/notesSlides/notesSlide2.xml" Id="Rb5f1fba91dcc4b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72bb67eef4b38" /><Relationship Type="http://schemas.openxmlformats.org/officeDocument/2006/relationships/notesSlide" Target="/ppt/notesSlides/notesSlide3.xml" Id="Rf0b80304c070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2f049cbc34def" /><Relationship Type="http://schemas.openxmlformats.org/officeDocument/2006/relationships/notesSlide" Target="/ppt/notesSlides/notesSlide4.xml" Id="R98b5a89a73054b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7f8d718894879" /><Relationship Type="http://schemas.openxmlformats.org/officeDocument/2006/relationships/notesSlide" Target="/ppt/notesSlides/notesSlide5.xml" Id="R6834ec5b90a740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e3c05c2aa4e9b" /><Relationship Type="http://schemas.openxmlformats.org/officeDocument/2006/relationships/notesSlide" Target="/ppt/notesSlides/notesSlide6.xml" Id="Re57a86d0799c42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87a563f8a4c3f" /><Relationship Type="http://schemas.openxmlformats.org/officeDocument/2006/relationships/notesSlide" Target="/ppt/notesSlides/notesSlide7.xml" Id="R6cd64ccaf46a49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f2c968ca04814" /><Relationship Type="http://schemas.openxmlformats.org/officeDocument/2006/relationships/chart" Target="/ppt/slides/charts/chart1.xml" Id="Rcdd730942fdf479c" /><Relationship Type="http://schemas.openxmlformats.org/officeDocument/2006/relationships/notesSlide" Target="/ppt/notesSlides/notesSlide8.xml" Id="Re475082940b34e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6197275d8496a" /><Relationship Type="http://schemas.openxmlformats.org/officeDocument/2006/relationships/notesSlide" Target="/ppt/notesSlides/notesSlide9.xml" Id="R097a9572985a47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d94c19bdd432b" /><Relationship Type="http://schemas.openxmlformats.org/officeDocument/2006/relationships/notesSlide" Target="/ppt/notesSlides/notesSlide10.xml" Id="R5c7f6642eb1845e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M2 TF-IDF</c:v>
              </c:pt>
              <c:pt idx="1">
                <c:v>M3 PEFT LoRA</c:v>
              </c:pt>
              <c:pt idx="2">
                <c:v>Final system</c:v>
              </c:pt>
            </c:strLit>
          </c:cat>
          <c:val>
            <c:numLit>
              <c:formatCode>General</c:formatCode>
              <c:ptCount val="3"/>
              <c:pt idx="0">
                <c:v>79.3</c:v>
              </c:pt>
              <c:pt idx="1">
                <c:v>87.5</c:v>
              </c:pt>
              <c:pt idx="2">
                <c:v>80</c:v>
              </c:pt>
            </c:numLit>
          </c:val>
        </c:ser>
        <c:ser>
          <c:idx val="1"/>
          <c:order val="1"/>
          <c:tx>
            <c:v>Macro F1</c:v>
          </c:tx>
          <c:spPr>
            <a:solidFill xmlns:a="http://schemas.openxmlformats.org/drawingml/2006/main">
              <a:srgbClr val="D6532F"/>
            </a:solidFill>
          </c:spPr>
          <c:cat>
            <c:strLit>
              <c:ptCount val="3"/>
              <c:pt idx="0">
                <c:v>M2 TF-IDF</c:v>
              </c:pt>
              <c:pt idx="1">
                <c:v>M3 PEFT LoRA</c:v>
              </c:pt>
              <c:pt idx="2">
                <c:v>Final system</c:v>
              </c:pt>
            </c:strLit>
          </c:cat>
          <c:val>
            <c:numLit>
              <c:formatCode>General</c:formatCode>
              <c:ptCount val="3"/>
              <c:pt idx="0">
                <c:v>78.5</c:v>
              </c:pt>
              <c:pt idx="1">
                <c:v>87.3</c:v>
              </c:pt>
              <c:pt idx="2">
                <c:v>80.1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4F501-8138-4605-A09E-3C852CB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ISBA 2411 | FINAL TEAM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E106-81C4-4751-966C-992C0B2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MSBA Job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4A623D-7848-43BD-97CD-92E11963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11111"/>
                </a:solidFill>
              </a:defRPr>
            </a:pPr>
            <a:r>
              <a:rPr sz="2700" b="0">
                <a:solidFill>
                  <a:srgbClr val="111111"/>
                </a:solidFill>
              </a:rPr>
              <a:t>Grounded NLP decision support for career advisors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D915E-2AED-4943-89AF-4073917E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5D67"/>
                </a:solidFill>
              </a:defRPr>
            </a:pPr>
            <a:r>
              <a:rPr sz="1950" b="0">
                <a:solidFill>
                  <a:srgbClr val="565D67"/>
                </a:solidFill>
              </a:rPr>
              <a:t>Real postings -&gt; retrieved evidence -&gt; role-fit triage -&gt; human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8813D5-A98A-4832-8078-E1457F1F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8DFF"/>
                </a:solidFill>
              </a:defRPr>
            </a:pPr>
            <a:r>
              <a:rPr sz="1650" b="0">
                <a:solidFill>
                  <a:srgbClr val="3D8DFF"/>
                </a:solidFill>
              </a:rPr>
              <a:t>Yitong Wang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11F02-A577-4C50-88BE-294BD87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95920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DA43F47E-A85D-4942-82CB-F89AF209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advisor must separate fit, uncertainty, and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F5B45-2182-4F12-95A0-6FB609EC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A useful system improves a specific decision: forward, hold, or investigate.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2403A-3FCE-435E-B1D9-7A7C849F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2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41910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A2E9F-FAB4-4DE9-9976-268BDA7C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FORWARD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5B2CB-C7D6-4EA7-A0A3-46ED0ED1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Strong entry-level analytics fit supported by title, skills, and location evidence.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276725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BBECF-E65F-4783-8249-25BEC43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17F46E-F2C6-44E8-962A-121A308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Senior, engineering-heavy, or clearly misaligned roles require a conservative screen.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134350" y="27241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532F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79B25-ADBD-4781-9647-BDA1A00E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099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532F"/>
                </a:solidFill>
              </a:defRPr>
            </a:pPr>
            <a:r>
              <a:rPr sz="2100" b="1">
                <a:solidFill>
                  <a:srgbClr val="D6532F"/>
                </a:solidFill>
              </a:rPr>
              <a:t>INVESTIGATE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42E0B-44A8-4470-B604-B8E014D8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Incomplete fields or missing authorization language require human follow-up.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68274-624D-4253-AEC5-24F3B150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Role fit and work authorization are related in workflow, but they are not the same prediction task.</a:t>
            </a:r>
          </a:p>
        </p:txBody>
      </p:sp>
    </p:spTree>
    <p:extLst>
      <p:ext uri="{BB962C8B-B14F-4D97-AF65-F5344CB8AC3E}">
        <p14:creationId xmlns:p14="http://schemas.microsoft.com/office/powerpoint/2010/main" val="11890016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65FD6EAE-C58A-4556-97AA-A41F3A9A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data is large, real, and reproducibly sampled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F434A-455E-4908-A960-2E2B4A78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Transparent weak labels make experimentation feasible, but not equivalent to human ground truth.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9B76-B32D-4415-B564-0890E113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AC07AB-F37B-4B18-875A-EAB63ED6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86A9E-2360-4E56-BB50-C2A7651D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785,741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9C15AF-AC43-4EDB-836A-01BAA062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original public job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1B8DE-4BE5-43BC-8B84-A9B00933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BE9F8-B5EF-4795-976E-BE087A33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100,000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302BD-6F26-45BC-BBCD-6FF7AAF7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stratified project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6CB4D-2124-440D-825F-76D1F5F2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DBBE-A514-4848-9C53-B86DD012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6532F"/>
                </a:solidFill>
              </a:defRPr>
            </a:pPr>
            <a:r>
              <a:rPr sz="4350" b="1">
                <a:solidFill>
                  <a:srgbClr val="D6532F"/>
                </a:solidFill>
              </a:rPr>
              <a:t>80k / 20k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6A8FD-44A3-4BE3-ACDB-2FD6A78C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training and held-out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6BA86-6C0B-4A28-9872-BE96F067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2571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F3A74-3FCD-4E82-A85A-F3FD9E02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95650"/>
            <a:ext cx="2047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</a:defRPr>
            </a:pPr>
            <a:r>
              <a:rPr sz="4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95281-BAE8-43A2-AFD3-407647BD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05300"/>
            <a:ext cx="204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balanced role-fit labels</a:t>
            </a:r>
          </a:p>
        </p:txBody>
      </p:sp>
    </p:spTree>
    <p:extLst>
      <p:ext uri="{BB962C8B-B14F-4D97-AF65-F5344CB8AC3E}">
        <p14:creationId xmlns:p14="http://schemas.microsoft.com/office/powerpoint/2010/main" val="218192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EEA47DC4-BDE7-473D-A50C-2FC8A17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Each milestone added a measured capability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FD0FD-C605-4198-B9D0-46925F8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4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800100" y="3238500"/>
            <a:ext cx="10191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A4564-DB90-45AC-83EC-9678C220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74368-DF47-40FE-8555-672FE539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0E66A-BB14-4A2A-9513-8296981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Represent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A8FAE-470A-4997-B41B-1910623F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TF-IDF + MiniLM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20k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3094D-2BA8-4A64-9FD6-D3BF3588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D1799-F2B5-41C8-BEE5-CB9636AB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61ACA2-0FA8-4ABD-909A-54F100CD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Adapt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D1EF6-D4CA-4CF5-9441-09A49F93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Zero-shot + few-shot +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true PEFT LoRA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FA093-149F-4C24-B84E-46C4EFEA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E6483-8079-40F4-8DCC-C09B3131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E902E-E914-4B39-9013-93ACBA9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Ground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331DAD-DCB2-472A-B9BF-07FDED8E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Retrieval + evidence +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hallucination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A696B8-03A4-443A-A014-DBA53089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143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5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2FB29-43BC-4E79-86D9-0FB2AB51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5717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65D67"/>
                </a:solidFill>
              </a:defRPr>
            </a:pPr>
            <a:r>
              <a:rPr sz="1800" b="1">
                <a:solidFill>
                  <a:srgbClr val="565D67"/>
                </a:solidFill>
              </a:rPr>
              <a:t>M5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833F7-C583-46CD-8A33-983E294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957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6532F"/>
                </a:solidFill>
              </a:defRPr>
            </a:pPr>
            <a:r>
              <a:rPr sz="2250" b="1">
                <a:solidFill>
                  <a:srgbClr val="D6532F"/>
                </a:solidFill>
              </a:rPr>
              <a:t>Ship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9B4DD-A6DC-4551-B6AD-783B2268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248150"/>
            <a:ext cx="214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CLI, docs, evaluation,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demo,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1052534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566748C2-BFB4-4769-92A9-A47CAEC8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Retrieval makes the final recommendation inspectable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10A14-B913-4AFE-8D33-3FABB8A4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Generation is constrained to source fields; authorization remains an evidence-gated branch.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94D30-8E46-4376-B6EC-136E9872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5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220980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451485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681990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9124950" y="335280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646C-39D8-471C-A1F3-D9AA7695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51ACD-F580-4DD7-B4C8-FFFA20EA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BC244-4E5D-4303-83AD-EF3D2EF6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99705-2FA7-40BF-86EB-7BDE32F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Advisor query or raw posting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5FAB6-9C0E-435A-9E76-8D5AAC00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FC14-2C25-4E0B-9AA9-20696D36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4EF6A-8ED3-4DD2-85E2-A5794963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RETRIEVE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C404B6-06FA-4A40-870E-DC1B127A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Top-6 from 80k real postings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AB209-04B1-49CA-813D-698582E2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4DE18A-364B-48D4-BCEC-F50203DD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CA04B-FF4E-4770-BF25-5BAC6352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7476A9-BCC7-4288-A786-7AF77A99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Transparent four-label rubric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A04890-B46D-4221-9B60-7480BAD5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3BFD1-DC25-4D98-BC68-34E7F4C9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673C55-6FE7-464D-BCCD-4E228994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GENERATE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A5FEE-DE3E-4BEE-A550-3DD218C9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Cited fields</a:t>
            </a:r>
          </a:p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only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D58192-4F4F-42F3-8103-9A3318EE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95550"/>
            <a:ext cx="1790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EC221-8ED9-409C-9B8C-43118A9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24150"/>
            <a:ext cx="38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6532F"/>
                </a:solidFill>
              </a:defRPr>
            </a:pPr>
            <a:r>
              <a:rPr sz="1950" b="1">
                <a:solidFill>
                  <a:srgbClr val="D6532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64099-39C7-46B5-9443-E062BDBF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57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C9AF19-45E1-4117-AE9B-BA48CD46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48100"/>
            <a:ext cx="140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5D67"/>
                </a:solidFill>
              </a:defRPr>
            </a:pPr>
            <a:r>
              <a:rPr sz="1500" b="0">
                <a:solidFill>
                  <a:srgbClr val="565D67"/>
                </a:solidFill>
              </a:rPr>
              <a:t>Authorization and final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E10D9E-1F1B-468D-8F02-40FCC685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911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Every posting-specific fact in the response can be traced to a retrieved record.</a:t>
            </a:r>
          </a:p>
        </p:txBody>
      </p:sp>
    </p:spTree>
    <p:extLst>
      <p:ext uri="{BB962C8B-B14F-4D97-AF65-F5344CB8AC3E}">
        <p14:creationId xmlns:p14="http://schemas.microsoft.com/office/powerpoint/2010/main" val="2210878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02E439AD-A94E-4A67-BFC6-87660BF8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A normal run returns real postings, not just a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C856D2-9941-432E-822E-4C8ADB18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028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5D67"/>
                </a:solidFill>
              </a:defRPr>
            </a:pPr>
            <a:r>
              <a:rPr sz="1650" b="0">
                <a:solidFill>
                  <a:srgbClr val="565D67"/>
                </a:solidFill>
              </a:rPr>
              <a:t>Query prediction: high_fit | Action: advisor review before forwarding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A3E51-B033-45DE-9B25-48A5219D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726CD-8238-4CEE-BE78-F4E0269A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81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11B53-BFFF-4F3B-875E-5EFB2E70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5240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Find entry-level US data analyst, business analyst, or BI roles for an MSBA student with SQL, Python, Excel, Tableau, and Power BI. Remote or Bay Area preferred.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195FE-3664-4793-B342-6E067755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43150"/>
            <a:ext cx="66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9A83A-98F8-4802-973C-B167500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669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RANK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1B3C6-6211-4F67-AFBF-2F67414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3101C-E9D4-4AD2-A0F6-59D4B267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66975"/>
            <a:ext cx="350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POSTING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58068-C01C-409B-940C-EAD4C21A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371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831FA-D368-4ABB-8ADC-DED8FA74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66975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COMPANY / LOCATION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C95ED-5B1B-4A32-95AF-CB2ACAB6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4315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54A93-650A-4FE7-BA74-8470718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669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306B98-F126-43A5-842D-14F4891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43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07401-A56F-424D-B488-77E6AAB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669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97B24A-76D4-4546-9036-1B29A481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00350"/>
            <a:ext cx="66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89A4A-C11D-485B-B221-9AAA299E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146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89427B-1A61-4ED5-A2FA-897C65C2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035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A7DBF-42F1-4001-975C-4D56ADC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Analyst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B0227-546F-47CD-9417-12FB25E2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003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AFE867-1BB4-4E7A-9355-298440A4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146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HireMatch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Anywhere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F426-26EF-456D-B968-7D89C252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6630D-C878-46E8-BA43-8AB13E7B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146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high_fit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B0141-0DA3-422E-9D14-A9ECE0AF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00350"/>
            <a:ext cx="95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2D3F6-37DE-40B8-9A88-C7389001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146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8.054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3CA21F-3657-40A4-B30B-6E2F0DD2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24250"/>
            <a:ext cx="66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6CAF04-886C-4A2D-8068-9C7F7FD7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6AEB9A-8179-4D8D-A7AB-7F29884B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ADD2F-F91D-462A-972A-C91CA207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3855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Analyst II, Bay Area - Remote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47610B-FBD9-4F5A-8162-7B80F169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242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10409-1476-4837-9FF8-6C8ECFBD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85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Astreya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Anywhere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C1C71-26BB-423E-B1D7-9B1F3AE5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242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B1359-A065-460B-8F19-A3C993EF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385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high_fit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F9153-8E65-4755-9926-954A22FC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24250"/>
            <a:ext cx="95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836B99-AF26-4DA2-87C4-8BC6181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385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7.951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9A7A0F-7B01-4646-8FB9-0BFCC1AD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48150"/>
            <a:ext cx="666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34F7F0-DF7E-424D-ABAD-38EC70D8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624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619ED-2654-44E7-9E1F-7F256DD2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DAA06B-2212-4F03-AF48-2FF964F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6245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Data Analyst (US REMOTE)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95924-CB24-41B4-937D-8C7EE3C2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401759-73F6-42FD-800D-948A1E35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24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LeanTaaS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Anywhere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28D82B-A823-45C3-B3B3-2DDE45C2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48150"/>
            <a:ext cx="1428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84B6F-555E-4C3E-B38F-C7E3B4E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6245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high_fit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7C0CA16-D052-4197-AAF7-C7E88A4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248150"/>
            <a:ext cx="95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A9EF8E-2EDA-448F-A3E4-AAD80118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62450"/>
            <a:ext cx="800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6.858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8FCCC4-4BB3-4F5B-86C5-B3C435D7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2197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Review 6 retrieved postings first; they have analytics role-fit signals.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6D78D9-2958-474A-8030-D557E436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72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532F"/>
                </a:solidFill>
              </a:defRPr>
            </a:pPr>
            <a:r>
              <a:rPr sz="1650" b="0">
                <a:solidFill>
                  <a:srgbClr val="D6532F"/>
                </a:solidFill>
              </a:rPr>
              <a:t>Authorization: verify separately unless explicit source text is present.</a:t>
            </a:r>
          </a:p>
        </p:txBody>
      </p:sp>
    </p:spTree>
    <p:extLst>
      <p:ext uri="{BB962C8B-B14F-4D97-AF65-F5344CB8AC3E}">
        <p14:creationId xmlns:p14="http://schemas.microsoft.com/office/powerpoint/2010/main" val="1924693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77C39304-72ED-4124-B3DF-B834860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Edge cases change the action, not the safety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15985-1892-4272-8651-70B9C4BC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7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419100" y="17907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73341-A1B5-4153-8DC1-30D91A1E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19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5D67"/>
                </a:solidFill>
              </a:defRPr>
            </a:pPr>
            <a:r>
              <a:rPr sz="1650" b="1">
                <a:solidFill>
                  <a:srgbClr val="565D67"/>
                </a:solidFill>
              </a:rPr>
              <a:t>ENTRY LEVEL ANALYTICS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7C7D0C-4079-49D5-85E5-9395A673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14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high_fit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F5FDB-E3C7-4509-BEE4-4A7279FA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38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Forward candidates after advisor review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6248400" y="17907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19F57-C856-4E83-80F6-3A699E27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5D67"/>
                </a:solidFill>
              </a:defRPr>
            </a:pPr>
            <a:r>
              <a:rPr sz="1650" b="1">
                <a:solidFill>
                  <a:srgbClr val="565D67"/>
                </a:solidFill>
              </a:rPr>
              <a:t>SENIOR ENGINEERING 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182E44-3F55-42F3-B030-907736A4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146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low_fit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50DAC7-0DBB-490E-8B8E-22224DAB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Hold a role that is too senior or engineering-heavy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19100" y="39433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532F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79FC4-B9D7-4FF6-8F15-F4C4C5A9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5D67"/>
                </a:solidFill>
              </a:defRPr>
            </a:pPr>
            <a:r>
              <a:rPr sz="1650" b="1">
                <a:solidFill>
                  <a:srgbClr val="565D67"/>
                </a:solidFill>
              </a:rPr>
              <a:t>AUTHORIZATION MISSING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AFFAB-C32F-4253-BB91-0B2A19D3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67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6532F"/>
                </a:solidFill>
              </a:defRPr>
            </a:pPr>
            <a:r>
              <a:rPr sz="2325" b="1">
                <a:solidFill>
                  <a:srgbClr val="D6532F"/>
                </a:solidFill>
              </a:rPr>
              <a:t>unclear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14329-D4D5-4566-B28A-6DAB694F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Explicit negative authorization text surfaced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248400" y="39433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D8DFF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08F79-B6EF-456A-A768-0C0B134E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71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65D67"/>
                </a:solidFill>
              </a:defRPr>
            </a:pPr>
            <a:r>
              <a:rPr sz="1650" b="1">
                <a:solidFill>
                  <a:srgbClr val="565D67"/>
                </a:solidFill>
              </a:rPr>
              <a:t>THIN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80B56-BE82-4C10-98F2-9B6E6002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672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unclear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EEF72-68DD-49A4-85CA-F8DFD3A4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910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Investigate an incomplete posting</a:t>
            </a:r>
          </a:p>
        </p:txBody>
      </p:sp>
    </p:spTree>
    <p:extLst>
      <p:ext uri="{BB962C8B-B14F-4D97-AF65-F5344CB8AC3E}">
        <p14:creationId xmlns:p14="http://schemas.microsoft.com/office/powerpoint/2010/main" val="10195380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52272796-226E-47BC-8019-F572EE07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The final system preserves quality and adds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3900C-F7FF-478B-8709-BE53168D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19100" y="1409700"/>
          <a:ext xmlns:a="http://schemas.openxmlformats.org/drawingml/2006/main" cx="619125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d730942fdf479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9E961-2D1C-43D9-98B4-737398B0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4668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5200B-A18D-4C6A-AF9E-3EE828AE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6383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80.1%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35FC3B-CA98-4006-9AC2-45FFEC2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335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final macro F1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1EDE7-89D9-428D-A31E-4A5372F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1000E-714C-4022-B626-F17A6CF5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242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</a:defRPr>
            </a:pPr>
            <a:r>
              <a:rPr sz="3150" b="1">
                <a:solidFill>
                  <a:srgbClr val="3D8DFF"/>
                </a:solidFill>
              </a:rPr>
              <a:t>90.0%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7155C-8299-4FBB-84E1-AE61E4E7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support hit@5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2F5E1-73A6-420A-866C-A89DD91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4286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13687-AAF9-4D2D-9B76-C9339CED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532F"/>
                </a:solidFill>
              </a:defRPr>
            </a:pPr>
            <a:r>
              <a:rPr sz="3150" b="1">
                <a:solidFill>
                  <a:srgbClr val="D6532F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54B77-5772-456E-9E85-08E341EC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unsupported authorization claims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EBC9B-49D4-4647-9FBD-F63A5999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626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LoRA wins classification; the final system wins the workflow tradeoff.</a:t>
            </a:r>
          </a:p>
        </p:txBody>
      </p:sp>
    </p:spTree>
    <p:extLst>
      <p:ext uri="{BB962C8B-B14F-4D97-AF65-F5344CB8AC3E}">
        <p14:creationId xmlns:p14="http://schemas.microsoft.com/office/powerpoint/2010/main" val="1998277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EE97549-E706-431B-AD44-4D1233F2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96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Errors require a conservative deployment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C7F49-F8E3-4CD8-9629-9A5166B6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22ABF-F732-4F2D-898A-56D02FF2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240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WHERE ERRORS CONCENTRATE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81635-23B2-44F6-B3DD-A3F0D4C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medium_fit -&gt; low_fit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1BEEC-E85A-424F-A0C2-0433535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14550"/>
            <a:ext cx="26060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4F7E0-71CD-400B-8BBA-6B4C6AF3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380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BB4241-ED81-45FB-9A5A-C936FF8B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861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unclear -&gt; low_fit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11338-9E27-46FF-B094-9D1C66EC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05150"/>
            <a:ext cx="174193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3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93AF8-B5ED-4755-A6FC-B1C682E2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254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2F220-EBB3-4A0D-B285-8D91C5D9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7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all other 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00FE0-6DA3-4891-99CC-4D941CA9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1124712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D8F36-41D5-4D53-8F0F-86FAC5FE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0767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164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6819900" y="152400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29A1F-0164-4394-BBB7-B7ADFF4B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DEPLOYMENT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28593-4857-4DCD-81B8-5E64ABBB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62200"/>
            <a:ext cx="4286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Prioritize high-fit candidates. Route medium, unclear, and authorization-sensitive cases to human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E1441-0791-4D57-8A34-7DC06C02D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4286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No automatic rejection</a:t>
            </a:r>
          </a:p>
          <a:p xmlns:a="http://schemas.openxmlformats.org/drawingml/2006/main">
            <a:pPr algn="l"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No unsupported authorization claim</a:t>
            </a:r>
          </a:p>
          <a:p xmlns:a="http://schemas.openxmlformats.org/drawingml/2006/main">
            <a:pPr algn="l"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No private student data in the prototype</a:t>
            </a:r>
          </a:p>
        </p:txBody>
      </p:sp>
    </p:spTree>
    <p:extLst>
      <p:ext uri="{BB962C8B-B14F-4D97-AF65-F5344CB8AC3E}">
        <p14:creationId xmlns:p14="http://schemas.microsoft.com/office/powerpoint/2010/main" val="11836679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AB1AE-DE1E-472D-B981-BD1B0110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65D67"/>
                </a:solidFill>
              </a:defRPr>
            </a:pPr>
            <a:r>
              <a:rPr sz="1800" b="0">
                <a:solidFill>
                  <a:srgbClr val="565D67"/>
                </a:solidFill>
              </a:rPr>
              <a:t>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55E3F-92C3-4CE0-877B-CA4B8303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Pilot as decision support, then earn the right to automate more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3943350"/>
            <a:ext cx="3333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1A21F-DD58-4EBA-966B-6BAA50BF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</a:defRPr>
            </a:pPr>
            <a:r>
              <a:rPr sz="2025" b="1">
                <a:solidFill>
                  <a:srgbClr val="3D8DFF"/>
                </a:solidFill>
              </a:rPr>
              <a:t>Next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DD6490-A087-4BBB-BBE3-FA3AED2F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095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High-fit precision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Advisor time saved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Override rate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Authorization extraction 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22B82-4310-4DEA-9707-8B04E6DF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57750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Use de-identified Career Center postings and human-reviewed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BE274-10DA-4DE3-9A3E-0C08919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5D67"/>
                </a:solidFill>
              </a:defRPr>
            </a:pPr>
            <a:r>
              <a:rPr sz="1200" b="0">
                <a:solidFill>
                  <a:srgbClr val="565D67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454801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2026-08-05T01:26:42.8930000Z</dcterms:created>
  <dcterms:modified xsi:type="dcterms:W3CDTF">2026-08-05T01:26:42.8930000Z</dcterms:modified>
</coreProperties>
</file>