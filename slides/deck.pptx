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8dc6e8a7e0452d" /><Relationship Type="http://schemas.openxmlformats.org/officeDocument/2006/relationships/extended-properties" Target="/docProps/app.xml" Id="R7f7b0ca2ac6a49dc" /><Relationship Type="http://schemas.openxmlformats.org/officeDocument/2006/relationships/officeDocument" Target="/ppt/presentation.xml" Id="Rf43637a756e3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7bf8d39cf4f31"/>
  </p:sldMasterIdLst>
  <p:notesMasterIdLst>
    <p:notesMasterId xmlns:r="http://schemas.openxmlformats.org/officeDocument/2006/relationships" r:id="Re556f20986b846cb"/>
  </p:notesMasterIdLst>
  <p:sldIdLst>
    <p:sldId xmlns:r="http://schemas.openxmlformats.org/officeDocument/2006/relationships" id="256" r:id="R5d8cbeb4a2594fd8"/>
    <p:sldId xmlns:r="http://schemas.openxmlformats.org/officeDocument/2006/relationships" id="257" r:id="R870f1d1ca3bc41c3"/>
    <p:sldId xmlns:r="http://schemas.openxmlformats.org/officeDocument/2006/relationships" id="258" r:id="Rf06c534a04d14164"/>
    <p:sldId xmlns:r="http://schemas.openxmlformats.org/officeDocument/2006/relationships" id="259" r:id="R63a89e787a334a8b"/>
    <p:sldId xmlns:r="http://schemas.openxmlformats.org/officeDocument/2006/relationships" id="260" r:id="Rc32a3f235b0347b2"/>
    <p:sldId xmlns:r="http://schemas.openxmlformats.org/officeDocument/2006/relationships" id="261" r:id="R6e030c3b804d4fb6"/>
    <p:sldId xmlns:r="http://schemas.openxmlformats.org/officeDocument/2006/relationships" id="262" r:id="R77be3f1ec74e4c9b"/>
    <p:sldId xmlns:r="http://schemas.openxmlformats.org/officeDocument/2006/relationships" id="263" r:id="R38e57aafb62648d4"/>
    <p:sldId xmlns:r="http://schemas.openxmlformats.org/officeDocument/2006/relationships" id="264" r:id="Rac2e080c29214363"/>
    <p:sldId xmlns:r="http://schemas.openxmlformats.org/officeDocument/2006/relationships" id="265" r:id="R5929b920385647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fe7430e7ae4b70" /><Relationship Type="http://schemas.openxmlformats.org/officeDocument/2006/relationships/slideMaster" Target="/ppt/slideMasters/slideMaster1.xml" Id="R6cd7bf8d39cf4f31" /><Relationship Type="http://schemas.openxmlformats.org/officeDocument/2006/relationships/notesMaster" Target="/ppt/notesMasters/notesMaster1.xml" Id="Re556f20986b846cb" /><Relationship Type="http://schemas.openxmlformats.org/officeDocument/2006/relationships/presProps" Target="/ppt/presProps.xml" Id="Ra28872dd9fc043f4" /><Relationship Type="http://schemas.openxmlformats.org/officeDocument/2006/relationships/tableStyles" Target="/ppt/tableStyles.xml" Id="R8fabe3baad934c37" /><Relationship Type="http://schemas.openxmlformats.org/officeDocument/2006/relationships/slide" Target="/ppt/slides/slide1.xml" Id="R5d8cbeb4a2594fd8" /><Relationship Type="http://schemas.openxmlformats.org/officeDocument/2006/relationships/slide" Target="/ppt/slides/slide2.xml" Id="R870f1d1ca3bc41c3" /><Relationship Type="http://schemas.openxmlformats.org/officeDocument/2006/relationships/slide" Target="/ppt/slides/slide3.xml" Id="Rf06c534a04d14164" /><Relationship Type="http://schemas.openxmlformats.org/officeDocument/2006/relationships/slide" Target="/ppt/slides/slide4.xml" Id="R63a89e787a334a8b" /><Relationship Type="http://schemas.openxmlformats.org/officeDocument/2006/relationships/slide" Target="/ppt/slides/slide5.xml" Id="Rc32a3f235b0347b2" /><Relationship Type="http://schemas.openxmlformats.org/officeDocument/2006/relationships/slide" Target="/ppt/slides/slide6.xml" Id="R6e030c3b804d4fb6" /><Relationship Type="http://schemas.openxmlformats.org/officeDocument/2006/relationships/slide" Target="/ppt/slides/slide7.xml" Id="R77be3f1ec74e4c9b" /><Relationship Type="http://schemas.openxmlformats.org/officeDocument/2006/relationships/slide" Target="/ppt/slides/slide8.xml" Id="R38e57aafb62648d4" /><Relationship Type="http://schemas.openxmlformats.org/officeDocument/2006/relationships/slide" Target="/ppt/slides/slide9.xml" Id="Rac2e080c29214363" /><Relationship Type="http://schemas.openxmlformats.org/officeDocument/2006/relationships/slide" Target="/ppt/slides/slide10.xml" Id="R5929b9203856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d7030ee5654f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3a43d8fb64234" /><Relationship Type="http://schemas.openxmlformats.org/officeDocument/2006/relationships/notesMaster" Target="/ppt/notesMasters/notesMaster1.xml" Id="Rce745a9af1f54b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2a3c79008f4b61" /><Relationship Type="http://schemas.openxmlformats.org/officeDocument/2006/relationships/notesMaster" Target="/ppt/notesMasters/notesMaster1.xml" Id="R6b8db9dd9a78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a1943765314814" /><Relationship Type="http://schemas.openxmlformats.org/officeDocument/2006/relationships/notesMaster" Target="/ppt/notesMasters/notesMaster1.xml" Id="R0aa5bf4e9ae64b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225b7359047db" /><Relationship Type="http://schemas.openxmlformats.org/officeDocument/2006/relationships/notesMaster" Target="/ppt/notesMasters/notesMaster1.xml" Id="R96a81d9271a048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9c69dcfd58431d" /><Relationship Type="http://schemas.openxmlformats.org/officeDocument/2006/relationships/notesMaster" Target="/ppt/notesMasters/notesMaster1.xml" Id="Ra203a4b29d5643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8234e9d974920" /><Relationship Type="http://schemas.openxmlformats.org/officeDocument/2006/relationships/notesMaster" Target="/ppt/notesMasters/notesMaster1.xml" Id="R567a9e94511144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493437531a4f59" /><Relationship Type="http://schemas.openxmlformats.org/officeDocument/2006/relationships/notesMaster" Target="/ppt/notesMasters/notesMaster1.xml" Id="R73a7de26b17040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2a5b29dd5840be" /><Relationship Type="http://schemas.openxmlformats.org/officeDocument/2006/relationships/notesMaster" Target="/ppt/notesMasters/notesMaster1.xml" Id="Rf2d799566a9842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1708bb2dfc4f06" /><Relationship Type="http://schemas.openxmlformats.org/officeDocument/2006/relationships/notesMaster" Target="/ppt/notesMasters/notesMaster1.xml" Id="R71fca69c8b6d42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613fea52a54eb1" /><Relationship Type="http://schemas.openxmlformats.org/officeDocument/2006/relationships/notesMaster" Target="/ppt/notesMasters/notesMaster1.xml" Id="R3d26ae5cbcb24e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Illustrative image generated for this presentation with OpenAI image generation.</a:t>
            </a:r>
          </a:p>
          <a:p xmlns:a="http://schemas.openxmlformats.org/drawingml/2006/main">
            <a:r>
              <a:t>Project claims: repository README and committed evaluation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advisor actions. Emphasize that the system supports triage rather than making immigration or hiring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docs/problem.md</a:t>
            </a:r>
          </a:p>
          <a:p xmlns:a="http://schemas.openxmlformats.org/drawingml/2006/main">
            <a:r>
              <a:t>- docs/risks.md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role-fit corpus is already large. We completed a full-source authorization scan and packaged the evidence candidates for advisor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jobs-meta.json</a:t>
            </a:r>
          </a:p>
          <a:p xmlns:a="http://schemas.openxmlformats.org/drawingml/2006/main">
            <a:r>
              <a:t>- models/metrics.json</a:t>
            </a:r>
          </a:p>
          <a:p xmlns:a="http://schemas.openxmlformats.org/drawingml/2006/main">
            <a:r>
              <a:t>- outputs/auth.json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 established that adaptation helps. M4 then tested a wider model and data choice and found that a lightweight linear model trained on the full split is both stronger and easier to 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outputs/m2.json</a:t>
            </a:r>
          </a:p>
          <a:p xmlns:a="http://schemas.openxmlformats.org/drawingml/2006/main">
            <a:r>
              <a:t>- outputs/m3.json</a:t>
            </a:r>
          </a:p>
          <a:p xmlns:a="http://schemas.openxmlformats.org/drawingml/2006/main">
            <a:r>
              <a:t>- outputs/compare.json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mode router prevents a search sentence from being misclassified as a posting. Verifiable search constraints are enforced before ranking. The policy layer uses class-specific calibrated margins, then handles missing fields and authorization independently from role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docs/design.md</a:t>
            </a:r>
          </a:p>
          <a:p xmlns:a="http://schemas.openxmlformats.org/drawingml/2006/main">
            <a:r>
              <a:t>- jobmatch/core.py</a:t>
            </a:r>
          </a:p>
          <a:p xmlns:a="http://schemas.openxmlformats.org/drawingml/2006/main">
            <a:r>
              <a:t>- models/policy.json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extracted from the project-owned recorded demo, demo/demo.mp4.</a:t>
            </a:r>
          </a:p>
          <a:p xmlns:a="http://schemas.openxmlformats.org/drawingml/2006/main">
            <a:r>
              <a:t>Audit metrics: outputs/search-audit.json.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extracted from the project-owned recorded demo, demo/demo.mp4.</a:t>
            </a:r>
          </a:p>
          <a:p xmlns:a="http://schemas.openxmlformats.org/drawingml/2006/main">
            <a:r>
              <a:t>Governance outputs: outputs/cases.json.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comparison directly. What did not work best was adding model complexity while using only 2,000 weakly labeled rows: LoRA improved on the baseline but stopped at 87.3 percent macro F1. What worked was a word-and-character model trained on all 77,135 deduplicated rows. The lesson is not that linear models always win; it is that data utilization and reproducibility mattered for this structured weak-label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outputs/m2.json</a:t>
            </a:r>
          </a:p>
          <a:p xmlns:a="http://schemas.openxmlformats.org/drawingml/2006/main">
            <a:r>
              <a:t>- outputs/m3.json</a:t>
            </a:r>
          </a:p>
          <a:p xmlns:a="http://schemas.openxmlformats.org/drawingml/2006/main">
            <a:r>
              <a:t>- outputs/eval.json</a:t>
            </a:r>
          </a:p>
          <a:p xmlns:a="http://schemas.openxmlformats.org/drawingml/2006/main">
            <a:r>
              <a:t>- models/metrics.json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makes 65 errors on the fixed weak-label set, so the production policy is calibrated on one 10,000-row half and audited on another. It retains 91.63 percent coverage at 99.47 percent weak-label accuracy. A separate six-query audit records zero hard-constraint violations across 36 search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outputs/eval.json</a:t>
            </a:r>
          </a:p>
          <a:p xmlns:a="http://schemas.openxmlformats.org/drawingml/2006/main">
            <a:r>
              <a:t>- models/policy.json</a:t>
            </a:r>
          </a:p>
          <a:p xmlns:a="http://schemas.openxmlformats.org/drawingml/2006/main">
            <a:r>
              <a:t>- outputs/search-audit.json</a:t>
            </a:r>
          </a:p>
          <a:p xmlns:a="http://schemas.openxmlformats.org/drawingml/2006/main">
            <a:r>
              <a:t>- outputs/time.json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extracted from the project-owned recorded demo, demo/demo.mp4.</a:t>
            </a:r>
          </a:p>
          <a:p xmlns:a="http://schemas.openxmlformats.org/drawingml/2006/main">
            <a:r>
              <a:t>Recommendation and metrics: repository README and committed evaluation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f681f198746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8ae2b0be154475" /><Relationship Type="http://schemas.openxmlformats.org/officeDocument/2006/relationships/slideLayout" Target="/ppt/slideLayouts/slideLayout1.xml" Id="R87a7a23f591d41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7a23f591d41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7161507ba46cc" /><Relationship Type="http://schemas.openxmlformats.org/officeDocument/2006/relationships/image" Target="/ppt/media/image.png" Id="R3c22438b64944ee9" /><Relationship Type="http://schemas.openxmlformats.org/officeDocument/2006/relationships/notesSlide" Target="/ppt/notesSlides/notesSlide1.xml" Id="Rfcdc6388d0634c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f754e22b64c2d" /><Relationship Type="http://schemas.openxmlformats.org/officeDocument/2006/relationships/notesSlide" Target="/ppt/notesSlides/notesSlide2.xml" Id="R506b9fa62f8c4a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966f49d074c18" /><Relationship Type="http://schemas.openxmlformats.org/officeDocument/2006/relationships/notesSlide" Target="/ppt/notesSlides/notesSlide3.xml" Id="R0d3b208cdbbd49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3c25af54043a4" /><Relationship Type="http://schemas.openxmlformats.org/officeDocument/2006/relationships/notesSlide" Target="/ppt/notesSlides/notesSlide4.xml" Id="R35593d238b644f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e76de69c545ea" /><Relationship Type="http://schemas.openxmlformats.org/officeDocument/2006/relationships/notesSlide" Target="/ppt/notesSlides/notesSlide5.xml" Id="Re0ebb1d265ab4e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a52f805d94d15" /><Relationship Type="http://schemas.openxmlformats.org/officeDocument/2006/relationships/image" Target="/ppt/media/image2.png" Id="Rae94a4fe40374c5d" /><Relationship Type="http://schemas.openxmlformats.org/officeDocument/2006/relationships/notesSlide" Target="/ppt/notesSlides/notesSlide6.xml" Id="R9ee52fac0f5a46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f6bcb30aa4515" /><Relationship Type="http://schemas.openxmlformats.org/officeDocument/2006/relationships/image" Target="/ppt/media/image3.png" Id="R21dfcd17025441e7" /><Relationship Type="http://schemas.openxmlformats.org/officeDocument/2006/relationships/notesSlide" Target="/ppt/notesSlides/notesSlide7.xml" Id="Rff036218f2d949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88e201b4c41e6" /><Relationship Type="http://schemas.openxmlformats.org/officeDocument/2006/relationships/chart" Target="/ppt/slides/charts/chart1.xml" Id="Ra4e8994ca88e4165" /><Relationship Type="http://schemas.openxmlformats.org/officeDocument/2006/relationships/notesSlide" Target="/ppt/notesSlides/notesSlide8.xml" Id="Rd2c9c8769edd41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ce23ee8a94671" /><Relationship Type="http://schemas.openxmlformats.org/officeDocument/2006/relationships/notesSlide" Target="/ppt/notesSlides/notesSlide9.xml" Id="R5a9281cb08fd47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2361d91724623" /><Relationship Type="http://schemas.openxmlformats.org/officeDocument/2006/relationships/image" Target="/ppt/media/image4.png" Id="Ra6205cbdc8734175" /><Relationship Type="http://schemas.openxmlformats.org/officeDocument/2006/relationships/notesSlide" Target="/ppt/notesSlides/notesSlide10.xml" Id="R747cd16819eb4bf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M2 baseline</c:v>
              </c:pt>
              <c:pt idx="1">
                <c:v>M3 PEFT LoRA</c:v>
              </c:pt>
              <c:pt idx="2">
                <c:v>Final classifier</c:v>
              </c:pt>
            </c:strLit>
          </c:cat>
          <c:val>
            <c:numLit>
              <c:formatCode>General</c:formatCode>
              <c:ptCount val="3"/>
              <c:pt idx="0">
                <c:v>79.3</c:v>
              </c:pt>
              <c:pt idx="1">
                <c:v>87.5</c:v>
              </c:pt>
              <c:pt idx="2">
                <c:v>98.4</c:v>
              </c:pt>
            </c:numLit>
          </c:val>
        </c:ser>
        <c:ser>
          <c:idx val="1"/>
          <c:order val="1"/>
          <c:tx>
            <c:v>Macro F1</c:v>
          </c:tx>
          <c:spPr>
            <a:solidFill xmlns:a="http://schemas.openxmlformats.org/drawingml/2006/main">
              <a:srgbClr val="D6532F"/>
            </a:solidFill>
          </c:spPr>
          <c:cat>
            <c:strLit>
              <c:ptCount val="3"/>
              <c:pt idx="0">
                <c:v>M2 baseline</c:v>
              </c:pt>
              <c:pt idx="1">
                <c:v>M3 PEFT LoRA</c:v>
              </c:pt>
              <c:pt idx="2">
                <c:v>Final classifier</c:v>
              </c:pt>
            </c:strLit>
          </c:cat>
          <c:val>
            <c:numLit>
              <c:formatCode>General</c:formatCode>
              <c:ptCount val="3"/>
              <c:pt idx="0">
                <c:v>78.5</c:v>
              </c:pt>
              <c:pt idx="1">
                <c:v>87.3</c:v>
              </c:pt>
              <c:pt idx="2">
                <c:v>98.4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04B4E-3600-49D9-A886-0784CCC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5D67"/>
                </a:solidFill>
              </a:defRPr>
            </a:pPr>
            <a:r>
              <a:rPr sz="1800" b="0">
                <a:solidFill>
                  <a:srgbClr val="565D67"/>
                </a:solidFill>
              </a:rPr>
              <a:t>ISBA 2411 | FINAL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0C986-0EE4-4CB0-BA39-94B31EDD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429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MSBA Job Matching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A4D41-0C5A-44F7-B771-FAEEE046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Grounded NLP decision support for career advisors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47023-ED47-4A13-9912-1334FE51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5D67"/>
                </a:solidFill>
              </a:defRPr>
            </a:pPr>
            <a:r>
              <a:rPr sz="1950" b="0">
                <a:solidFill>
                  <a:srgbClr val="565D67"/>
                </a:solidFill>
              </a:rPr>
              <a:t>Search  |  Fit  |  Evidence  |  Human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6A72D-E24E-4796-A710-1C068625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8DFF"/>
                </a:solidFill>
              </a:defRPr>
            </a:pPr>
            <a:r>
              <a:rPr sz="1650" b="0">
                <a:solidFill>
                  <a:srgbClr val="3D8DFF"/>
                </a:solidFill>
              </a:rPr>
              <a:t>Yitong Wang | Zhike Yan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0EF13-E5B4-4DA0-9EE5-35C6F3ED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2438b64944ee9"/>
          <a:srcRect xmlns:a="http://schemas.openxmlformats.org/drawingml/2006/main" l="0" t="4269" r="0" b="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00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4556003-EC26-4A05-BBE1-9019CC52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The advisor must separate fit, uncertainty, and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5B155-F18F-4DE6-B1EC-2E6F5F90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5D67"/>
                </a:solidFill>
              </a:defRPr>
            </a:pPr>
            <a:r>
              <a:rPr sz="1650" b="0">
                <a:solidFill>
                  <a:srgbClr val="565D67"/>
                </a:solidFill>
              </a:rPr>
              <a:t>A useful system improves a specific decision: forward, hold, or investigate.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3E404-8C1E-4BB3-BE7A-C76BE30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2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19100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D17D9-B95F-4DBA-BD04-377CE6F3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9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FORWARD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679A9-D1A2-4FA5-B3F6-C19112D5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766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Strong entry-level analytics fit supported by title, skills, and location evidence.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276725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ED023-06B4-40DB-9014-54D985F0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09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A6156-2E20-4A24-93B7-E389D1A3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766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Senior, engineering-heavy, or clearly misaligned roles require a conservative screen.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8134350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532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9BE4A-A94D-40BE-9C6A-950F2D18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6532F"/>
                </a:solidFill>
              </a:defRPr>
            </a:pPr>
            <a:r>
              <a:rPr sz="2100" b="1">
                <a:solidFill>
                  <a:srgbClr val="D6532F"/>
                </a:solidFill>
              </a:rPr>
              <a:t>INVESTIGATE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1ECBB-CD4F-4632-B9CF-CB9E2BEA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Incomplete fields or missing authorization language require human follow-up.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A5BE3-8BF6-4A64-8B83-CB786E8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Role fit and work authorization are related in workflow, but they are not the same prediction task.</a:t>
            </a:r>
          </a:p>
        </p:txBody>
      </p:sp>
    </p:spTree>
    <p:extLst>
      <p:ext uri="{BB962C8B-B14F-4D97-AF65-F5344CB8AC3E}">
        <p14:creationId xmlns:p14="http://schemas.microsoft.com/office/powerpoint/2010/main" val="322671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2E48A52-5F6E-48C7-BE5C-099A6C9E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Label quality, not data volume, is the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08947-BC9E-4E32-A3A7-2AB0CEAE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5D67"/>
                </a:solidFill>
              </a:defRPr>
            </a:pPr>
            <a:r>
              <a:rPr sz="1650" b="0">
                <a:solidFill>
                  <a:srgbClr val="565D67"/>
                </a:solidFill>
              </a:rPr>
              <a:t>The final model uses the full training split and audits all 785,741 source rows.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B77C5-8DC8-4AAE-8219-C4624E88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52293-86C4-4EA7-ACB3-7A586358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3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8C5E6-C599-46EA-80FE-B8E94195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785,741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3BB7A-5E75-4E47-BFAB-7E450FAC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original public job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CDA45-88FD-4FBD-8CA1-049BA44D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33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E1C26-8B52-4AF4-8CAE-5623EEB9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956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100,000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03F4B-D94B-496D-A992-2B1CC0A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stratified project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03908-720B-421C-886A-DCC6AF9B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7511E-4307-4EE8-BF0A-F41717B4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D6532F"/>
                </a:solidFill>
              </a:defRPr>
            </a:pPr>
            <a:r>
              <a:rPr sz="4350" b="1">
                <a:solidFill>
                  <a:srgbClr val="D6532F"/>
                </a:solidFill>
              </a:rPr>
              <a:t>77,135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E21C8-B5B1-4860-8F78-3EC72FFD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deduplicated training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DD38F-0A1F-43DE-A2AA-3CB14B6A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A6E43-A650-4444-8E59-23216B07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D6532F"/>
                </a:solidFill>
              </a:defRPr>
            </a:pPr>
            <a:r>
              <a:rPr sz="4350" b="1">
                <a:solidFill>
                  <a:srgbClr val="D6532F"/>
                </a:solidFill>
              </a:rPr>
              <a:t>230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23066-5E4A-40C3-87DB-142C1278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053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unique authorization candidates</a:t>
            </a:r>
          </a:p>
        </p:txBody>
      </p:sp>
    </p:spTree>
    <p:extLst>
      <p:ext uri="{BB962C8B-B14F-4D97-AF65-F5344CB8AC3E}">
        <p14:creationId xmlns:p14="http://schemas.microsoft.com/office/powerpoint/2010/main" val="1474187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7601EDB-95CC-434B-84A8-44068FBF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Each milestone changed the final technical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5F729-10A3-41B5-AD5D-1301661A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4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00100" y="3238500"/>
            <a:ext cx="1019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D0E60-5BE7-4C85-BD97-D8B0BE11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29962-FCDC-4642-B807-A6CC6FA6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65D67"/>
                </a:solidFill>
              </a:defRPr>
            </a:pPr>
            <a:r>
              <a:rPr sz="1800" b="1">
                <a:solidFill>
                  <a:srgbClr val="565D67"/>
                </a:solidFill>
              </a:rPr>
              <a:t>M2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B701A-DF95-498D-91A0-0CBB1C4F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Represent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45F78-BD0B-4B67-929D-A91A7E3C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TF-IDF + MiniLM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20k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13149-214C-4448-BA57-C2B406A4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DD049-28A6-448B-8BDD-528236E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65D67"/>
                </a:solidFill>
              </a:defRPr>
            </a:pPr>
            <a:r>
              <a:rPr sz="1800" b="1">
                <a:solidFill>
                  <a:srgbClr val="565D67"/>
                </a:solidFill>
              </a:rPr>
              <a:t>M3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87004-5451-4672-A883-04BA831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95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Adapt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D8E3B-DA3D-47F0-A12F-44E31DC6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48150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Zero-shot + few-shot +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true PEFT LoRA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362B3-3A72-4AEF-94B1-408F6CB4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92215-A64E-4AD1-B0B3-1ABB912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65D67"/>
                </a:solidFill>
              </a:defRPr>
            </a:pPr>
            <a:r>
              <a:rPr sz="1800" b="1">
                <a:solidFill>
                  <a:srgbClr val="565D67"/>
                </a:solidFill>
              </a:rPr>
              <a:t>M4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6CDB9-61AE-4592-9B4F-8780BEA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95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Integrate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895ED-F7A9-40E5-B119-5C58BFBA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80k-trained classifier +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retrieval + policy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51A0E-DF8B-4CEE-BF2A-CC45AB25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88ADE-DEF8-45EA-94D6-F6083BA5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717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65D67"/>
                </a:solidFill>
              </a:defRPr>
            </a:pPr>
            <a:r>
              <a:rPr sz="1800" b="1">
                <a:solidFill>
                  <a:srgbClr val="565D67"/>
                </a:solidFill>
              </a:rPr>
              <a:t>M5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E8FD4-31FF-4286-A671-AB8FCEB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95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6532F"/>
                </a:solidFill>
              </a:defRPr>
            </a:pPr>
            <a:r>
              <a:rPr sz="2250" b="1">
                <a:solidFill>
                  <a:srgbClr val="D6532F"/>
                </a:solidFill>
              </a:rP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9FDEC-4914-4761-A0D1-0F9C3222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48150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Leakage audit, tests,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demo, and governance</a:t>
            </a:r>
          </a:p>
        </p:txBody>
      </p:sp>
    </p:spTree>
    <p:extLst>
      <p:ext uri="{BB962C8B-B14F-4D97-AF65-F5344CB8AC3E}">
        <p14:creationId xmlns:p14="http://schemas.microsoft.com/office/powerpoint/2010/main" val="229760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BDCD9AC-0654-48AF-A18E-137F197C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Two input modes prevent a subtle but costly task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82BFC-F131-4499-BD02-EC30CCF0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5D67"/>
                </a:solidFill>
              </a:defRPr>
            </a:pPr>
            <a:r>
              <a:rPr sz="1650" b="0">
                <a:solidFill>
                  <a:srgbClr val="565D67"/>
                </a:solidFill>
              </a:rPr>
              <a:t>Search requests retrieve candidates; only job postings receive a role-fit label.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27DA8-26D3-4C3C-A53C-7AB7FDC6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5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2209800" y="33528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4514850" y="33528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6819900" y="33528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9124950" y="33528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11E3F-1A38-4C21-8766-B7F33FBD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95F7C-40B5-4716-905B-EDD3FAF4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B1936-0FF6-4E7E-80BB-5414E108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E92C2-5EAB-4709-9406-91906245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Search request or job posting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DE901-75A4-4DF4-BDD7-19D510B9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EE88A-283D-49D7-A23F-C0053D7E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040D8-4A70-47AA-8703-1A38252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82DDF-13A3-4826-9EBC-ABCE5875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80k index + hard constraints + dedupe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2D639-6A1D-49D5-82C0-B5A20DFC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C8185-A6F2-4DFA-AD53-2371EA73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18892-E205-44C0-84B1-0C43B844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CLASSIFY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7A11C-9D81-4035-BF1A-51549023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77,135-row TF-IDF SVM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CC7A9-7C59-4B33-95B4-8B0A3B0B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AA8AB-1D69-448C-BC07-BF8CAFD6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BE4BD-CFD1-4192-B390-558953C3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GOVERN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F7AB1-0015-4B4B-8CC3-E38451A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Calibrated margin + policy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8FDE5-8C58-446B-AAA4-D8533A9F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D98C1-804F-452F-961A-0A43DC1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6532F"/>
                </a:solidFill>
              </a:defRPr>
            </a:pPr>
            <a:r>
              <a:rPr sz="1950" b="1">
                <a:solidFill>
                  <a:srgbClr val="D6532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46E8A-35FA-4FCA-B21D-18ACD0F5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C3C51F-1AA1-407E-81FE-82CFEA8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Cited evidence and final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E05E7-86B1-4FEA-81AC-38CFDE1B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A high role-fit score can never override an explicit authorization restriction.</a:t>
            </a:r>
          </a:p>
        </p:txBody>
      </p:sp>
    </p:spTree>
    <p:extLst>
      <p:ext uri="{BB962C8B-B14F-4D97-AF65-F5344CB8AC3E}">
        <p14:creationId xmlns:p14="http://schemas.microsoft.com/office/powerpoint/2010/main" val="559651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3D057C0-E5C8-4143-80E4-D3322F99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A real search returns constrained, inspectable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830A5-FB33-49E3-B120-CF83E7BE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6 audit queries -&gt; 36 results -&gt; 0 hard-constraint violations -&gt; 0 duplicate company-title pairs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ACDB0-F718-47DC-BB30-B49651E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6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4a4fe40374c5d"/>
          <a:srcRect xmlns:a="http://schemas.openxmlformats.org/drawingml/2006/main" l="0" t="13772" r="0" b="137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85875"/>
            <a:ext cx="11334750" cy="4619625"/>
          </a:xfrm>
          <a:prstGeom xmlns:a="http://schemas.openxmlformats.org/drawingml/2006/main" prst="roundRect">
            <a:avLst>
              <a:gd name="adj" fmla="val 1649"/>
            </a:avLst>
          </a:prstGeom>
        </p:spPr>
      </p:pic>
    </p:spTree>
    <p:extLst>
      <p:ext uri="{BB962C8B-B14F-4D97-AF65-F5344CB8AC3E}">
        <p14:creationId xmlns:p14="http://schemas.microsoft.com/office/powerpoint/2010/main" val="313829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30E531F-F656-48C6-A370-12CAE470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High role fit never overrides an explicit restriction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565D8-B881-400C-B640-273C237A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85E05-5D02-43F5-BAA1-BA3237D0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No OPT/CPT -&gt; HOLD. Missing core fields -&gt; UNCLEAR + REVIEW.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fcd17025441e7"/>
          <a:srcRect xmlns:a="http://schemas.openxmlformats.org/drawingml/2006/main" l="0" t="13833" r="0" b="13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85875"/>
            <a:ext cx="11353800" cy="4619625"/>
          </a:xfrm>
          <a:prstGeom xmlns:a="http://schemas.openxmlformats.org/drawingml/2006/main" prst="roundRect">
            <a:avLst>
              <a:gd name="adj" fmla="val 1649"/>
            </a:avLst>
          </a:prstGeom>
        </p:spPr>
      </p:pic>
    </p:spTree>
    <p:extLst>
      <p:ext uri="{BB962C8B-B14F-4D97-AF65-F5344CB8AC3E}">
        <p14:creationId xmlns:p14="http://schemas.microsoft.com/office/powerpoint/2010/main" val="1902305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A0913A7-11AA-47AB-9883-AB210CE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More data worked; extra complexity did not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0C868-A707-4DED-B903-2B564C8A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19100" y="1409700"/>
          <a:ext xmlns:a="http://schemas.openxmlformats.org/drawingml/2006/main" cx="6191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e8994ca88e416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A6816-04DC-48C5-8699-C6CA7C66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668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2EF8B-AB82-4D35-AAFD-B011CC5A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383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98.4%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1A6A-956D-4B62-96FA-EB77EDC8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fixed-set macro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F54C9-42DB-48A9-867F-DDE1457F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7416A-0C43-4F2D-80CC-BEB8CC23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97.9%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CB1DC-C412-4348-91CF-173D9971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novel-text macro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501EC-9F16-46BE-9E14-9A97DD47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4B965-1FD2-4019-98EB-37CAD706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D6532F"/>
                </a:solidFill>
              </a:defRPr>
            </a:pPr>
            <a:r>
              <a:rPr sz="3150" b="1">
                <a:solidFill>
                  <a:srgbClr val="D6532F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00290-157E-457C-8D8F-53523C66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unsupported authorization 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BC77B-CA7A-4A6C-9A78-8CE740D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531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The final 3.8 MB model trains in under one minute.</a:t>
            </a:r>
          </a:p>
        </p:txBody>
      </p:sp>
    </p:spTree>
    <p:extLst>
      <p:ext uri="{BB962C8B-B14F-4D97-AF65-F5344CB8AC3E}">
        <p14:creationId xmlns:p14="http://schemas.microsoft.com/office/powerpoint/2010/main" val="20242250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60D6427-115B-4344-B2A2-C6C450C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The remaining risk is label validity, not model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FACF2-54C9-4459-B4CF-127D6E7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FDB19-7502-427C-B062-63F8BEAA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FIXED 4K ERRORS BY TRUE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178DF-486A-4B40-8D17-1062CE4D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high_fit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54410-458C-4BFC-98D4-4033B651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1771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4A0D7-FE65-467E-A211-B67E01DC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9336A-6622-4068-9101-36502642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3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medium_fit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E6F80-4593-44FD-A7FC-513195F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76771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1DB63-CF55-4524-8C62-7F629493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432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F8AE9-7ED8-41BD-937F-0227A1F9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low_fit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FD881-4833-4C2D-A20F-B711E49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05200"/>
            <a:ext cx="4724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64816-F235-4D0D-B09C-8F9D5B41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86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4240E-F4C7-4B3F-8BB1-FBE6CD3C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unclear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AB4E6-2117-476D-90A0-EBFA288D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24212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2B1C9-4CB5-48E0-B174-94D51B77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29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41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6819900" y="152400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8D03C-7228-42F1-A606-869223B3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DEPLOYMENT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C9FFA-0A0C-4DD9-8740-1E18B38E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62200"/>
            <a:ext cx="4286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Treat 0.984 as weak-label agreement, not advisor accuracy.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5074B-B665-4112-8C68-566FE5E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447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65D67"/>
                </a:solidFill>
              </a:defRPr>
            </a:pPr>
            <a:r>
              <a:rPr sz="1725" b="0">
                <a:solidFill>
                  <a:srgbClr val="565D67"/>
                </a:solidFill>
              </a:rPr>
              <a:t>Operational validation: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65D67"/>
                </a:solidFill>
              </a:defRPr>
            </a:pPr>
            <a:r>
              <a:rPr sz="1725" b="0">
                <a:solidFill>
                  <a:srgbClr val="565D67"/>
                </a:solidFill>
              </a:rPr>
              <a:t>91.6% selective coverage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65D67"/>
                </a:solidFill>
              </a:defRPr>
            </a:pPr>
            <a:r>
              <a:rPr sz="1725" b="0">
                <a:solidFill>
                  <a:srgbClr val="565D67"/>
                </a:solidFill>
              </a:rPr>
              <a:t>99.47% retained accuracy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65D67"/>
                </a:solidFill>
              </a:defRPr>
            </a:pPr>
            <a:r>
              <a:rPr sz="1725" b="0">
                <a:solidFill>
                  <a:srgbClr val="565D67"/>
                </a:solidFill>
              </a:rPr>
              <a:t>36 search results, 0 violations</a:t>
            </a:r>
          </a:p>
        </p:txBody>
      </p:sp>
    </p:spTree>
    <p:extLst>
      <p:ext uri="{BB962C8B-B14F-4D97-AF65-F5344CB8AC3E}">
        <p14:creationId xmlns:p14="http://schemas.microsoft.com/office/powerpoint/2010/main" val="948970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C5564-739B-41BB-9B0D-BEBF7B4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65D67"/>
                </a:solidFill>
              </a:defRPr>
            </a:pPr>
            <a:r>
              <a:rPr sz="1800" b="0">
                <a:solidFill>
                  <a:srgbClr val="565D67"/>
                </a:solidFill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4B6EC-F5BF-4E10-AD47-71FE4BC4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Ready for a supervised Career Center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4C779-D39F-494B-81D3-DF38B3D9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Deploy with guardrails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12CA-BE6F-49E4-ACE3-E5CB071F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Prioritize, do not auto-reject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Keep advisor confirmation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Measure time saved and overrides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F3588-959C-4C20-AEAD-9F8AD89A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6532F"/>
                </a:solidFill>
              </a:defRPr>
            </a:pPr>
            <a:r>
              <a:rPr sz="1575" b="1">
                <a:solidFill>
                  <a:srgbClr val="D6532F"/>
                </a:solidFill>
              </a:rPr>
              <a:t>98.4% = weak-label agreement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3B615-A61F-459D-968C-E6DFD34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Next: label the 1,000-row advisor queue and measure real workflow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2BC92-819B-4C4D-B2CD-AC598B6A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10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05cbdc8734175"/>
          <a:srcRect xmlns:a="http://schemas.openxmlformats.org/drawingml/2006/main" l="1420" t="0" r="14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71625"/>
            <a:ext cx="542925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</p:spTree>
    <p:extLst>
      <p:ext uri="{BB962C8B-B14F-4D97-AF65-F5344CB8AC3E}">
        <p14:creationId xmlns:p14="http://schemas.microsoft.com/office/powerpoint/2010/main" val="1915068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2026-08-21T07:37:39.7530000Z</dcterms:created>
  <dcterms:modified xsi:type="dcterms:W3CDTF">2026-08-21T07:37:39.7530000Z</dcterms:modified>
</coreProperties>
</file>